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543" r:id="rId2"/>
    <p:sldId id="575" r:id="rId3"/>
    <p:sldId id="579" r:id="rId4"/>
    <p:sldId id="613" r:id="rId5"/>
    <p:sldId id="576" r:id="rId6"/>
    <p:sldId id="612" r:id="rId7"/>
    <p:sldId id="614" r:id="rId8"/>
    <p:sldId id="615" r:id="rId9"/>
    <p:sldId id="616" r:id="rId10"/>
    <p:sldId id="605" r:id="rId11"/>
    <p:sldId id="611" r:id="rId12"/>
  </p:sldIdLst>
  <p:sldSz cx="9144000" cy="5143500" type="screen16x9"/>
  <p:notesSz cx="6858000" cy="9144000"/>
  <p:embeddedFontLst>
    <p:embeddedFont>
      <p:font typeface="Malgun Gothic Semilight" panose="020B0502040204020203" pitchFamily="34" charset="-122"/>
      <p:regular r:id="rId15"/>
    </p:embeddedFont>
    <p:embeddedFont>
      <p:font typeface="Yu Gothic UI Semibold" panose="020B0700000000000000" pitchFamily="34" charset="-128"/>
      <p:bold r:id="rId16"/>
    </p:embeddedFont>
    <p:embeddedFont>
      <p:font typeface="锦绣宋体" panose="02010600030101010101" charset="-122"/>
      <p:regular r:id="rId17"/>
    </p:embeddedFont>
    <p:embeddedFont>
      <p:font typeface="思源黑体 CN Normal" panose="02010600030101010101" charset="-122"/>
      <p:regular r:id="rId18"/>
    </p:embeddedFont>
    <p:embeddedFont>
      <p:font typeface="Magneto" panose="04030805050802020D02" pitchFamily="82" charset="0"/>
      <p:bold r:id="rId19"/>
    </p:embeddedFont>
  </p:embeddedFontLst>
  <p:custDataLst>
    <p:tags r:id="rId20"/>
  </p:custDataLst>
  <p:defaultTextStyle>
    <a:defPPr>
      <a:defRPr lang="zh-CN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BE2A6164-6C94-4D72-A808-DBA72125A748}">
          <p14:sldIdLst>
            <p14:sldId id="543"/>
            <p14:sldId id="575"/>
            <p14:sldId id="579"/>
            <p14:sldId id="613"/>
            <p14:sldId id="576"/>
            <p14:sldId id="612"/>
            <p14:sldId id="614"/>
            <p14:sldId id="615"/>
            <p14:sldId id="616"/>
            <p14:sldId id="605"/>
            <p14:sldId id="611"/>
          </p14:sldIdLst>
        </p14:section>
      </p14:sectionLst>
    </p:ext>
    <p:ext uri="{EFAFB233-063F-42B5-8137-9DF3F51BA10A}">
      <p15:sldGuideLst xmlns:p15="http://schemas.microsoft.com/office/powerpoint/2012/main">
        <p15:guide id="1" pos="95">
          <p15:clr>
            <a:srgbClr val="A4A3A4"/>
          </p15:clr>
        </p15:guide>
        <p15:guide id="2" pos="5616">
          <p15:clr>
            <a:srgbClr val="A4A3A4"/>
          </p15:clr>
        </p15:guide>
        <p15:guide id="3" orient="horz" pos="2758">
          <p15:clr>
            <a:srgbClr val="A4A3A4"/>
          </p15:clr>
        </p15:guide>
        <p15:guide id="4" orient="horz" pos="2996">
          <p15:clr>
            <a:srgbClr val="A4A3A4"/>
          </p15:clr>
        </p15:guide>
        <p15:guide id="5" orient="horz" pos="3150">
          <p15:clr>
            <a:srgbClr val="A4A3A4"/>
          </p15:clr>
        </p15:guide>
        <p15:guide id="6" pos="2892">
          <p15:clr>
            <a:srgbClr val="A4A3A4"/>
          </p15:clr>
        </p15:guide>
        <p15:guide id="7" orient="horz" pos="189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哒哒 熊猫" initials="哒哒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49D86"/>
    <a:srgbClr val="FFFFFF"/>
    <a:srgbClr val="0033CC"/>
    <a:srgbClr val="353A55"/>
    <a:srgbClr val="4C5378"/>
    <a:srgbClr val="E0D7CE"/>
    <a:srgbClr val="272B3E"/>
    <a:srgbClr val="A08366"/>
    <a:srgbClr val="304371"/>
    <a:srgbClr val="EEF2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459" autoAdjust="0"/>
    <p:restoredTop sz="94660"/>
  </p:normalViewPr>
  <p:slideViewPr>
    <p:cSldViewPr snapToGrid="0" showGuides="1">
      <p:cViewPr>
        <p:scale>
          <a:sx n="100" d="100"/>
          <a:sy n="100" d="100"/>
        </p:scale>
        <p:origin x="516" y="424"/>
      </p:cViewPr>
      <p:guideLst>
        <p:guide pos="95"/>
        <p:guide pos="5616"/>
        <p:guide orient="horz" pos="2758"/>
        <p:guide orient="horz" pos="2996"/>
        <p:guide orient="horz" pos="3150"/>
        <p:guide pos="2892"/>
        <p:guide orient="horz" pos="1892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3" d="100"/>
          <a:sy n="63" d="100"/>
        </p:scale>
        <p:origin x="3134" y="5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思源黑体 CN Normal" panose="020B0400000000000000" charset="-122"/>
              </a:rPr>
              <a:t>2022/10/25</a:t>
            </a:fld>
            <a:endParaRPr lang="zh-CN" altLang="en-US">
              <a:latin typeface="思源黑体 CN Normal" panose="020B0400000000000000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思源黑体 CN Normal" panose="020B0400000000000000" charset="-122"/>
              </a:rPr>
              <a:t>‹#›</a:t>
            </a:fld>
            <a:endParaRPr lang="zh-CN" altLang="en-US">
              <a:latin typeface="思源黑体 CN Normal" panose="020B0400000000000000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思源黑体 CN Normal" panose="020B0400000000000000" charset="-122"/>
                <a:ea typeface="思源黑体 CN Normal" panose="020B0400000000000000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思源黑体 CN Normal" panose="020B0400000000000000" charset="-122"/>
                <a:ea typeface="思源黑体 CN Normal" panose="020B0400000000000000" charset="-122"/>
              </a:defRPr>
            </a:lvl1pPr>
          </a:lstStyle>
          <a:p>
            <a:fld id="{D2A48B96-639E-45A3-A0BA-2464DFDB1FAA}" type="datetimeFigureOut">
              <a:rPr lang="zh-CN" altLang="en-US" smtClean="0"/>
              <a:t>2022/10/25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思源黑体 CN Normal" panose="020B0400000000000000" charset="-122"/>
                <a:ea typeface="思源黑体 CN Normal" panose="020B0400000000000000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思源黑体 CN Normal" panose="020B0400000000000000" charset="-122"/>
                <a:ea typeface="思源黑体 CN Normal" panose="020B0400000000000000" charset="-122"/>
              </a:defRPr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思源黑体 CN Normal" panose="020B0400000000000000" charset="-122"/>
        <a:ea typeface="思源黑体 CN Normal" panose="020B0400000000000000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思源黑体 CN Normal" panose="020B0400000000000000" charset="-122"/>
        <a:ea typeface="思源黑体 CN Normal" panose="020B0400000000000000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思源黑体 CN Normal" panose="020B0400000000000000" charset="-122"/>
        <a:ea typeface="思源黑体 CN Normal" panose="020B0400000000000000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思源黑体 CN Normal" panose="020B0400000000000000" charset="-122"/>
        <a:ea typeface="思源黑体 CN Normal" panose="020B0400000000000000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思源黑体 CN Normal" panose="020B0400000000000000" charset="-122"/>
        <a:ea typeface="思源黑体 CN Normal" panose="020B0400000000000000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6794339" y="0"/>
            <a:ext cx="243068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sz="quarter" idx="20"/>
          </p:nvPr>
        </p:nvSpPr>
        <p:spPr>
          <a:xfrm>
            <a:off x="5070763" y="605100"/>
            <a:ext cx="3844637" cy="1990845"/>
          </a:xfrm>
          <a:prstGeom prst="roundRect">
            <a:avLst>
              <a:gd name="adj" fmla="val 3002"/>
            </a:avLst>
          </a:prstGeom>
        </p:spPr>
        <p:txBody>
          <a:bodyPr>
            <a:normAutofit/>
          </a:bodyPr>
          <a:lstStyle>
            <a:lvl1pPr marL="0" indent="0" algn="ctr">
              <a:buFontTx/>
              <a:buNone/>
              <a:defRPr sz="1400"/>
            </a:lvl1pPr>
          </a:lstStyle>
          <a:p>
            <a:endParaRPr lang="zh-CN" altLang="en-US"/>
          </a:p>
        </p:txBody>
      </p:sp>
      <p:sp>
        <p:nvSpPr>
          <p:cNvPr id="4" name="图片占位符 2"/>
          <p:cNvSpPr>
            <a:spLocks noGrp="1"/>
          </p:cNvSpPr>
          <p:nvPr>
            <p:ph type="pic" sz="quarter" idx="21"/>
          </p:nvPr>
        </p:nvSpPr>
        <p:spPr>
          <a:xfrm>
            <a:off x="5070763" y="2777283"/>
            <a:ext cx="3844637" cy="1990845"/>
          </a:xfrm>
          <a:prstGeom prst="roundRect">
            <a:avLst>
              <a:gd name="adj" fmla="val 3002"/>
            </a:avLst>
          </a:prstGeom>
        </p:spPr>
        <p:txBody>
          <a:bodyPr>
            <a:normAutofit/>
          </a:bodyPr>
          <a:lstStyle>
            <a:lvl1pPr marL="0" indent="0" algn="ctr">
              <a:buFontTx/>
              <a:buNone/>
              <a:defRPr sz="1400"/>
            </a:lvl1pPr>
          </a:lstStyle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 userDrawn="1"/>
        </p:nvSpPr>
        <p:spPr>
          <a:xfrm>
            <a:off x="5314013" y="0"/>
            <a:ext cx="3829987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sz="quarter" idx="20"/>
          </p:nvPr>
        </p:nvSpPr>
        <p:spPr>
          <a:xfrm>
            <a:off x="4144781" y="697391"/>
            <a:ext cx="2308486" cy="4128609"/>
          </a:xfrm>
          <a:prstGeom prst="roundRect">
            <a:avLst>
              <a:gd name="adj" fmla="val 3002"/>
            </a:avLst>
          </a:prstGeom>
        </p:spPr>
        <p:txBody>
          <a:bodyPr>
            <a:normAutofit/>
          </a:bodyPr>
          <a:lstStyle>
            <a:lvl1pPr marL="0" indent="0" algn="ctr">
              <a:buFontTx/>
              <a:buNone/>
              <a:defRPr sz="1400"/>
            </a:lvl1pPr>
          </a:lstStyle>
          <a:p>
            <a:endParaRPr lang="zh-CN" altLang="en-US"/>
          </a:p>
        </p:txBody>
      </p:sp>
      <p:sp>
        <p:nvSpPr>
          <p:cNvPr id="4" name="图片占位符 2"/>
          <p:cNvSpPr>
            <a:spLocks noGrp="1"/>
          </p:cNvSpPr>
          <p:nvPr>
            <p:ph type="pic" sz="quarter" idx="21"/>
          </p:nvPr>
        </p:nvSpPr>
        <p:spPr>
          <a:xfrm>
            <a:off x="6606914" y="697391"/>
            <a:ext cx="2308486" cy="4128609"/>
          </a:xfrm>
          <a:prstGeom prst="roundRect">
            <a:avLst>
              <a:gd name="adj" fmla="val 3002"/>
            </a:avLst>
          </a:prstGeom>
        </p:spPr>
        <p:txBody>
          <a:bodyPr>
            <a:normAutofit/>
          </a:bodyPr>
          <a:lstStyle>
            <a:lvl1pPr marL="0" indent="0" algn="ctr">
              <a:buFontTx/>
              <a:buNone/>
              <a:defRPr sz="1400"/>
            </a:lvl1pPr>
          </a:lstStyle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图片占位符 2"/>
          <p:cNvSpPr>
            <a:spLocks noGrp="1"/>
          </p:cNvSpPr>
          <p:nvPr>
            <p:ph type="pic" sz="quarter" idx="20"/>
          </p:nvPr>
        </p:nvSpPr>
        <p:spPr>
          <a:xfrm>
            <a:off x="296694" y="1108271"/>
            <a:ext cx="3536004" cy="1568052"/>
          </a:xfrm>
          <a:prstGeom prst="roundRect">
            <a:avLst>
              <a:gd name="adj" fmla="val 0"/>
            </a:avLst>
          </a:prstGeom>
        </p:spPr>
        <p:txBody>
          <a:bodyPr>
            <a:normAutofit/>
          </a:bodyPr>
          <a:lstStyle>
            <a:lvl1pPr marL="0" indent="0" algn="ctr">
              <a:buFontTx/>
              <a:buNone/>
              <a:defRPr sz="1400"/>
            </a:lvl1pPr>
          </a:lstStyle>
          <a:p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sz="quarter" idx="21"/>
          </p:nvPr>
        </p:nvSpPr>
        <p:spPr>
          <a:xfrm>
            <a:off x="296694" y="2878705"/>
            <a:ext cx="3536004" cy="1568052"/>
          </a:xfrm>
          <a:prstGeom prst="roundRect">
            <a:avLst>
              <a:gd name="adj" fmla="val 0"/>
            </a:avLst>
          </a:prstGeom>
        </p:spPr>
        <p:txBody>
          <a:bodyPr>
            <a:normAutofit/>
          </a:bodyPr>
          <a:lstStyle>
            <a:lvl1pPr marL="0" indent="0" algn="ctr">
              <a:buFontTx/>
              <a:buNone/>
              <a:defRPr sz="1400"/>
            </a:lvl1pPr>
          </a:lstStyle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9989D-4831-4E99-B76E-9A53CB0F3A88}" type="datetimeFigureOut">
              <a:rPr lang="zh-CN" altLang="en-US" smtClean="0"/>
              <a:t>2022/10/25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F9CDB-1F21-4789-A81E-8FEA25CE194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75000">
              <a:schemeClr val="bg1"/>
            </a:gs>
            <a:gs pos="100000">
              <a:srgbClr val="E0F0FC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思源黑体 CN Normal" panose="020B0400000000000000" charset="-122"/>
                <a:ea typeface="思源黑体 CN Normal" panose="020B0400000000000000" charset="-122"/>
              </a:defRPr>
            </a:lvl1pPr>
          </a:lstStyle>
          <a:p>
            <a:fld id="{D669989D-4831-4E99-B76E-9A53CB0F3A88}" type="datetimeFigureOut">
              <a:rPr lang="zh-CN" altLang="en-US" smtClean="0"/>
              <a:t>2022/10/25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思源黑体 CN Normal" panose="020B0400000000000000" charset="-122"/>
                <a:ea typeface="思源黑体 CN Normal" panose="020B0400000000000000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思源黑体 CN Normal" panose="020B0400000000000000" charset="-122"/>
                <a:ea typeface="思源黑体 CN Normal" panose="020B0400000000000000" charset="-122"/>
              </a:defRPr>
            </a:lvl1pPr>
          </a:lstStyle>
          <a:p>
            <a:fld id="{EE3F9CDB-1F21-4789-A81E-8FEA25CE194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思源黑体 CN Normal" panose="020B0400000000000000" charset="-122"/>
          <a:ea typeface="锦绣宋体" panose="02000503000000000000" charset="-122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思源黑体 CN Normal" panose="020B0400000000000000" charset="-122"/>
          <a:ea typeface="思源黑体 CN Normal" panose="020B0400000000000000" charset="-122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思源黑体 CN Normal" panose="020B0400000000000000" charset="-122"/>
          <a:ea typeface="思源黑体 CN Normal" panose="020B0400000000000000" charset="-122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思源黑体 CN Normal" panose="020B0400000000000000" charset="-122"/>
          <a:ea typeface="思源黑体 CN Normal" panose="020B0400000000000000" charset="-122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思源黑体 CN Normal" panose="020B0400000000000000" charset="-122"/>
          <a:ea typeface="思源黑体 CN Normal" panose="020B0400000000000000" charset="-122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思源黑体 CN Normal" panose="020B0400000000000000" charset="-122"/>
          <a:ea typeface="思源黑体 CN Normal" panose="020B0400000000000000" charset="-122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8.gif"/><Relationship Id="rId7" Type="http://schemas.openxmlformats.org/officeDocument/2006/relationships/image" Target="../media/image1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6" Type="http://schemas.openxmlformats.org/officeDocument/2006/relationships/image" Target="../media/image10.gif"/><Relationship Id="rId5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Relationship Id="rId6" Type="http://schemas.openxmlformats.org/officeDocument/2006/relationships/image" Target="../media/image20.gif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7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13" Type="http://schemas.openxmlformats.org/officeDocument/2006/relationships/image" Target="../media/image35.png"/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30.png"/><Relationship Id="rId12" Type="http://schemas.openxmlformats.org/officeDocument/2006/relationships/image" Target="../media/image34.png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6" Type="http://schemas.openxmlformats.org/officeDocument/2006/relationships/image" Target="../media/image2.png"/><Relationship Id="rId11" Type="http://schemas.openxmlformats.org/officeDocument/2006/relationships/image" Target="../media/image4.png"/><Relationship Id="rId5" Type="http://schemas.openxmlformats.org/officeDocument/2006/relationships/image" Target="../media/image29.png"/><Relationship Id="rId10" Type="http://schemas.openxmlformats.org/officeDocument/2006/relationships/image" Target="../media/image33.jpeg"/><Relationship Id="rId4" Type="http://schemas.openxmlformats.org/officeDocument/2006/relationships/image" Target="../media/image28.png"/><Relationship Id="rId9" Type="http://schemas.openxmlformats.org/officeDocument/2006/relationships/image" Target="../media/image32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2.xml"/><Relationship Id="rId4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/>
        </p:nvSpPr>
        <p:spPr bwMode="auto">
          <a:xfrm>
            <a:off x="715010" y="685800"/>
            <a:ext cx="4015105" cy="2136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pPr defTabSz="457200"/>
            <a:r>
              <a:rPr lang="en-US" altLang="zh-CN" sz="4800">
                <a:ln w="38100">
                  <a:noFill/>
                </a:ln>
                <a:solidFill>
                  <a:schemeClr val="accent1"/>
                </a:solidFill>
                <a:latin typeface="Yu Gothic UI Semibold" panose="020B0700000000000000" charset="-128"/>
                <a:ea typeface="Yu Gothic UI Semibold" panose="020B0700000000000000" charset="-128"/>
                <a:cs typeface="Arial Black" panose="020B0A04020102020204" charset="0"/>
                <a:sym typeface="思源黑体 CN Normal" panose="020B0400000000000000" charset="-122"/>
              </a:rPr>
              <a:t>A</a:t>
            </a:r>
            <a:r>
              <a:rPr lang="zh-CN" altLang="en-US" sz="4800">
                <a:ln w="38100">
                  <a:noFill/>
                </a:ln>
                <a:solidFill>
                  <a:schemeClr val="accent1"/>
                </a:solidFill>
                <a:latin typeface="Yu Gothic UI Semibold" panose="020B0700000000000000" charset="-128"/>
                <a:ea typeface="Yu Gothic UI Semibold" panose="020B0700000000000000" charset="-128"/>
                <a:cs typeface="Arial Black" panose="020B0A04020102020204" charset="0"/>
                <a:sym typeface="思源黑体 CN Normal" panose="020B0400000000000000" charset="-122"/>
              </a:rPr>
              <a:t>utomated </a:t>
            </a:r>
            <a:r>
              <a:rPr lang="en-US" altLang="zh-CN" sz="4800">
                <a:ln w="38100">
                  <a:noFill/>
                </a:ln>
                <a:solidFill>
                  <a:schemeClr val="accent1"/>
                </a:solidFill>
                <a:latin typeface="Yu Gothic UI Semibold" panose="020B0700000000000000" charset="-128"/>
                <a:ea typeface="Yu Gothic UI Semibold" panose="020B0700000000000000" charset="-128"/>
                <a:cs typeface="Arial Black" panose="020B0A04020102020204" charset="0"/>
                <a:sym typeface="思源黑体 CN Normal" panose="020B0400000000000000" charset="-122"/>
              </a:rPr>
              <a:t>R</a:t>
            </a:r>
            <a:r>
              <a:rPr lang="zh-CN" altLang="en-US" sz="4800">
                <a:ln w="38100">
                  <a:noFill/>
                </a:ln>
                <a:solidFill>
                  <a:schemeClr val="accent1"/>
                </a:solidFill>
                <a:latin typeface="Yu Gothic UI Semibold" panose="020B0700000000000000" charset="-128"/>
                <a:ea typeface="Yu Gothic UI Semibold" panose="020B0700000000000000" charset="-128"/>
                <a:cs typeface="Arial Black" panose="020B0A04020102020204" charset="0"/>
                <a:sym typeface="思源黑体 CN Normal" panose="020B0400000000000000" charset="-122"/>
              </a:rPr>
              <a:t>obots</a:t>
            </a:r>
            <a:r>
              <a:rPr lang="en-US" altLang="zh-CN" sz="4800">
                <a:ln w="38100">
                  <a:noFill/>
                </a:ln>
                <a:solidFill>
                  <a:schemeClr val="accent1"/>
                </a:solidFill>
                <a:latin typeface="Yu Gothic UI Semibold" panose="020B0700000000000000" charset="-128"/>
                <a:ea typeface="Yu Gothic UI Semibold" panose="020B0700000000000000" charset="-128"/>
                <a:cs typeface="Arial Black" panose="020B0A04020102020204" charset="0"/>
                <a:sym typeface="思源黑体 CN Normal" panose="020B0400000000000000" charset="-122"/>
              </a:rPr>
              <a:t> Design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546345" y="3657667"/>
            <a:ext cx="1954808" cy="30670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spc="-150">
                <a:ln w="38100">
                  <a:noFill/>
                </a:ln>
                <a:solidFill>
                  <a:srgbClr val="D53D2A"/>
                </a:solidFill>
                <a:effectLst>
                  <a:outerShdw blurRad="127000" dist="127000" dir="5400000" algn="t" rotWithShape="0">
                    <a:srgbClr val="D53D2A">
                      <a:alpha val="20000"/>
                    </a:srgbClr>
                  </a:outerShdw>
                </a:effectLst>
                <a:latin typeface="+mj-ea"/>
                <a:ea typeface="+mj-ea"/>
              </a:defRPr>
            </a:lvl1pPr>
          </a:lstStyle>
          <a:p>
            <a:pPr algn="l"/>
            <a:r>
              <a:rPr lang="en-US" altLang="zh-CN" sz="1400" spc="0">
                <a:solidFill>
                  <a:schemeClr val="accent1"/>
                </a:solidFill>
                <a:effectLst/>
                <a:sym typeface="思源黑体 CN Normal" panose="020B0400000000000000" charset="-122"/>
              </a:rPr>
              <a:t>Team members</a:t>
            </a:r>
            <a:r>
              <a:rPr lang="zh-CN" altLang="en-US" sz="1400" spc="0">
                <a:solidFill>
                  <a:schemeClr val="accent1"/>
                </a:solidFill>
                <a:effectLst/>
                <a:sym typeface="思源黑体 CN Normal" panose="020B0400000000000000" charset="-122"/>
              </a:rPr>
              <a:t>：</a:t>
            </a:r>
            <a:r>
              <a:rPr lang="en-US" altLang="zh-CN" sz="1400" spc="0">
                <a:solidFill>
                  <a:schemeClr val="accent1"/>
                </a:solidFill>
                <a:effectLst/>
                <a:sym typeface="思源黑体 CN Normal" panose="020B0400000000000000" charset="-122"/>
              </a:rPr>
              <a:t>                                </a:t>
            </a:r>
          </a:p>
        </p:txBody>
      </p:sp>
      <p:sp>
        <p:nvSpPr>
          <p:cNvPr id="64" name="文本框 63"/>
          <p:cNvSpPr txBox="1"/>
          <p:nvPr/>
        </p:nvSpPr>
        <p:spPr>
          <a:xfrm>
            <a:off x="7559675" y="4772660"/>
            <a:ext cx="1433830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/>
            <a:r>
              <a:rPr kumimoji="0" lang="en-US" altLang="zh-CN" sz="1000" b="0" i="0" u="none" strike="noStrike" kern="1200" cap="none" spc="0" normalizeH="0" baseline="0" noProof="0">
                <a:ln w="38100"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锦绣宋体" panose="02000503000000000000" charset="-122"/>
                <a:ea typeface="锦绣宋体" panose="02000503000000000000" charset="-122"/>
                <a:cs typeface="+mn-cs"/>
                <a:sym typeface="思源黑体 CN Normal" panose="020B0400000000000000" charset="-122"/>
              </a:rPr>
              <a:t>GROUP 16 </a:t>
            </a:r>
            <a:endParaRPr lang="zh-CN" altLang="en-US" sz="1050">
              <a:solidFill>
                <a:schemeClr val="accent1"/>
              </a:solidFill>
            </a:endParaRPr>
          </a:p>
        </p:txBody>
      </p:sp>
      <p:grpSp>
        <p:nvGrpSpPr>
          <p:cNvPr id="71" name="组合 70"/>
          <p:cNvGrpSpPr/>
          <p:nvPr/>
        </p:nvGrpSpPr>
        <p:grpSpPr>
          <a:xfrm>
            <a:off x="8628434" y="349014"/>
            <a:ext cx="299666" cy="193928"/>
            <a:chOff x="6709229" y="856343"/>
            <a:chExt cx="232229" cy="58057"/>
          </a:xfrm>
        </p:grpSpPr>
        <p:cxnSp>
          <p:nvCxnSpPr>
            <p:cNvPr id="72" name="直接连接符 71"/>
            <p:cNvCxnSpPr/>
            <p:nvPr/>
          </p:nvCxnSpPr>
          <p:spPr>
            <a:xfrm>
              <a:off x="6709229" y="856343"/>
              <a:ext cx="232229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接连接符 72"/>
            <p:cNvCxnSpPr/>
            <p:nvPr/>
          </p:nvCxnSpPr>
          <p:spPr>
            <a:xfrm>
              <a:off x="6709229" y="885372"/>
              <a:ext cx="232229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接连接符 73"/>
            <p:cNvCxnSpPr/>
            <p:nvPr/>
          </p:nvCxnSpPr>
          <p:spPr>
            <a:xfrm>
              <a:off x="6709229" y="914400"/>
              <a:ext cx="232229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文本框 18"/>
          <p:cNvSpPr txBox="1"/>
          <p:nvPr/>
        </p:nvSpPr>
        <p:spPr>
          <a:xfrm>
            <a:off x="1801495" y="3023235"/>
            <a:ext cx="2889885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 w="381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Magneto" panose="04030805050802020D02" pitchFamily="82" charset="0"/>
                <a:ea typeface="Malgun Gothic Semilight" panose="020B0502040204020203" charset="-122"/>
                <a:sym typeface="思源黑体 CN Normal" panose="020B0400000000000000" charset="-122"/>
              </a:rPr>
              <a:t>Design of the circuit and implementation of the functions</a:t>
            </a:r>
          </a:p>
        </p:txBody>
      </p:sp>
      <p:grpSp>
        <p:nvGrpSpPr>
          <p:cNvPr id="10" name="组合 9"/>
          <p:cNvGrpSpPr/>
          <p:nvPr/>
        </p:nvGrpSpPr>
        <p:grpSpPr>
          <a:xfrm>
            <a:off x="4447253" y="995737"/>
            <a:ext cx="4468147" cy="3468687"/>
            <a:chOff x="3835221" y="746966"/>
            <a:chExt cx="5080179" cy="3943816"/>
          </a:xfrm>
          <a:blipFill>
            <a:blip r:embed="rId3"/>
            <a:stretch>
              <a:fillRect/>
            </a:stretch>
          </a:blipFill>
        </p:grpSpPr>
        <p:cxnSp>
          <p:nvCxnSpPr>
            <p:cNvPr id="18" name="直接连接符 17"/>
            <p:cNvCxnSpPr/>
            <p:nvPr/>
          </p:nvCxnSpPr>
          <p:spPr>
            <a:xfrm>
              <a:off x="3835221" y="2708508"/>
              <a:ext cx="1546583" cy="0"/>
            </a:xfrm>
            <a:prstGeom prst="lin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Freeform 5"/>
            <p:cNvSpPr/>
            <p:nvPr/>
          </p:nvSpPr>
          <p:spPr bwMode="auto">
            <a:xfrm>
              <a:off x="5524968" y="746966"/>
              <a:ext cx="1312863" cy="1516063"/>
            </a:xfrm>
            <a:custGeom>
              <a:avLst/>
              <a:gdLst>
                <a:gd name="T0" fmla="*/ 827 w 827"/>
                <a:gd name="T1" fmla="*/ 239 h 955"/>
                <a:gd name="T2" fmla="*/ 414 w 827"/>
                <a:gd name="T3" fmla="*/ 0 h 955"/>
                <a:gd name="T4" fmla="*/ 0 w 827"/>
                <a:gd name="T5" fmla="*/ 239 h 955"/>
                <a:gd name="T6" fmla="*/ 0 w 827"/>
                <a:gd name="T7" fmla="*/ 716 h 955"/>
                <a:gd name="T8" fmla="*/ 414 w 827"/>
                <a:gd name="T9" fmla="*/ 955 h 955"/>
                <a:gd name="T10" fmla="*/ 827 w 827"/>
                <a:gd name="T11" fmla="*/ 716 h 955"/>
                <a:gd name="T12" fmla="*/ 827 w 827"/>
                <a:gd name="T13" fmla="*/ 239 h 9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27" h="955">
                  <a:moveTo>
                    <a:pt x="827" y="239"/>
                  </a:moveTo>
                  <a:lnTo>
                    <a:pt x="414" y="0"/>
                  </a:lnTo>
                  <a:lnTo>
                    <a:pt x="0" y="239"/>
                  </a:lnTo>
                  <a:lnTo>
                    <a:pt x="0" y="716"/>
                  </a:lnTo>
                  <a:lnTo>
                    <a:pt x="414" y="955"/>
                  </a:lnTo>
                  <a:lnTo>
                    <a:pt x="827" y="716"/>
                  </a:lnTo>
                  <a:lnTo>
                    <a:pt x="827" y="239"/>
                  </a:lnTo>
                  <a:close/>
                </a:path>
              </a:pathLst>
            </a:custGeom>
            <a:grpFill/>
            <a:ln w="14288" cap="flat">
              <a:noFill/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4" name="Freeform 5"/>
            <p:cNvSpPr/>
            <p:nvPr/>
          </p:nvSpPr>
          <p:spPr bwMode="auto">
            <a:xfrm>
              <a:off x="6204044" y="1950477"/>
              <a:ext cx="1312863" cy="1516063"/>
            </a:xfrm>
            <a:custGeom>
              <a:avLst/>
              <a:gdLst>
                <a:gd name="T0" fmla="*/ 827 w 827"/>
                <a:gd name="T1" fmla="*/ 239 h 955"/>
                <a:gd name="T2" fmla="*/ 414 w 827"/>
                <a:gd name="T3" fmla="*/ 0 h 955"/>
                <a:gd name="T4" fmla="*/ 0 w 827"/>
                <a:gd name="T5" fmla="*/ 239 h 955"/>
                <a:gd name="T6" fmla="*/ 0 w 827"/>
                <a:gd name="T7" fmla="*/ 716 h 955"/>
                <a:gd name="T8" fmla="*/ 414 w 827"/>
                <a:gd name="T9" fmla="*/ 955 h 955"/>
                <a:gd name="T10" fmla="*/ 827 w 827"/>
                <a:gd name="T11" fmla="*/ 716 h 955"/>
                <a:gd name="T12" fmla="*/ 827 w 827"/>
                <a:gd name="T13" fmla="*/ 239 h 9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27" h="955">
                  <a:moveTo>
                    <a:pt x="827" y="239"/>
                  </a:moveTo>
                  <a:lnTo>
                    <a:pt x="414" y="0"/>
                  </a:lnTo>
                  <a:lnTo>
                    <a:pt x="0" y="239"/>
                  </a:lnTo>
                  <a:lnTo>
                    <a:pt x="0" y="716"/>
                  </a:lnTo>
                  <a:lnTo>
                    <a:pt x="414" y="955"/>
                  </a:lnTo>
                  <a:lnTo>
                    <a:pt x="827" y="716"/>
                  </a:lnTo>
                  <a:lnTo>
                    <a:pt x="827" y="239"/>
                  </a:lnTo>
                  <a:close/>
                </a:path>
              </a:pathLst>
            </a:custGeom>
            <a:grpFill/>
            <a:ln w="14288" cap="flat">
              <a:noFill/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5" name="Freeform 5"/>
            <p:cNvSpPr/>
            <p:nvPr/>
          </p:nvSpPr>
          <p:spPr bwMode="auto">
            <a:xfrm>
              <a:off x="4818997" y="1950477"/>
              <a:ext cx="1312863" cy="1516063"/>
            </a:xfrm>
            <a:custGeom>
              <a:avLst/>
              <a:gdLst>
                <a:gd name="T0" fmla="*/ 827 w 827"/>
                <a:gd name="T1" fmla="*/ 239 h 955"/>
                <a:gd name="T2" fmla="*/ 414 w 827"/>
                <a:gd name="T3" fmla="*/ 0 h 955"/>
                <a:gd name="T4" fmla="*/ 0 w 827"/>
                <a:gd name="T5" fmla="*/ 239 h 955"/>
                <a:gd name="T6" fmla="*/ 0 w 827"/>
                <a:gd name="T7" fmla="*/ 716 h 955"/>
                <a:gd name="T8" fmla="*/ 414 w 827"/>
                <a:gd name="T9" fmla="*/ 955 h 955"/>
                <a:gd name="T10" fmla="*/ 827 w 827"/>
                <a:gd name="T11" fmla="*/ 716 h 955"/>
                <a:gd name="T12" fmla="*/ 827 w 827"/>
                <a:gd name="T13" fmla="*/ 239 h 9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27" h="955">
                  <a:moveTo>
                    <a:pt x="827" y="239"/>
                  </a:moveTo>
                  <a:lnTo>
                    <a:pt x="414" y="0"/>
                  </a:lnTo>
                  <a:lnTo>
                    <a:pt x="0" y="239"/>
                  </a:lnTo>
                  <a:lnTo>
                    <a:pt x="0" y="716"/>
                  </a:lnTo>
                  <a:lnTo>
                    <a:pt x="414" y="955"/>
                  </a:lnTo>
                  <a:lnTo>
                    <a:pt x="827" y="716"/>
                  </a:lnTo>
                  <a:lnTo>
                    <a:pt x="827" y="239"/>
                  </a:lnTo>
                  <a:close/>
                </a:path>
              </a:pathLst>
            </a:custGeom>
            <a:grpFill/>
            <a:ln w="14288" cap="flat">
              <a:noFill/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6" name="Freeform 5"/>
            <p:cNvSpPr/>
            <p:nvPr/>
          </p:nvSpPr>
          <p:spPr bwMode="auto">
            <a:xfrm>
              <a:off x="5504797" y="3174719"/>
              <a:ext cx="1312863" cy="1516063"/>
            </a:xfrm>
            <a:custGeom>
              <a:avLst/>
              <a:gdLst>
                <a:gd name="T0" fmla="*/ 827 w 827"/>
                <a:gd name="T1" fmla="*/ 239 h 955"/>
                <a:gd name="T2" fmla="*/ 414 w 827"/>
                <a:gd name="T3" fmla="*/ 0 h 955"/>
                <a:gd name="T4" fmla="*/ 0 w 827"/>
                <a:gd name="T5" fmla="*/ 239 h 955"/>
                <a:gd name="T6" fmla="*/ 0 w 827"/>
                <a:gd name="T7" fmla="*/ 716 h 955"/>
                <a:gd name="T8" fmla="*/ 414 w 827"/>
                <a:gd name="T9" fmla="*/ 955 h 955"/>
                <a:gd name="T10" fmla="*/ 827 w 827"/>
                <a:gd name="T11" fmla="*/ 716 h 955"/>
                <a:gd name="T12" fmla="*/ 827 w 827"/>
                <a:gd name="T13" fmla="*/ 239 h 9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27" h="955">
                  <a:moveTo>
                    <a:pt x="827" y="239"/>
                  </a:moveTo>
                  <a:lnTo>
                    <a:pt x="414" y="0"/>
                  </a:lnTo>
                  <a:lnTo>
                    <a:pt x="0" y="239"/>
                  </a:lnTo>
                  <a:lnTo>
                    <a:pt x="0" y="716"/>
                  </a:lnTo>
                  <a:lnTo>
                    <a:pt x="414" y="955"/>
                  </a:lnTo>
                  <a:lnTo>
                    <a:pt x="827" y="716"/>
                  </a:lnTo>
                  <a:lnTo>
                    <a:pt x="827" y="239"/>
                  </a:lnTo>
                  <a:close/>
                </a:path>
              </a:pathLst>
            </a:custGeom>
            <a:grpFill/>
            <a:ln w="14288" cap="flat">
              <a:noFill/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7" name="Freeform 5"/>
            <p:cNvSpPr/>
            <p:nvPr/>
          </p:nvSpPr>
          <p:spPr bwMode="auto">
            <a:xfrm>
              <a:off x="7602537" y="1950477"/>
              <a:ext cx="1312863" cy="1516063"/>
            </a:xfrm>
            <a:custGeom>
              <a:avLst/>
              <a:gdLst>
                <a:gd name="T0" fmla="*/ 827 w 827"/>
                <a:gd name="T1" fmla="*/ 239 h 955"/>
                <a:gd name="T2" fmla="*/ 414 w 827"/>
                <a:gd name="T3" fmla="*/ 0 h 955"/>
                <a:gd name="T4" fmla="*/ 0 w 827"/>
                <a:gd name="T5" fmla="*/ 239 h 955"/>
                <a:gd name="T6" fmla="*/ 0 w 827"/>
                <a:gd name="T7" fmla="*/ 716 h 955"/>
                <a:gd name="T8" fmla="*/ 414 w 827"/>
                <a:gd name="T9" fmla="*/ 955 h 955"/>
                <a:gd name="T10" fmla="*/ 827 w 827"/>
                <a:gd name="T11" fmla="*/ 716 h 955"/>
                <a:gd name="T12" fmla="*/ 827 w 827"/>
                <a:gd name="T13" fmla="*/ 239 h 9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27" h="955">
                  <a:moveTo>
                    <a:pt x="827" y="239"/>
                  </a:moveTo>
                  <a:lnTo>
                    <a:pt x="414" y="0"/>
                  </a:lnTo>
                  <a:lnTo>
                    <a:pt x="0" y="239"/>
                  </a:lnTo>
                  <a:lnTo>
                    <a:pt x="0" y="716"/>
                  </a:lnTo>
                  <a:lnTo>
                    <a:pt x="414" y="955"/>
                  </a:lnTo>
                  <a:lnTo>
                    <a:pt x="827" y="716"/>
                  </a:lnTo>
                  <a:lnTo>
                    <a:pt x="827" y="239"/>
                  </a:lnTo>
                  <a:close/>
                </a:path>
              </a:pathLst>
            </a:custGeom>
            <a:grpFill/>
            <a:ln w="14288" cap="flat">
              <a:noFill/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8" name="Freeform 5"/>
            <p:cNvSpPr/>
            <p:nvPr/>
          </p:nvSpPr>
          <p:spPr bwMode="auto">
            <a:xfrm>
              <a:off x="6889844" y="3174719"/>
              <a:ext cx="1312863" cy="1516063"/>
            </a:xfrm>
            <a:custGeom>
              <a:avLst/>
              <a:gdLst>
                <a:gd name="T0" fmla="*/ 827 w 827"/>
                <a:gd name="T1" fmla="*/ 239 h 955"/>
                <a:gd name="T2" fmla="*/ 414 w 827"/>
                <a:gd name="T3" fmla="*/ 0 h 955"/>
                <a:gd name="T4" fmla="*/ 0 w 827"/>
                <a:gd name="T5" fmla="*/ 239 h 955"/>
                <a:gd name="T6" fmla="*/ 0 w 827"/>
                <a:gd name="T7" fmla="*/ 716 h 955"/>
                <a:gd name="T8" fmla="*/ 414 w 827"/>
                <a:gd name="T9" fmla="*/ 955 h 955"/>
                <a:gd name="T10" fmla="*/ 827 w 827"/>
                <a:gd name="T11" fmla="*/ 716 h 955"/>
                <a:gd name="T12" fmla="*/ 827 w 827"/>
                <a:gd name="T13" fmla="*/ 239 h 9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27" h="955">
                  <a:moveTo>
                    <a:pt x="827" y="239"/>
                  </a:moveTo>
                  <a:lnTo>
                    <a:pt x="414" y="0"/>
                  </a:lnTo>
                  <a:lnTo>
                    <a:pt x="0" y="239"/>
                  </a:lnTo>
                  <a:lnTo>
                    <a:pt x="0" y="716"/>
                  </a:lnTo>
                  <a:lnTo>
                    <a:pt x="414" y="955"/>
                  </a:lnTo>
                  <a:lnTo>
                    <a:pt x="827" y="716"/>
                  </a:lnTo>
                  <a:lnTo>
                    <a:pt x="827" y="239"/>
                  </a:lnTo>
                  <a:close/>
                </a:path>
              </a:pathLst>
            </a:custGeom>
            <a:grpFill/>
            <a:ln w="14288" cap="flat">
              <a:noFill/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9" name="Freeform 5"/>
            <p:cNvSpPr/>
            <p:nvPr/>
          </p:nvSpPr>
          <p:spPr bwMode="auto">
            <a:xfrm>
              <a:off x="6903290" y="746966"/>
              <a:ext cx="1312863" cy="1516063"/>
            </a:xfrm>
            <a:custGeom>
              <a:avLst/>
              <a:gdLst>
                <a:gd name="T0" fmla="*/ 827 w 827"/>
                <a:gd name="T1" fmla="*/ 239 h 955"/>
                <a:gd name="T2" fmla="*/ 414 w 827"/>
                <a:gd name="T3" fmla="*/ 0 h 955"/>
                <a:gd name="T4" fmla="*/ 0 w 827"/>
                <a:gd name="T5" fmla="*/ 239 h 955"/>
                <a:gd name="T6" fmla="*/ 0 w 827"/>
                <a:gd name="T7" fmla="*/ 716 h 955"/>
                <a:gd name="T8" fmla="*/ 414 w 827"/>
                <a:gd name="T9" fmla="*/ 955 h 955"/>
                <a:gd name="T10" fmla="*/ 827 w 827"/>
                <a:gd name="T11" fmla="*/ 716 h 955"/>
                <a:gd name="T12" fmla="*/ 827 w 827"/>
                <a:gd name="T13" fmla="*/ 239 h 9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27" h="955">
                  <a:moveTo>
                    <a:pt x="827" y="239"/>
                  </a:moveTo>
                  <a:lnTo>
                    <a:pt x="414" y="0"/>
                  </a:lnTo>
                  <a:lnTo>
                    <a:pt x="0" y="239"/>
                  </a:lnTo>
                  <a:lnTo>
                    <a:pt x="0" y="716"/>
                  </a:lnTo>
                  <a:lnTo>
                    <a:pt x="414" y="955"/>
                  </a:lnTo>
                  <a:lnTo>
                    <a:pt x="827" y="716"/>
                  </a:lnTo>
                  <a:lnTo>
                    <a:pt x="827" y="239"/>
                  </a:lnTo>
                  <a:close/>
                </a:path>
              </a:pathLst>
            </a:custGeom>
            <a:grpFill/>
            <a:ln w="14288" cap="flat">
              <a:noFill/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0" name="Freeform 5"/>
            <p:cNvSpPr/>
            <p:nvPr/>
          </p:nvSpPr>
          <p:spPr bwMode="auto">
            <a:xfrm>
              <a:off x="4113027" y="3174719"/>
              <a:ext cx="1312863" cy="1516063"/>
            </a:xfrm>
            <a:custGeom>
              <a:avLst/>
              <a:gdLst>
                <a:gd name="T0" fmla="*/ 827 w 827"/>
                <a:gd name="T1" fmla="*/ 239 h 955"/>
                <a:gd name="T2" fmla="*/ 414 w 827"/>
                <a:gd name="T3" fmla="*/ 0 h 955"/>
                <a:gd name="T4" fmla="*/ 0 w 827"/>
                <a:gd name="T5" fmla="*/ 239 h 955"/>
                <a:gd name="T6" fmla="*/ 0 w 827"/>
                <a:gd name="T7" fmla="*/ 716 h 955"/>
                <a:gd name="T8" fmla="*/ 414 w 827"/>
                <a:gd name="T9" fmla="*/ 955 h 955"/>
                <a:gd name="T10" fmla="*/ 827 w 827"/>
                <a:gd name="T11" fmla="*/ 716 h 955"/>
                <a:gd name="T12" fmla="*/ 827 w 827"/>
                <a:gd name="T13" fmla="*/ 239 h 9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27" h="955">
                  <a:moveTo>
                    <a:pt x="827" y="239"/>
                  </a:moveTo>
                  <a:lnTo>
                    <a:pt x="414" y="0"/>
                  </a:lnTo>
                  <a:lnTo>
                    <a:pt x="0" y="239"/>
                  </a:lnTo>
                  <a:lnTo>
                    <a:pt x="0" y="716"/>
                  </a:lnTo>
                  <a:lnTo>
                    <a:pt x="414" y="955"/>
                  </a:lnTo>
                  <a:lnTo>
                    <a:pt x="827" y="716"/>
                  </a:lnTo>
                  <a:lnTo>
                    <a:pt x="827" y="239"/>
                  </a:lnTo>
                  <a:close/>
                </a:path>
              </a:pathLst>
            </a:custGeom>
            <a:grpFill/>
            <a:ln w="14288" cap="flat">
              <a:noFill/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cxnSp>
        <p:nvCxnSpPr>
          <p:cNvPr id="12" name="直接连接符 11"/>
          <p:cNvCxnSpPr/>
          <p:nvPr/>
        </p:nvCxnSpPr>
        <p:spPr>
          <a:xfrm>
            <a:off x="672352" y="3482788"/>
            <a:ext cx="215153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-53975" y="0"/>
            <a:ext cx="2095500" cy="7372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057910" y="3849370"/>
            <a:ext cx="2491740" cy="1168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>
                <a:ln w="38100">
                  <a:noFill/>
                </a:ln>
                <a:solidFill>
                  <a:schemeClr val="accent1"/>
                </a:solidFill>
                <a:effectLst/>
                <a:latin typeface="+mj-ea"/>
                <a:ea typeface="+mj-ea"/>
                <a:sym typeface="思源黑体 CN Normal" panose="020B0400000000000000" charset="-122"/>
              </a:rPr>
              <a:t>Tangxun Wu</a:t>
            </a:r>
            <a:endParaRPr lang="en-US" altLang="zh-CN" sz="1400" spc="0">
              <a:ln w="38100">
                <a:noFill/>
              </a:ln>
              <a:solidFill>
                <a:schemeClr val="accent1"/>
              </a:solidFill>
              <a:effectLst/>
              <a:latin typeface="+mj-ea"/>
              <a:ea typeface="+mj-ea"/>
              <a:sym typeface="思源黑体 CN Normal" panose="020B0400000000000000" charset="-122"/>
            </a:endParaRPr>
          </a:p>
          <a:p>
            <a:pPr algn="ctr"/>
            <a:r>
              <a:rPr lang="en-US" altLang="zh-CN" sz="1400">
                <a:ln w="38100">
                  <a:noFill/>
                </a:ln>
                <a:solidFill>
                  <a:schemeClr val="accent1"/>
                </a:solidFill>
                <a:effectLst/>
                <a:latin typeface="+mj-ea"/>
                <a:ea typeface="+mj-ea"/>
                <a:sym typeface="思源黑体 CN Normal" panose="020B0400000000000000" charset="-122"/>
              </a:rPr>
              <a:t>Boyang He</a:t>
            </a:r>
            <a:endParaRPr lang="en-US" altLang="zh-CN" sz="1400" spc="0">
              <a:ln w="38100">
                <a:noFill/>
              </a:ln>
              <a:solidFill>
                <a:schemeClr val="accent1"/>
              </a:solidFill>
              <a:effectLst/>
              <a:latin typeface="+mj-ea"/>
              <a:ea typeface="+mj-ea"/>
              <a:sym typeface="思源黑体 CN Normal" panose="020B0400000000000000" charset="-122"/>
            </a:endParaRPr>
          </a:p>
          <a:p>
            <a:pPr algn="ctr"/>
            <a:r>
              <a:rPr lang="en-US" altLang="zh-CN" sz="1400">
                <a:ln w="38100">
                  <a:noFill/>
                </a:ln>
                <a:solidFill>
                  <a:schemeClr val="accent1"/>
                </a:solidFill>
                <a:effectLst/>
                <a:latin typeface="+mj-ea"/>
                <a:ea typeface="+mj-ea"/>
                <a:sym typeface="思源黑体 CN Normal" panose="020B0400000000000000" charset="-122"/>
              </a:rPr>
              <a:t>Guanyi Lin</a:t>
            </a:r>
            <a:endParaRPr lang="en-US" altLang="zh-CN" sz="1400" spc="0">
              <a:ln w="38100">
                <a:noFill/>
              </a:ln>
              <a:solidFill>
                <a:schemeClr val="accent1"/>
              </a:solidFill>
              <a:effectLst/>
              <a:latin typeface="+mj-ea"/>
              <a:ea typeface="+mj-ea"/>
              <a:sym typeface="思源黑体 CN Normal" panose="020B0400000000000000" charset="-122"/>
            </a:endParaRPr>
          </a:p>
          <a:p>
            <a:pPr algn="ctr"/>
            <a:r>
              <a:rPr lang="en-US" altLang="zh-CN" sz="1400">
                <a:ln w="38100">
                  <a:noFill/>
                </a:ln>
                <a:solidFill>
                  <a:schemeClr val="accent1"/>
                </a:solidFill>
                <a:effectLst/>
                <a:latin typeface="+mj-ea"/>
                <a:ea typeface="+mj-ea"/>
                <a:sym typeface="思源黑体 CN Normal" panose="020B0400000000000000" charset="-122"/>
              </a:rPr>
              <a:t>Donngze Sun</a:t>
            </a:r>
            <a:endParaRPr lang="en-US" altLang="zh-CN" sz="1400" spc="0">
              <a:ln w="38100">
                <a:noFill/>
              </a:ln>
              <a:solidFill>
                <a:schemeClr val="accent1"/>
              </a:solidFill>
              <a:effectLst/>
              <a:latin typeface="+mj-ea"/>
              <a:ea typeface="+mj-ea"/>
              <a:sym typeface="思源黑体 CN Normal" panose="020B0400000000000000" charset="-122"/>
            </a:endParaRPr>
          </a:p>
          <a:p>
            <a:pPr algn="ctr"/>
            <a:r>
              <a:rPr lang="en-US" altLang="zh-CN" sz="1400">
                <a:ln w="38100">
                  <a:noFill/>
                </a:ln>
                <a:solidFill>
                  <a:schemeClr val="accent1"/>
                </a:solidFill>
                <a:effectLst/>
                <a:latin typeface="+mj-ea"/>
                <a:ea typeface="+mj-ea"/>
                <a:sym typeface="思源黑体 CN Normal" panose="020B0400000000000000" charset="-122"/>
              </a:rPr>
              <a:t>Weiping Kong</a:t>
            </a:r>
            <a:endParaRPr lang="en-US" altLang="zh-CN" sz="1400">
              <a:ln w="38100">
                <a:noFill/>
              </a:ln>
              <a:solidFill>
                <a:schemeClr val="accent1"/>
              </a:solidFill>
              <a:effectLst/>
              <a:latin typeface="+mj-ea"/>
              <a:ea typeface="+mj-ea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3060192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151130" y="71755"/>
            <a:ext cx="2785110" cy="91884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pPr algn="ctr"/>
            <a:r>
              <a:rPr lang="zh-CN" altLang="en-US" sz="2400">
                <a:ln w="38100">
                  <a:noFill/>
                </a:ln>
                <a:solidFill>
                  <a:schemeClr val="bg1"/>
                </a:solidFill>
                <a:latin typeface="+mj-ea"/>
                <a:ea typeface="+mj-ea"/>
                <a:sym typeface="+mn-lt"/>
              </a:rPr>
              <a:t>Mission R</a:t>
            </a:r>
            <a:r>
              <a:rPr lang="zh-CN" altLang="en-US" sz="2400">
                <a:ln w="38100">
                  <a:noFill/>
                </a:ln>
                <a:solidFill>
                  <a:schemeClr val="bg1"/>
                </a:solidFill>
                <a:latin typeface="+mj-ea"/>
                <a:ea typeface="+mj-ea"/>
                <a:sym typeface="+mn-ea"/>
              </a:rPr>
              <a:t>equirements</a:t>
            </a:r>
            <a:endParaRPr lang="zh-CN" altLang="en-US" sz="2400">
              <a:ln w="38100">
                <a:noFill/>
              </a:ln>
              <a:solidFill>
                <a:schemeClr val="bg1"/>
              </a:solidFill>
              <a:latin typeface="+mj-ea"/>
              <a:ea typeface="+mj-ea"/>
              <a:sym typeface="思源黑体 CN Normal" panose="020B0400000000000000" charset="-122"/>
            </a:endParaRPr>
          </a:p>
          <a:p>
            <a:pPr algn="ctr"/>
            <a:endParaRPr lang="zh-CN" altLang="en-US" sz="2400">
              <a:ln w="38100">
                <a:noFill/>
              </a:ln>
              <a:solidFill>
                <a:schemeClr val="bg1"/>
              </a:solidFill>
              <a:latin typeface="+mj-ea"/>
              <a:ea typeface="+mj-ea"/>
              <a:sym typeface="+mn-lt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02665"/>
            <a:ext cx="3919220" cy="2638425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4277360" y="487680"/>
            <a:ext cx="4428490" cy="29756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800">
              <a:lnSpc>
                <a:spcPct val="150000"/>
              </a:lnSpc>
            </a:pPr>
            <a:r>
              <a:rPr lang="zh-CN" altLang="en-US" sz="105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rPr>
              <a:t>Basic requirements:</a:t>
            </a:r>
          </a:p>
          <a:p>
            <a:pPr defTabSz="685800">
              <a:lnSpc>
                <a:spcPct val="150000"/>
              </a:lnSpc>
            </a:pPr>
            <a:r>
              <a:rPr lang="zh-CN" altLang="en-US" sz="105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rPr>
              <a:t>1. follows black line tracks on the floor;</a:t>
            </a:r>
          </a:p>
          <a:p>
            <a:pPr defTabSz="685800">
              <a:lnSpc>
                <a:spcPct val="150000"/>
              </a:lnSpc>
            </a:pPr>
            <a:r>
              <a:rPr lang="zh-CN" altLang="en-US" sz="105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rPr>
              <a:t>2. stops at marked positions and records the position of the </a:t>
            </a:r>
          </a:p>
          <a:p>
            <a:pPr defTabSz="685800">
              <a:lnSpc>
                <a:spcPct val="150000"/>
              </a:lnSpc>
            </a:pPr>
            <a:r>
              <a:rPr lang="zh-CN" altLang="en-US" sz="105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rPr>
              <a:t>goods of four possible colours (red, blue, yellow and </a:t>
            </a:r>
          </a:p>
          <a:p>
            <a:pPr defTabSz="685800">
              <a:lnSpc>
                <a:spcPct val="150000"/>
              </a:lnSpc>
            </a:pPr>
            <a:r>
              <a:rPr lang="zh-CN" altLang="en-US" sz="105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rPr>
              <a:t>green) along the track; </a:t>
            </a:r>
          </a:p>
          <a:p>
            <a:pPr defTabSz="685800">
              <a:lnSpc>
                <a:spcPct val="150000"/>
              </a:lnSpc>
            </a:pPr>
            <a:r>
              <a:rPr lang="zh-CN" altLang="en-US" sz="105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rPr>
              <a:t>3. stops when it is back to the base PC;</a:t>
            </a:r>
          </a:p>
          <a:p>
            <a:pPr defTabSz="685800">
              <a:lnSpc>
                <a:spcPct val="150000"/>
              </a:lnSpc>
            </a:pPr>
            <a:r>
              <a:rPr lang="zh-CN" altLang="en-US" sz="105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rPr>
              <a:t>4. offloads the recorded positions to the hardware-database </a:t>
            </a:r>
          </a:p>
          <a:p>
            <a:pPr defTabSz="685800">
              <a:lnSpc>
                <a:spcPct val="150000"/>
              </a:lnSpc>
            </a:pPr>
            <a:r>
              <a:rPr lang="zh-CN" altLang="en-US" sz="105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rPr>
              <a:t>interface software</a:t>
            </a:r>
          </a:p>
          <a:p>
            <a:pPr defTabSz="685800">
              <a:lnSpc>
                <a:spcPct val="150000"/>
              </a:lnSpc>
            </a:pPr>
            <a:r>
              <a:rPr lang="zh-CN" altLang="en-US" sz="105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rPr>
              <a:t>• Possible advanced functions:</a:t>
            </a:r>
          </a:p>
          <a:p>
            <a:pPr defTabSz="685800">
              <a:lnSpc>
                <a:spcPct val="150000"/>
              </a:lnSpc>
            </a:pPr>
            <a:r>
              <a:rPr lang="zh-CN" altLang="en-US" sz="105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rPr>
              <a:t>– connect to the host PC wirelessly and transmit the positions </a:t>
            </a:r>
          </a:p>
          <a:p>
            <a:pPr defTabSz="685800">
              <a:lnSpc>
                <a:spcPct val="150000"/>
              </a:lnSpc>
            </a:pPr>
            <a:r>
              <a:rPr lang="zh-CN" altLang="en-US" sz="105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rPr>
              <a:t>of the goods in real time.</a:t>
            </a:r>
          </a:p>
          <a:p>
            <a:pPr defTabSz="685800">
              <a:lnSpc>
                <a:spcPct val="150000"/>
              </a:lnSpc>
            </a:pPr>
            <a:r>
              <a:rPr lang="zh-CN" altLang="en-US" sz="105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rPr>
              <a:t>– self-designed other functions.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3673475" y="3497580"/>
            <a:ext cx="5121275" cy="81851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05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defRPr>
            </a:lvl1pPr>
          </a:lstStyle>
          <a:p>
            <a:r>
              <a:rPr lang="en-US" altLang="zh-CN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</a:rPr>
              <a:t>                                            </a:t>
            </a:r>
            <a:r>
              <a:rPr lang="zh-CN" altLang="en-US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 </a:t>
            </a:r>
          </a:p>
          <a:p>
            <a:r>
              <a:rPr lang="en-US" altLang="zh-CN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                                              </a:t>
            </a:r>
            <a:endParaRPr lang="zh-CN" altLang="en-US">
              <a:ln/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</a:endParaRPr>
          </a:p>
          <a:p>
            <a:r>
              <a:rPr lang="en-US" altLang="zh-CN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effectLst/>
              </a:rPr>
              <a:t>   </a:t>
            </a:r>
            <a:r>
              <a:rPr lang="en-US" altLang="zh-CN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sym typeface="+mn-ea"/>
              </a:rPr>
              <a:t>                                                          </a:t>
            </a:r>
            <a:endParaRPr lang="zh-CN" altLang="en-US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3354185" y="3410869"/>
            <a:ext cx="187037" cy="97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2" name="组合 11"/>
          <p:cNvGrpSpPr/>
          <p:nvPr/>
        </p:nvGrpSpPr>
        <p:grpSpPr>
          <a:xfrm>
            <a:off x="8628434" y="390398"/>
            <a:ext cx="299666" cy="193928"/>
            <a:chOff x="6709229" y="856343"/>
            <a:chExt cx="232229" cy="58057"/>
          </a:xfrm>
        </p:grpSpPr>
        <p:cxnSp>
          <p:nvCxnSpPr>
            <p:cNvPr id="13" name="直接连接符 12"/>
            <p:cNvCxnSpPr/>
            <p:nvPr/>
          </p:nvCxnSpPr>
          <p:spPr>
            <a:xfrm>
              <a:off x="6709229" y="856343"/>
              <a:ext cx="232229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>
              <a:off x="6709229" y="885372"/>
              <a:ext cx="232229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/>
            <p:cNvCxnSpPr/>
            <p:nvPr/>
          </p:nvCxnSpPr>
          <p:spPr>
            <a:xfrm>
              <a:off x="6709229" y="914400"/>
              <a:ext cx="232229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文本框 17"/>
          <p:cNvSpPr txBox="1"/>
          <p:nvPr/>
        </p:nvSpPr>
        <p:spPr>
          <a:xfrm>
            <a:off x="4510405" y="78740"/>
            <a:ext cx="326898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defTabSz="457200"/>
            <a:r>
              <a:rPr lang="en-US" altLang="zh-CN" sz="2000">
                <a:ln/>
                <a:solidFill>
                  <a:schemeClr val="accent1"/>
                </a:solidFill>
                <a:effectLst>
                  <a:reflection blurRad="6350" stA="53000" endA="300" endPos="35500" dir="5400000" sy="-90000" algn="bl" rotWithShape="0"/>
                </a:effectLst>
                <a:latin typeface="Yu Gothic UI Semibold" panose="020B0700000000000000" charset="-128"/>
                <a:ea typeface="Yu Gothic UI Semibold" panose="020B0700000000000000" charset="-128"/>
                <a:cs typeface="Arial Black" panose="020B0A04020102020204" charset="0"/>
                <a:sym typeface="思源黑体 CN Normal" panose="020B0400000000000000" charset="-122"/>
              </a:rPr>
              <a:t>A</a:t>
            </a:r>
            <a:r>
              <a:rPr lang="zh-CN" altLang="en-US" sz="2000">
                <a:ln/>
                <a:solidFill>
                  <a:schemeClr val="accent1"/>
                </a:solidFill>
                <a:effectLst>
                  <a:reflection blurRad="6350" stA="53000" endA="300" endPos="35500" dir="5400000" sy="-90000" algn="bl" rotWithShape="0"/>
                </a:effectLst>
                <a:latin typeface="Yu Gothic UI Semibold" panose="020B0700000000000000" charset="-128"/>
                <a:ea typeface="Yu Gothic UI Semibold" panose="020B0700000000000000" charset="-128"/>
                <a:cs typeface="Arial Black" panose="020B0A04020102020204" charset="0"/>
                <a:sym typeface="思源黑体 CN Normal" panose="020B0400000000000000" charset="-122"/>
              </a:rPr>
              <a:t>utomated </a:t>
            </a:r>
            <a:r>
              <a:rPr lang="en-US" altLang="zh-CN" sz="2000">
                <a:ln/>
                <a:solidFill>
                  <a:schemeClr val="accent1"/>
                </a:solidFill>
                <a:effectLst>
                  <a:reflection blurRad="6350" stA="53000" endA="300" endPos="35500" dir="5400000" sy="-90000" algn="bl" rotWithShape="0"/>
                </a:effectLst>
                <a:latin typeface="Yu Gothic UI Semibold" panose="020B0700000000000000" charset="-128"/>
                <a:ea typeface="Yu Gothic UI Semibold" panose="020B0700000000000000" charset="-128"/>
                <a:cs typeface="Arial Black" panose="020B0A04020102020204" charset="0"/>
                <a:sym typeface="思源黑体 CN Normal" panose="020B0400000000000000" charset="-122"/>
              </a:rPr>
              <a:t>R</a:t>
            </a:r>
            <a:r>
              <a:rPr lang="zh-CN" altLang="en-US" sz="2000">
                <a:ln/>
                <a:solidFill>
                  <a:schemeClr val="accent1"/>
                </a:solidFill>
                <a:effectLst>
                  <a:reflection blurRad="6350" stA="53000" endA="300" endPos="35500" dir="5400000" sy="-90000" algn="bl" rotWithShape="0"/>
                </a:effectLst>
                <a:latin typeface="Yu Gothic UI Semibold" panose="020B0700000000000000" charset="-128"/>
                <a:ea typeface="Yu Gothic UI Semibold" panose="020B0700000000000000" charset="-128"/>
                <a:cs typeface="Arial Black" panose="020B0A04020102020204" charset="0"/>
                <a:sym typeface="思源黑体 CN Normal" panose="020B0400000000000000" charset="-122"/>
              </a:rPr>
              <a:t>obots</a:t>
            </a:r>
            <a:r>
              <a:rPr lang="en-US" altLang="zh-CN" sz="2000">
                <a:ln/>
                <a:solidFill>
                  <a:schemeClr val="accent1"/>
                </a:solidFill>
                <a:effectLst>
                  <a:reflection blurRad="6350" stA="53000" endA="300" endPos="35500" dir="5400000" sy="-90000" algn="bl" rotWithShape="0"/>
                </a:effectLst>
                <a:latin typeface="Yu Gothic UI Semibold" panose="020B0700000000000000" charset="-128"/>
                <a:ea typeface="Yu Gothic UI Semibold" panose="020B0700000000000000" charset="-128"/>
                <a:cs typeface="Arial Black" panose="020B0A04020102020204" charset="0"/>
                <a:sym typeface="思源黑体 CN Normal" panose="020B0400000000000000" charset="-122"/>
              </a:rPr>
              <a:t> Design</a:t>
            </a:r>
          </a:p>
        </p:txBody>
      </p:sp>
      <p:sp>
        <p:nvSpPr>
          <p:cNvPr id="19" name="文本框 18"/>
          <p:cNvSpPr txBox="1"/>
          <p:nvPr/>
        </p:nvSpPr>
        <p:spPr>
          <a:xfrm rot="19860000">
            <a:off x="7119620" y="3295015"/>
            <a:ext cx="1023620" cy="5143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  <a:sym typeface="+mn-ea"/>
              </a:rPr>
              <a:t>Innovative </a:t>
            </a:r>
          </a:p>
          <a:p>
            <a:pPr algn="ctr"/>
            <a:r>
              <a:rPr lang="zh-CN" altLang="en-US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  <a:sym typeface="+mn-ea"/>
              </a:rPr>
              <a:t>design</a:t>
            </a:r>
            <a:r>
              <a:rPr lang="en-US" altLang="zh-CN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  <a:sym typeface="+mn-ea"/>
              </a:rPr>
              <a:t>  </a:t>
            </a:r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 rot="480000">
            <a:off x="5761355" y="4058285"/>
            <a:ext cx="3211195" cy="299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  <a:sym typeface="+mn-ea"/>
              </a:rPr>
              <a:t>Comprehensive documentation</a:t>
            </a:r>
            <a:endParaRPr lang="zh-CN" altLang="en-US"/>
          </a:p>
        </p:txBody>
      </p:sp>
      <p:sp>
        <p:nvSpPr>
          <p:cNvPr id="21" name="文本框 20"/>
          <p:cNvSpPr txBox="1"/>
          <p:nvPr/>
        </p:nvSpPr>
        <p:spPr>
          <a:xfrm rot="21060000">
            <a:off x="4022090" y="4588510"/>
            <a:ext cx="197040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  <a:sym typeface="+mn-ea"/>
              </a:rPr>
              <a:t>Excellent teamwork</a:t>
            </a:r>
            <a:endParaRPr lang="zh-CN" altLang="en-US" sz="1200"/>
          </a:p>
        </p:txBody>
      </p:sp>
      <p:sp>
        <p:nvSpPr>
          <p:cNvPr id="22" name="文本框 21"/>
          <p:cNvSpPr txBox="1"/>
          <p:nvPr/>
        </p:nvSpPr>
        <p:spPr>
          <a:xfrm>
            <a:off x="7530465" y="1481455"/>
            <a:ext cx="1097915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effectLst/>
                <a:sym typeface="+mn-ea"/>
              </a:rPr>
              <a:t> </a:t>
            </a:r>
            <a:r>
              <a:rPr lang="zh-CN" altLang="en-US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sym typeface="+mn-ea"/>
              </a:rPr>
              <a:t>Effective marketing</a:t>
            </a:r>
            <a:r>
              <a:rPr lang="en-US" altLang="zh-CN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sym typeface="+mn-ea"/>
              </a:rPr>
              <a:t> </a:t>
            </a:r>
            <a:endParaRPr lang="zh-CN" altLang="en-US"/>
          </a:p>
        </p:txBody>
      </p:sp>
      <p:sp>
        <p:nvSpPr>
          <p:cNvPr id="23" name="文本框 22"/>
          <p:cNvSpPr txBox="1"/>
          <p:nvPr/>
        </p:nvSpPr>
        <p:spPr>
          <a:xfrm rot="1140000">
            <a:off x="3629025" y="3821430"/>
            <a:ext cx="1624965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effectLst/>
                <a:sym typeface="+mn-ea"/>
              </a:rPr>
              <a:t>Careful planning</a:t>
            </a:r>
            <a:endParaRPr lang="zh-CN" altLang="en-US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  <a:p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7559675" y="4772660"/>
            <a:ext cx="1433830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/>
            <a:r>
              <a:rPr kumimoji="0" lang="en-US" altLang="zh-CN" sz="1000" b="0" i="0" u="none" strike="noStrike" kern="1200" cap="none" spc="0" normalizeH="0" baseline="0" noProof="0">
                <a:ln w="38100"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锦绣宋体" panose="02000503000000000000" charset="-122"/>
                <a:ea typeface="锦绣宋体" panose="02000503000000000000" charset="-122"/>
                <a:cs typeface="+mn-cs"/>
                <a:sym typeface="思源黑体 CN Normal" panose="020B0400000000000000" charset="-122"/>
              </a:rPr>
              <a:t>GROUP 16 </a:t>
            </a:r>
            <a:endParaRPr lang="zh-CN" altLang="en-US" sz="1050">
              <a:solidFill>
                <a:schemeClr val="accent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19" grpId="1"/>
      <p:bldP spid="20" grpId="0"/>
      <p:bldP spid="20" grpId="1"/>
      <p:bldP spid="21" grpId="0"/>
      <p:bldP spid="21" grpId="1"/>
      <p:bldP spid="22" grpId="0"/>
      <p:bldP spid="22" grpId="1"/>
      <p:bldP spid="23" grpId="0"/>
      <p:bldP spid="23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/>
        </p:nvSpPr>
        <p:spPr>
          <a:xfrm>
            <a:off x="3684270" y="82550"/>
            <a:ext cx="1776095" cy="50165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r>
              <a:rPr lang="en-US" altLang="zh-CN" sz="2400" dirty="0">
                <a:ln w="38100">
                  <a:noFill/>
                </a:ln>
                <a:solidFill>
                  <a:schemeClr val="accent1"/>
                </a:solidFill>
                <a:latin typeface="+mj-ea"/>
                <a:ea typeface="+mj-ea"/>
                <a:sym typeface="+mn-lt"/>
              </a:rPr>
              <a:t>A</a:t>
            </a:r>
            <a:r>
              <a:rPr lang="zh-CN" altLang="en-US" sz="2400" dirty="0">
                <a:ln w="38100">
                  <a:noFill/>
                </a:ln>
                <a:solidFill>
                  <a:schemeClr val="accent1"/>
                </a:solidFill>
                <a:latin typeface="+mj-ea"/>
                <a:ea typeface="+mj-ea"/>
                <a:sym typeface="+mn-lt"/>
              </a:rPr>
              <a:t>ppearance</a:t>
            </a:r>
            <a:endParaRPr lang="zh-CN" altLang="en-US" sz="2400" dirty="0">
              <a:ln w="38100">
                <a:noFill/>
              </a:ln>
              <a:solidFill>
                <a:schemeClr val="accent1"/>
              </a:solidFill>
              <a:latin typeface="+mj-ea"/>
              <a:ea typeface="+mj-ea"/>
              <a:sym typeface="思源黑体 CN Normal" panose="020B0400000000000000" charset="-122"/>
            </a:endParaRPr>
          </a:p>
          <a:p>
            <a:endParaRPr lang="zh-CN" altLang="en-US" sz="2400" dirty="0">
              <a:ln w="38100">
                <a:noFill/>
              </a:ln>
              <a:solidFill>
                <a:schemeClr val="accent1"/>
              </a:solidFill>
              <a:latin typeface="+mj-ea"/>
              <a:ea typeface="+mj-ea"/>
              <a:sym typeface="+mn-lt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8628434" y="390398"/>
            <a:ext cx="299666" cy="193928"/>
            <a:chOff x="6709229" y="856343"/>
            <a:chExt cx="232229" cy="58057"/>
          </a:xfrm>
        </p:grpSpPr>
        <p:cxnSp>
          <p:nvCxnSpPr>
            <p:cNvPr id="15" name="直接连接符 14"/>
            <p:cNvCxnSpPr/>
            <p:nvPr/>
          </p:nvCxnSpPr>
          <p:spPr>
            <a:xfrm>
              <a:off x="6709229" y="856343"/>
              <a:ext cx="232229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/>
            <p:nvPr/>
          </p:nvCxnSpPr>
          <p:spPr>
            <a:xfrm>
              <a:off x="6709229" y="885372"/>
              <a:ext cx="232229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/>
            <p:cNvCxnSpPr/>
            <p:nvPr/>
          </p:nvCxnSpPr>
          <p:spPr>
            <a:xfrm>
              <a:off x="6709229" y="914400"/>
              <a:ext cx="232229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矩形 9"/>
          <p:cNvSpPr/>
          <p:nvPr/>
        </p:nvSpPr>
        <p:spPr>
          <a:xfrm>
            <a:off x="57150" y="3092450"/>
            <a:ext cx="8858249" cy="1829118"/>
          </a:xfrm>
          <a:prstGeom prst="rect">
            <a:avLst/>
          </a:prstGeom>
          <a:solidFill>
            <a:schemeClr val="accent1"/>
          </a:solidFill>
          <a:ln w="28575">
            <a:noFill/>
          </a:ln>
          <a:effectLst>
            <a:outerShdw blurRad="127000" dist="127000" dir="5400000" algn="t" rotWithShape="0">
              <a:schemeClr val="accent1">
                <a:lumMod val="75000"/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7865" y="1778635"/>
            <a:ext cx="3812540" cy="220789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-53975" y="0"/>
            <a:ext cx="2095500" cy="73723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53975" y="1309370"/>
            <a:ext cx="3070860" cy="271335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34677" y="437198"/>
            <a:ext cx="2874645" cy="244665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7577137" y="4898390"/>
            <a:ext cx="1433830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/>
            <a:r>
              <a:rPr kumimoji="0" lang="en-US" altLang="zh-CN" sz="1000" b="0" i="0" u="none" strike="noStrike" kern="1200" cap="none" spc="0" normalizeH="0" baseline="0" noProof="0" dirty="0">
                <a:ln w="38100"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锦绣宋体" panose="02000503000000000000" charset="-122"/>
                <a:ea typeface="锦绣宋体" panose="02000503000000000000" charset="-122"/>
                <a:cs typeface="+mn-cs"/>
                <a:sym typeface="思源黑体 CN Normal" panose="020B0400000000000000" charset="-122"/>
              </a:rPr>
              <a:t>GROUP 16 </a:t>
            </a:r>
            <a:endParaRPr lang="zh-CN" altLang="en-US" sz="1050" dirty="0">
              <a:solidFill>
                <a:schemeClr val="accent1"/>
              </a:solidFill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A74A84D-F2F5-42A6-FD93-51AA03A0CE7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15335" y="3092450"/>
            <a:ext cx="2411729" cy="18087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小车避障 的图像结果">
            <a:extLst>
              <a:ext uri="{FF2B5EF4-FFF2-40B4-BE49-F238E27FC236}">
                <a16:creationId xmlns:a16="http://schemas.microsoft.com/office/drawing/2014/main" id="{5EAB8346-EE1B-881F-D559-7B187352B91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71" r="34833"/>
          <a:stretch/>
        </p:blipFill>
        <p:spPr bwMode="auto">
          <a:xfrm>
            <a:off x="6890397" y="3566098"/>
            <a:ext cx="2202803" cy="15658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矩形 3"/>
          <p:cNvSpPr/>
          <p:nvPr/>
        </p:nvSpPr>
        <p:spPr>
          <a:xfrm>
            <a:off x="0" y="0"/>
            <a:ext cx="9144000" cy="190237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3476307" y="159565"/>
            <a:ext cx="2429510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n w="38100">
                  <a:noFill/>
                </a:ln>
                <a:solidFill>
                  <a:schemeClr val="bg1"/>
                </a:solidFill>
                <a:latin typeface="+mj-ea"/>
                <a:ea typeface="+mj-ea"/>
                <a:sym typeface="+mn-lt"/>
              </a:rPr>
              <a:t>Basic  Functions</a:t>
            </a:r>
          </a:p>
        </p:txBody>
      </p:sp>
      <p:grpSp>
        <p:nvGrpSpPr>
          <p:cNvPr id="12" name="组合 11"/>
          <p:cNvGrpSpPr/>
          <p:nvPr/>
        </p:nvGrpSpPr>
        <p:grpSpPr>
          <a:xfrm>
            <a:off x="8628434" y="390398"/>
            <a:ext cx="299666" cy="193928"/>
            <a:chOff x="6709229" y="856343"/>
            <a:chExt cx="232229" cy="58057"/>
          </a:xfrm>
        </p:grpSpPr>
        <p:cxnSp>
          <p:nvCxnSpPr>
            <p:cNvPr id="13" name="直接连接符 12"/>
            <p:cNvCxnSpPr/>
            <p:nvPr/>
          </p:nvCxnSpPr>
          <p:spPr>
            <a:xfrm>
              <a:off x="6709229" y="856343"/>
              <a:ext cx="23222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>
              <a:off x="6709229" y="885372"/>
              <a:ext cx="23222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/>
            <p:cNvCxnSpPr/>
            <p:nvPr/>
          </p:nvCxnSpPr>
          <p:spPr>
            <a:xfrm>
              <a:off x="6709229" y="914400"/>
              <a:ext cx="23222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矩形: 圆角 8"/>
          <p:cNvSpPr/>
          <p:nvPr/>
        </p:nvSpPr>
        <p:spPr>
          <a:xfrm>
            <a:off x="228599" y="1496452"/>
            <a:ext cx="2030494" cy="3016244"/>
          </a:xfrm>
          <a:prstGeom prst="roundRect">
            <a:avLst>
              <a:gd name="adj" fmla="val 7843"/>
            </a:avLst>
          </a:prstGeom>
          <a:solidFill>
            <a:schemeClr val="bg1"/>
          </a:solidFill>
          <a:ln w="28575">
            <a:noFill/>
          </a:ln>
          <a:effectLst>
            <a:outerShdw blurRad="127000" dist="127000" dir="5400000" algn="t" rotWithShape="0">
              <a:schemeClr val="accent1">
                <a:lumMod val="75000"/>
                <a:alpha val="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 descr="e7d195523061f1c09e9d68d7cf438b91ef959ecb14fc25d26BBA7F7DBC18E55DFF4014AF651F0BF2569D4B6C1DA7F1A4683A481403BD872FC687266AD13265C1DE7C373772FD8728ABDD69ADD03BFF5BE2862BC891DBB79E0A12267BEBE766ACAF6260D70995E6538A8984318D67824546F6FFC40C04D7CECC9107EBCC5E8E0A6BD80FAAD3BF75763CAF8F29A143E1D1"/>
          <p:cNvSpPr/>
          <p:nvPr/>
        </p:nvSpPr>
        <p:spPr bwMode="auto">
          <a:xfrm>
            <a:off x="372626" y="3696970"/>
            <a:ext cx="1668899" cy="4977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200" dirty="0">
                <a:solidFill>
                  <a:schemeClr val="accent1"/>
                </a:solidFill>
                <a:latin typeface="+mj-ea"/>
                <a:sym typeface="思源黑体 CN Normal" panose="020B0400000000000000" charset="-122"/>
              </a:rPr>
              <a:t>Sensor for 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200" dirty="0">
                <a:solidFill>
                  <a:schemeClr val="accent1"/>
                </a:solidFill>
                <a:latin typeface="+mj-ea"/>
                <a:sym typeface="思源黑体 CN Normal" panose="020B0400000000000000" charset="-122"/>
              </a:rPr>
              <a:t>Color Identification</a:t>
            </a:r>
          </a:p>
        </p:txBody>
      </p:sp>
      <p:cxnSp>
        <p:nvCxnSpPr>
          <p:cNvPr id="21" name="直接连接符 20"/>
          <p:cNvCxnSpPr/>
          <p:nvPr/>
        </p:nvCxnSpPr>
        <p:spPr>
          <a:xfrm>
            <a:off x="1042823" y="4253899"/>
            <a:ext cx="402046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: 圆角 23"/>
          <p:cNvSpPr/>
          <p:nvPr/>
        </p:nvSpPr>
        <p:spPr>
          <a:xfrm>
            <a:off x="2461060" y="1496452"/>
            <a:ext cx="2030494" cy="3016244"/>
          </a:xfrm>
          <a:prstGeom prst="roundRect">
            <a:avLst>
              <a:gd name="adj" fmla="val 7843"/>
            </a:avLst>
          </a:prstGeom>
          <a:solidFill>
            <a:schemeClr val="bg1"/>
          </a:solidFill>
          <a:ln w="28575">
            <a:noFill/>
          </a:ln>
          <a:effectLst>
            <a:outerShdw blurRad="127000" dist="127000" dir="5400000" algn="t" rotWithShape="0">
              <a:schemeClr val="accent1">
                <a:lumMod val="75000"/>
                <a:alpha val="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6" name="直接连接符 25"/>
          <p:cNvCxnSpPr/>
          <p:nvPr/>
        </p:nvCxnSpPr>
        <p:spPr>
          <a:xfrm>
            <a:off x="3261593" y="4253899"/>
            <a:ext cx="402046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图片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rcRect l="3848" t="2155" b="3276"/>
          <a:stretch>
            <a:fillRect/>
          </a:stretch>
        </p:blipFill>
        <p:spPr>
          <a:xfrm>
            <a:off x="26670" y="10795"/>
            <a:ext cx="2014855" cy="696595"/>
          </a:xfrm>
          <a:prstGeom prst="rect">
            <a:avLst/>
          </a:prstGeom>
        </p:spPr>
      </p:pic>
      <p:sp>
        <p:nvSpPr>
          <p:cNvPr id="8" name="矩形 7" descr="e7d195523061f1c09e9d68d7cf438b91ef959ecb14fc25d26BBA7F7DBC18E55DFF4014AF651F0BF2569D4B6C1DA7F1A4683A481403BD872FC687266AD13265C1DE7C373772FD8728ABDD69ADD03BFF5BE2862BC891DBB79E0A12267BEBE766ACAF6260D70995E6538A8984318D67824546F6FFC40C04D7CECC9107EBCC5E8E0A6BD80FAAD3BF75763CAF8F29A143E1D1"/>
          <p:cNvSpPr/>
          <p:nvPr/>
        </p:nvSpPr>
        <p:spPr bwMode="auto">
          <a:xfrm>
            <a:off x="2605087" y="3566099"/>
            <a:ext cx="1742440" cy="5003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200" dirty="0">
                <a:solidFill>
                  <a:schemeClr val="accent1"/>
                </a:solidFill>
                <a:latin typeface="+mj-ea"/>
                <a:sym typeface="思源黑体 CN Normal" panose="020B0400000000000000" charset="-122"/>
              </a:rPr>
              <a:t>Sensor for 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200" dirty="0">
                <a:solidFill>
                  <a:schemeClr val="accent1"/>
                </a:solidFill>
                <a:latin typeface="+mj-ea"/>
                <a:sym typeface="思源黑体 CN Normal" panose="020B0400000000000000" charset="-122"/>
              </a:rPr>
              <a:t>Infrared Obstacle 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200" dirty="0">
                <a:solidFill>
                  <a:schemeClr val="accent1"/>
                </a:solidFill>
                <a:latin typeface="+mj-ea"/>
                <a:sym typeface="思源黑体 CN Normal" panose="020B0400000000000000" charset="-122"/>
              </a:rPr>
              <a:t>Avoidance</a:t>
            </a:r>
          </a:p>
        </p:txBody>
      </p:sp>
      <p:sp>
        <p:nvSpPr>
          <p:cNvPr id="47" name="文本框 46"/>
          <p:cNvSpPr txBox="1"/>
          <p:nvPr/>
        </p:nvSpPr>
        <p:spPr>
          <a:xfrm>
            <a:off x="7559675" y="4772660"/>
            <a:ext cx="1433830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/>
            <a:r>
              <a:rPr kumimoji="0" lang="en-US" altLang="zh-CN" sz="1000" b="0" i="0" u="none" strike="noStrike" kern="1200" cap="none" spc="0" normalizeH="0" baseline="0" noProof="0">
                <a:ln w="38100"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锦绣宋体" panose="02000503000000000000" charset="-122"/>
                <a:ea typeface="锦绣宋体" panose="02000503000000000000" charset="-122"/>
                <a:cs typeface="+mn-cs"/>
                <a:sym typeface="思源黑体 CN Normal" panose="020B0400000000000000" charset="-122"/>
              </a:rPr>
              <a:t>GROUP 16 </a:t>
            </a:r>
            <a:endParaRPr lang="zh-CN" altLang="en-US" sz="1050">
              <a:solidFill>
                <a:schemeClr val="accent1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344FA04-D92B-BFAA-3D1A-70439B33B65F}"/>
              </a:ext>
            </a:extLst>
          </p:cNvPr>
          <p:cNvSpPr/>
          <p:nvPr/>
        </p:nvSpPr>
        <p:spPr>
          <a:xfrm>
            <a:off x="4772528" y="702043"/>
            <a:ext cx="4320672" cy="120032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457200" indent="-457200">
              <a:buAutoNum type="arabicPeriod"/>
            </a:pPr>
            <a:r>
              <a:rPr lang="en-US" altLang="zh-CN" sz="2400" dirty="0">
                <a:ln w="38100">
                  <a:noFill/>
                </a:ln>
                <a:solidFill>
                  <a:schemeClr val="bg1"/>
                </a:solidFill>
                <a:latin typeface="+mj-ea"/>
                <a:ea typeface="+mj-ea"/>
                <a:sym typeface="+mn-lt"/>
              </a:rPr>
              <a:t>Do infrared tracking</a:t>
            </a:r>
          </a:p>
          <a:p>
            <a:pPr marL="457200" indent="-457200">
              <a:buAutoNum type="arabicPeriod"/>
            </a:pPr>
            <a:r>
              <a:rPr lang="en-US" altLang="zh-CN" sz="2400" dirty="0">
                <a:ln w="38100">
                  <a:noFill/>
                </a:ln>
                <a:solidFill>
                  <a:schemeClr val="bg1"/>
                </a:solidFill>
                <a:latin typeface="+mj-ea"/>
                <a:ea typeface="+mj-ea"/>
                <a:sym typeface="+mn-lt"/>
              </a:rPr>
              <a:t>Obstacle avoidance</a:t>
            </a:r>
          </a:p>
          <a:p>
            <a:r>
              <a:rPr lang="en-US" altLang="zh-CN" sz="2400" dirty="0">
                <a:ln w="38100">
                  <a:noFill/>
                </a:ln>
                <a:solidFill>
                  <a:schemeClr val="bg1"/>
                </a:solidFill>
                <a:highlight>
                  <a:srgbClr val="B49D86"/>
                </a:highlight>
                <a:latin typeface="+mj-ea"/>
                <a:ea typeface="+mj-ea"/>
                <a:sym typeface="+mn-lt"/>
              </a:rPr>
              <a:t>Useful for normal running!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C1EB1C68-FC52-1A61-A7C5-CAF341DEBC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5235" y="1924050"/>
            <a:ext cx="1894840" cy="1587500"/>
          </a:xfrm>
          <a:prstGeom prst="rect">
            <a:avLst/>
          </a:prstGeom>
        </p:spPr>
      </p:pic>
      <p:pic>
        <p:nvPicPr>
          <p:cNvPr id="1026" name="Picture 2" descr="查看源图像">
            <a:extLst>
              <a:ext uri="{FF2B5EF4-FFF2-40B4-BE49-F238E27FC236}">
                <a16:creationId xmlns:a16="http://schemas.microsoft.com/office/drawing/2014/main" id="{A402699D-793C-796D-8CDB-71B81AEC9B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5729" y="1948586"/>
            <a:ext cx="2667000" cy="16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88629E2B-9B02-E492-28CE-05849FE28DB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6080" y="2091690"/>
            <a:ext cx="1742440" cy="1313992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5B5DAB47-75DD-97DA-A561-705114E1B8DA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b="56420"/>
          <a:stretch/>
        </p:blipFill>
        <p:spPr>
          <a:xfrm>
            <a:off x="1628241" y="768846"/>
            <a:ext cx="1516046" cy="1227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85786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-2430"/>
            <a:ext cx="9144000" cy="190237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3476307" y="159565"/>
            <a:ext cx="2429510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n w="38100">
                  <a:noFill/>
                </a:ln>
                <a:solidFill>
                  <a:schemeClr val="bg1"/>
                </a:solidFill>
                <a:latin typeface="+mj-ea"/>
                <a:ea typeface="+mj-ea"/>
                <a:sym typeface="+mn-lt"/>
              </a:rPr>
              <a:t>Basic  Functions</a:t>
            </a:r>
          </a:p>
        </p:txBody>
      </p:sp>
      <p:grpSp>
        <p:nvGrpSpPr>
          <p:cNvPr id="12" name="组合 11"/>
          <p:cNvGrpSpPr/>
          <p:nvPr/>
        </p:nvGrpSpPr>
        <p:grpSpPr>
          <a:xfrm>
            <a:off x="8628434" y="390398"/>
            <a:ext cx="299666" cy="193928"/>
            <a:chOff x="6709229" y="856343"/>
            <a:chExt cx="232229" cy="58057"/>
          </a:xfrm>
        </p:grpSpPr>
        <p:cxnSp>
          <p:nvCxnSpPr>
            <p:cNvPr id="13" name="直接连接符 12"/>
            <p:cNvCxnSpPr/>
            <p:nvPr/>
          </p:nvCxnSpPr>
          <p:spPr>
            <a:xfrm>
              <a:off x="6709229" y="856343"/>
              <a:ext cx="23222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>
              <a:off x="6709229" y="885372"/>
              <a:ext cx="23222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/>
            <p:cNvCxnSpPr/>
            <p:nvPr/>
          </p:nvCxnSpPr>
          <p:spPr>
            <a:xfrm>
              <a:off x="6709229" y="914400"/>
              <a:ext cx="23222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矩形: 圆角 8"/>
          <p:cNvSpPr/>
          <p:nvPr/>
        </p:nvSpPr>
        <p:spPr>
          <a:xfrm>
            <a:off x="228599" y="1496452"/>
            <a:ext cx="2030494" cy="3016244"/>
          </a:xfrm>
          <a:prstGeom prst="roundRect">
            <a:avLst>
              <a:gd name="adj" fmla="val 7843"/>
            </a:avLst>
          </a:prstGeom>
          <a:solidFill>
            <a:schemeClr val="bg1"/>
          </a:solidFill>
          <a:ln w="28575">
            <a:noFill/>
          </a:ln>
          <a:effectLst>
            <a:outerShdw blurRad="127000" dist="127000" dir="5400000" algn="t" rotWithShape="0">
              <a:schemeClr val="accent1">
                <a:lumMod val="75000"/>
                <a:alpha val="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 descr="e7d195523061f1c09e9d68d7cf438b91ef959ecb14fc25d26BBA7F7DBC18E55DFF4014AF651F0BF2569D4B6C1DA7F1A4683A481403BD872FC687266AD13265C1DE7C373772FD8728ABDD69ADD03BFF5BE2862BC891DBB79E0A12267BEBE766ACAF6260D70995E6538A8984318D67824546F6FFC40C04D7CECC9107EBCC5E8E0A6BD80FAAD3BF75763CAF8F29A143E1D1"/>
          <p:cNvSpPr/>
          <p:nvPr/>
        </p:nvSpPr>
        <p:spPr bwMode="auto">
          <a:xfrm>
            <a:off x="372626" y="3696970"/>
            <a:ext cx="1668899" cy="4977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200" dirty="0">
                <a:solidFill>
                  <a:schemeClr val="accent1"/>
                </a:solidFill>
                <a:latin typeface="+mj-ea"/>
                <a:sym typeface="思源黑体 CN Normal" panose="020B0400000000000000" charset="-122"/>
              </a:rPr>
              <a:t>Sensor for 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200" dirty="0">
                <a:solidFill>
                  <a:schemeClr val="accent1"/>
                </a:solidFill>
                <a:latin typeface="+mj-ea"/>
                <a:sym typeface="思源黑体 CN Normal" panose="020B0400000000000000" charset="-122"/>
              </a:rPr>
              <a:t>Infrared </a:t>
            </a:r>
            <a:r>
              <a:rPr lang="en-US" altLang="zh-CN" sz="1200" dirty="0">
                <a:solidFill>
                  <a:schemeClr val="accent1"/>
                </a:solidFill>
                <a:latin typeface="+mj-ea"/>
                <a:sym typeface="思源黑体 CN Normal" panose="020B0400000000000000" charset="-122"/>
              </a:rPr>
              <a:t>T</a:t>
            </a:r>
            <a:r>
              <a:rPr lang="zh-CN" altLang="en-US" sz="1200" dirty="0">
                <a:solidFill>
                  <a:schemeClr val="accent1"/>
                </a:solidFill>
                <a:latin typeface="+mj-ea"/>
                <a:sym typeface="思源黑体 CN Normal" panose="020B0400000000000000" charset="-122"/>
              </a:rPr>
              <a:t>racking </a:t>
            </a:r>
          </a:p>
        </p:txBody>
      </p:sp>
      <p:cxnSp>
        <p:nvCxnSpPr>
          <p:cNvPr id="21" name="直接连接符 20"/>
          <p:cNvCxnSpPr/>
          <p:nvPr/>
        </p:nvCxnSpPr>
        <p:spPr>
          <a:xfrm>
            <a:off x="1042823" y="4253899"/>
            <a:ext cx="402046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: 圆角 23"/>
          <p:cNvSpPr/>
          <p:nvPr/>
        </p:nvSpPr>
        <p:spPr>
          <a:xfrm>
            <a:off x="2461060" y="1496452"/>
            <a:ext cx="2030494" cy="3016244"/>
          </a:xfrm>
          <a:prstGeom prst="roundRect">
            <a:avLst>
              <a:gd name="adj" fmla="val 7843"/>
            </a:avLst>
          </a:prstGeom>
          <a:solidFill>
            <a:schemeClr val="bg1"/>
          </a:solidFill>
          <a:ln w="28575">
            <a:noFill/>
          </a:ln>
          <a:effectLst>
            <a:outerShdw blurRad="127000" dist="127000" dir="5400000" algn="t" rotWithShape="0">
              <a:schemeClr val="accent1">
                <a:lumMod val="75000"/>
                <a:alpha val="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6" name="直接连接符 25"/>
          <p:cNvCxnSpPr/>
          <p:nvPr/>
        </p:nvCxnSpPr>
        <p:spPr>
          <a:xfrm>
            <a:off x="3261593" y="4253899"/>
            <a:ext cx="402046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图片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rcRect l="3848" t="2155" b="3276"/>
          <a:stretch>
            <a:fillRect/>
          </a:stretch>
        </p:blipFill>
        <p:spPr>
          <a:xfrm>
            <a:off x="26670" y="10795"/>
            <a:ext cx="2014855" cy="696595"/>
          </a:xfrm>
          <a:prstGeom prst="rect">
            <a:avLst/>
          </a:prstGeom>
        </p:spPr>
      </p:pic>
      <p:sp>
        <p:nvSpPr>
          <p:cNvPr id="8" name="矩形 7" descr="e7d195523061f1c09e9d68d7cf438b91ef959ecb14fc25d26BBA7F7DBC18E55DFF4014AF651F0BF2569D4B6C1DA7F1A4683A481403BD872FC687266AD13265C1DE7C373772FD8728ABDD69ADD03BFF5BE2862BC891DBB79E0A12267BEBE766ACAF6260D70995E6538A8984318D67824546F6FFC40C04D7CECC9107EBCC5E8E0A6BD80FAAD3BF75763CAF8F29A143E1D1"/>
          <p:cNvSpPr/>
          <p:nvPr/>
        </p:nvSpPr>
        <p:spPr bwMode="auto">
          <a:xfrm>
            <a:off x="2587294" y="3632728"/>
            <a:ext cx="1742440" cy="5003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200" dirty="0">
                <a:solidFill>
                  <a:schemeClr val="accent1"/>
                </a:solidFill>
                <a:latin typeface="+mj-ea"/>
                <a:sym typeface="思源黑体 CN Normal" panose="020B0400000000000000" charset="-122"/>
              </a:rPr>
              <a:t>Ultrasonic Ranging 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200" dirty="0">
                <a:solidFill>
                  <a:schemeClr val="accent1"/>
                </a:solidFill>
                <a:latin typeface="+mj-ea"/>
                <a:sym typeface="思源黑体 CN Normal" panose="020B0400000000000000" charset="-122"/>
              </a:rPr>
              <a:t>&amp; Warehouse Counting</a:t>
            </a:r>
          </a:p>
        </p:txBody>
      </p:sp>
      <p:sp>
        <p:nvSpPr>
          <p:cNvPr id="47" name="文本框 46"/>
          <p:cNvSpPr txBox="1"/>
          <p:nvPr/>
        </p:nvSpPr>
        <p:spPr>
          <a:xfrm>
            <a:off x="7559675" y="4772660"/>
            <a:ext cx="1433830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/>
            <a:r>
              <a:rPr kumimoji="0" lang="en-US" altLang="zh-CN" sz="1000" b="0" i="0" u="none" strike="noStrike" kern="1200" cap="none" spc="0" normalizeH="0" baseline="0" noProof="0">
                <a:ln w="38100"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锦绣宋体" panose="02000503000000000000" charset="-122"/>
                <a:ea typeface="锦绣宋体" panose="02000503000000000000" charset="-122"/>
                <a:cs typeface="+mn-cs"/>
                <a:sym typeface="思源黑体 CN Normal" panose="020B0400000000000000" charset="-122"/>
              </a:rPr>
              <a:t>GROUP 16 </a:t>
            </a:r>
            <a:endParaRPr lang="zh-CN" altLang="en-US" sz="1050">
              <a:solidFill>
                <a:schemeClr val="accent1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344FA04-D92B-BFAA-3D1A-70439B33B65F}"/>
              </a:ext>
            </a:extLst>
          </p:cNvPr>
          <p:cNvSpPr/>
          <p:nvPr/>
        </p:nvSpPr>
        <p:spPr>
          <a:xfrm>
            <a:off x="4465329" y="713683"/>
            <a:ext cx="4874985" cy="120032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n w="38100">
                  <a:noFill/>
                </a:ln>
                <a:solidFill>
                  <a:schemeClr val="bg1"/>
                </a:solidFill>
                <a:latin typeface="+mj-ea"/>
                <a:ea typeface="+mj-ea"/>
                <a:sym typeface="+mn-lt"/>
              </a:rPr>
              <a:t>3.     Identify the cargos via color</a:t>
            </a:r>
          </a:p>
          <a:p>
            <a:r>
              <a:rPr lang="en-US" altLang="zh-CN" sz="2400" dirty="0">
                <a:ln w="38100">
                  <a:noFill/>
                </a:ln>
                <a:solidFill>
                  <a:schemeClr val="bg1"/>
                </a:solidFill>
                <a:latin typeface="+mj-ea"/>
                <a:ea typeface="+mj-ea"/>
                <a:sym typeface="+mn-lt"/>
              </a:rPr>
              <a:t>4.    Warehouse location counting</a:t>
            </a:r>
          </a:p>
          <a:p>
            <a:r>
              <a:rPr lang="en-US" altLang="zh-CN" sz="2400" dirty="0">
                <a:ln w="38100">
                  <a:noFill/>
                </a:ln>
                <a:solidFill>
                  <a:schemeClr val="bg1"/>
                </a:solidFill>
                <a:highlight>
                  <a:srgbClr val="B49D86"/>
                </a:highlight>
                <a:latin typeface="+mj-ea"/>
                <a:ea typeface="+mj-ea"/>
                <a:sym typeface="+mn-lt"/>
              </a:rPr>
              <a:t>Optimized algorithm  for accuracy!</a:t>
            </a:r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7CD65ADF-622D-6012-22D7-BF2DFE2FD3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8520" y="772917"/>
            <a:ext cx="1970405" cy="1141095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381FC228-58EF-C488-8FDE-F67F230214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9794" y="2082756"/>
            <a:ext cx="1841500" cy="1433830"/>
          </a:xfrm>
          <a:prstGeom prst="rect">
            <a:avLst/>
          </a:prstGeom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9BB87F1D-695E-E299-F383-D7F0231FF23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98813" y="2107676"/>
            <a:ext cx="1519402" cy="1519402"/>
          </a:xfrm>
          <a:prstGeom prst="rect">
            <a:avLst/>
          </a:prstGeom>
        </p:spPr>
      </p:pic>
      <p:pic>
        <p:nvPicPr>
          <p:cNvPr id="28" name="图片 27">
            <a:extLst>
              <a:ext uri="{FF2B5EF4-FFF2-40B4-BE49-F238E27FC236}">
                <a16:creationId xmlns:a16="http://schemas.microsoft.com/office/drawing/2014/main" id="{A8104409-EC35-2F2B-5C67-646CBAD1830E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47984" t="9445" r="11404" b="12222"/>
          <a:stretch/>
        </p:blipFill>
        <p:spPr>
          <a:xfrm>
            <a:off x="4729307" y="1899942"/>
            <a:ext cx="2222737" cy="1607723"/>
          </a:xfrm>
          <a:prstGeom prst="rect">
            <a:avLst/>
          </a:prstGeom>
        </p:spPr>
      </p:pic>
      <p:sp>
        <p:nvSpPr>
          <p:cNvPr id="29" name="文本框 28">
            <a:extLst>
              <a:ext uri="{FF2B5EF4-FFF2-40B4-BE49-F238E27FC236}">
                <a16:creationId xmlns:a16="http://schemas.microsoft.com/office/drawing/2014/main" id="{15AFF872-A526-850A-792B-E9132EA795A2}"/>
              </a:ext>
            </a:extLst>
          </p:cNvPr>
          <p:cNvSpPr txBox="1"/>
          <p:nvPr/>
        </p:nvSpPr>
        <p:spPr>
          <a:xfrm>
            <a:off x="4705349" y="3742143"/>
            <a:ext cx="428815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sz="1400" dirty="0"/>
              <a:t>Transform RGB into HSV for identifying color.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sz="1400" dirty="0"/>
              <a:t>Apply distance to do if-else judgement for </a:t>
            </a:r>
          </a:p>
          <a:p>
            <a:r>
              <a:rPr lang="en-US" altLang="zh-CN" sz="1400" dirty="0"/>
              <a:t>	better warehouse counting.</a:t>
            </a:r>
            <a:endParaRPr lang="zh-CN" altLang="en-US" sz="14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9144000" cy="190237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2447369" y="109484"/>
            <a:ext cx="5451793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ln w="38100">
                  <a:noFill/>
                </a:ln>
                <a:solidFill>
                  <a:schemeClr val="bg1"/>
                </a:solidFill>
                <a:latin typeface="+mj-ea"/>
                <a:ea typeface="+mj-ea"/>
                <a:sym typeface="+mn-lt"/>
              </a:rPr>
              <a:t>Innovation 1: Environmental monitoring</a:t>
            </a:r>
          </a:p>
        </p:txBody>
      </p:sp>
      <p:grpSp>
        <p:nvGrpSpPr>
          <p:cNvPr id="12" name="组合 11"/>
          <p:cNvGrpSpPr/>
          <p:nvPr/>
        </p:nvGrpSpPr>
        <p:grpSpPr>
          <a:xfrm>
            <a:off x="8628434" y="390398"/>
            <a:ext cx="299666" cy="193928"/>
            <a:chOff x="6709229" y="856343"/>
            <a:chExt cx="232229" cy="58057"/>
          </a:xfrm>
        </p:grpSpPr>
        <p:cxnSp>
          <p:nvCxnSpPr>
            <p:cNvPr id="13" name="直接连接符 12"/>
            <p:cNvCxnSpPr/>
            <p:nvPr/>
          </p:nvCxnSpPr>
          <p:spPr>
            <a:xfrm>
              <a:off x="6709229" y="856343"/>
              <a:ext cx="23222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>
              <a:off x="6709229" y="885372"/>
              <a:ext cx="23222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/>
            <p:cNvCxnSpPr/>
            <p:nvPr/>
          </p:nvCxnSpPr>
          <p:spPr>
            <a:xfrm>
              <a:off x="6709229" y="914400"/>
              <a:ext cx="23222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矩形: 圆角 8"/>
          <p:cNvSpPr/>
          <p:nvPr/>
        </p:nvSpPr>
        <p:spPr>
          <a:xfrm>
            <a:off x="704850" y="1305952"/>
            <a:ext cx="2030494" cy="3016244"/>
          </a:xfrm>
          <a:prstGeom prst="roundRect">
            <a:avLst>
              <a:gd name="adj" fmla="val 7843"/>
            </a:avLst>
          </a:prstGeom>
          <a:solidFill>
            <a:schemeClr val="bg1"/>
          </a:solidFill>
          <a:ln w="28575">
            <a:noFill/>
          </a:ln>
          <a:effectLst>
            <a:outerShdw blurRad="127000" dist="127000" dir="5400000" algn="t" rotWithShape="0">
              <a:schemeClr val="accent1">
                <a:lumMod val="75000"/>
                <a:alpha val="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 descr="e7d195523061f1c09e9d68d7cf438b91ef959ecb14fc25d26BBA7F7DBC18E55DFF4014AF651F0BF2569D4B6C1DA7F1A4683A481403BD872FC687266AD13265C1DE7C373772FD8728ABDD69ADD03BFF5BE2862BC891DBB79E0A12267BEBE766ACAF6260D70995E6538A8984318D67824546F6FFC40C04D7CECC9107EBCC5E8E0A6BD80FAAD3BF75763CAF8F29A143E1D1"/>
          <p:cNvSpPr/>
          <p:nvPr/>
        </p:nvSpPr>
        <p:spPr bwMode="auto">
          <a:xfrm>
            <a:off x="889000" y="3335020"/>
            <a:ext cx="1742440" cy="723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200" dirty="0">
                <a:solidFill>
                  <a:schemeClr val="accent1"/>
                </a:solidFill>
                <a:latin typeface="+mj-ea"/>
                <a:ea typeface="+mj-ea"/>
                <a:sym typeface="思源黑体 CN Normal" panose="020B0400000000000000" charset="-122"/>
              </a:rPr>
              <a:t>Environmental 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200" dirty="0">
                <a:solidFill>
                  <a:schemeClr val="accent1"/>
                </a:solidFill>
                <a:latin typeface="+mj-ea"/>
                <a:ea typeface="+mj-ea"/>
                <a:sym typeface="思源黑体 CN Normal" panose="020B0400000000000000" charset="-122"/>
              </a:rPr>
              <a:t>P</a:t>
            </a:r>
            <a:r>
              <a:rPr lang="zh-CN" altLang="en-US" sz="1200" dirty="0">
                <a:solidFill>
                  <a:schemeClr val="accent1"/>
                </a:solidFill>
                <a:latin typeface="+mj-ea"/>
                <a:ea typeface="+mj-ea"/>
                <a:sym typeface="思源黑体 CN Normal" panose="020B0400000000000000" charset="-122"/>
              </a:rPr>
              <a:t>arameter 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200" dirty="0">
                <a:solidFill>
                  <a:schemeClr val="accent1"/>
                </a:solidFill>
                <a:latin typeface="+mj-ea"/>
                <a:ea typeface="+mj-ea"/>
                <a:sym typeface="思源黑体 CN Normal" panose="020B0400000000000000" charset="-122"/>
              </a:rPr>
              <a:t>A</a:t>
            </a:r>
            <a:r>
              <a:rPr lang="zh-CN" altLang="en-US" sz="1200" dirty="0">
                <a:solidFill>
                  <a:schemeClr val="accent1"/>
                </a:solidFill>
                <a:latin typeface="+mj-ea"/>
                <a:ea typeface="+mj-ea"/>
                <a:sym typeface="思源黑体 CN Normal" panose="020B0400000000000000" charset="-122"/>
              </a:rPr>
              <a:t>cquisition </a:t>
            </a:r>
            <a:r>
              <a:rPr lang="en-US" altLang="zh-CN" sz="1200" dirty="0">
                <a:solidFill>
                  <a:schemeClr val="accent1"/>
                </a:solidFill>
                <a:latin typeface="+mj-ea"/>
                <a:ea typeface="+mj-ea"/>
                <a:sym typeface="思源黑体 CN Normal" panose="020B0400000000000000" charset="-122"/>
              </a:rPr>
              <a:t>sensor</a:t>
            </a:r>
            <a:endParaRPr lang="zh-CN" altLang="en-US" sz="1200" dirty="0">
              <a:solidFill>
                <a:schemeClr val="accent1"/>
              </a:solidFill>
              <a:latin typeface="+mj-ea"/>
              <a:ea typeface="+mj-ea"/>
              <a:sym typeface="思源黑体 CN Normal" panose="020B0400000000000000" charset="-122"/>
            </a:endParaRPr>
          </a:p>
        </p:txBody>
      </p:sp>
      <p:cxnSp>
        <p:nvCxnSpPr>
          <p:cNvPr id="21" name="直接连接符 20"/>
          <p:cNvCxnSpPr/>
          <p:nvPr/>
        </p:nvCxnSpPr>
        <p:spPr>
          <a:xfrm>
            <a:off x="1525423" y="4158649"/>
            <a:ext cx="402046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图片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rcRect l="3848" t="2155" b="3276"/>
          <a:stretch>
            <a:fillRect/>
          </a:stretch>
        </p:blipFill>
        <p:spPr>
          <a:xfrm>
            <a:off x="26670" y="10795"/>
            <a:ext cx="2014855" cy="69659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632" y="1808480"/>
            <a:ext cx="1392697" cy="1100284"/>
          </a:xfrm>
          <a:prstGeom prst="rect">
            <a:avLst/>
          </a:prstGeom>
        </p:spPr>
      </p:pic>
      <p:sp>
        <p:nvSpPr>
          <p:cNvPr id="47" name="文本框 46"/>
          <p:cNvSpPr txBox="1"/>
          <p:nvPr/>
        </p:nvSpPr>
        <p:spPr>
          <a:xfrm>
            <a:off x="7559675" y="4772660"/>
            <a:ext cx="1433830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/>
            <a:r>
              <a:rPr kumimoji="0" lang="en-US" altLang="zh-CN" sz="1000" b="0" i="0" u="none" strike="noStrike" kern="1200" cap="none" spc="0" normalizeH="0" baseline="0" noProof="0">
                <a:ln w="38100"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锦绣宋体" panose="02000503000000000000" charset="-122"/>
                <a:ea typeface="锦绣宋体" panose="02000503000000000000" charset="-122"/>
                <a:cs typeface="+mn-cs"/>
                <a:sym typeface="思源黑体 CN Normal" panose="020B0400000000000000" charset="-122"/>
              </a:rPr>
              <a:t>GROUP 16 </a:t>
            </a:r>
            <a:endParaRPr lang="zh-CN" altLang="en-US" sz="1050">
              <a:solidFill>
                <a:schemeClr val="accent1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344FA04-D92B-BFAA-3D1A-70439B33B65F}"/>
              </a:ext>
            </a:extLst>
          </p:cNvPr>
          <p:cNvSpPr/>
          <p:nvPr/>
        </p:nvSpPr>
        <p:spPr>
          <a:xfrm>
            <a:off x="4796658" y="639601"/>
            <a:ext cx="4320672" cy="156966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CN" sz="2400" dirty="0">
                <a:ln w="38100">
                  <a:noFill/>
                </a:ln>
                <a:solidFill>
                  <a:schemeClr val="bg1"/>
                </a:solidFill>
                <a:latin typeface="+mj-ea"/>
                <a:ea typeface="+mj-ea"/>
                <a:sym typeface="+mn-lt"/>
              </a:rPr>
              <a:t>Detect indoor humidity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CN" sz="2400" dirty="0">
                <a:ln w="38100">
                  <a:noFill/>
                </a:ln>
                <a:solidFill>
                  <a:schemeClr val="bg1"/>
                </a:solidFill>
                <a:latin typeface="+mj-ea"/>
                <a:ea typeface="+mj-ea"/>
                <a:sym typeface="+mn-lt"/>
              </a:rPr>
              <a:t>Measure the temperature</a:t>
            </a:r>
          </a:p>
          <a:p>
            <a:r>
              <a:rPr lang="en-US" altLang="zh-CN" sz="2400" dirty="0">
                <a:ln w="38100">
                  <a:noFill/>
                </a:ln>
                <a:solidFill>
                  <a:schemeClr val="bg1"/>
                </a:solidFill>
                <a:highlight>
                  <a:srgbClr val="B49D86"/>
                </a:highlight>
                <a:latin typeface="+mj-ea"/>
                <a:ea typeface="+mj-ea"/>
                <a:sym typeface="+mn-lt"/>
              </a:rPr>
              <a:t>For better cargo storage!</a:t>
            </a:r>
          </a:p>
          <a:p>
            <a:pPr marL="457200" indent="-457200">
              <a:buAutoNum type="arabicPeriod"/>
            </a:pPr>
            <a:endParaRPr lang="en-US" altLang="zh-CN" sz="2400" dirty="0">
              <a:ln w="38100">
                <a:noFill/>
              </a:ln>
              <a:solidFill>
                <a:schemeClr val="bg1"/>
              </a:solidFill>
              <a:latin typeface="+mj-ea"/>
              <a:ea typeface="+mj-ea"/>
              <a:sym typeface="+mn-lt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ABDA3A38-E70E-6D14-6D08-EAD5E1BD03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12039" y="1970824"/>
            <a:ext cx="3539129" cy="2806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43999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1" animBg="1"/>
      <p:bldP spid="18" grpId="0"/>
      <p:bldP spid="18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9144000" cy="190237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2447369" y="109484"/>
            <a:ext cx="5965165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n w="38100">
                  <a:noFill/>
                </a:ln>
                <a:solidFill>
                  <a:schemeClr val="bg1"/>
                </a:solidFill>
                <a:latin typeface="+mj-ea"/>
                <a:ea typeface="+mj-ea"/>
                <a:sym typeface="+mn-lt"/>
              </a:rPr>
              <a:t>Innovation 2: Emergency control</a:t>
            </a:r>
          </a:p>
        </p:txBody>
      </p:sp>
      <p:grpSp>
        <p:nvGrpSpPr>
          <p:cNvPr id="12" name="组合 11"/>
          <p:cNvGrpSpPr/>
          <p:nvPr/>
        </p:nvGrpSpPr>
        <p:grpSpPr>
          <a:xfrm>
            <a:off x="8628434" y="390398"/>
            <a:ext cx="299666" cy="193928"/>
            <a:chOff x="6709229" y="856343"/>
            <a:chExt cx="232229" cy="58057"/>
          </a:xfrm>
        </p:grpSpPr>
        <p:cxnSp>
          <p:nvCxnSpPr>
            <p:cNvPr id="13" name="直接连接符 12"/>
            <p:cNvCxnSpPr/>
            <p:nvPr/>
          </p:nvCxnSpPr>
          <p:spPr>
            <a:xfrm>
              <a:off x="6709229" y="856343"/>
              <a:ext cx="23222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>
              <a:off x="6709229" y="885372"/>
              <a:ext cx="23222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/>
            <p:cNvCxnSpPr/>
            <p:nvPr/>
          </p:nvCxnSpPr>
          <p:spPr>
            <a:xfrm>
              <a:off x="6709229" y="914400"/>
              <a:ext cx="23222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矩形: 圆角 23"/>
          <p:cNvSpPr/>
          <p:nvPr/>
        </p:nvSpPr>
        <p:spPr>
          <a:xfrm>
            <a:off x="322737" y="1512631"/>
            <a:ext cx="2030494" cy="3016244"/>
          </a:xfrm>
          <a:prstGeom prst="roundRect">
            <a:avLst>
              <a:gd name="adj" fmla="val 7843"/>
            </a:avLst>
          </a:prstGeom>
          <a:solidFill>
            <a:schemeClr val="bg1"/>
          </a:solidFill>
          <a:ln w="28575">
            <a:noFill/>
          </a:ln>
          <a:effectLst>
            <a:outerShdw blurRad="127000" dist="127000" dir="5400000" algn="t" rotWithShape="0">
              <a:schemeClr val="accent1">
                <a:lumMod val="75000"/>
                <a:alpha val="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6" name="直接连接符 25"/>
          <p:cNvCxnSpPr/>
          <p:nvPr/>
        </p:nvCxnSpPr>
        <p:spPr>
          <a:xfrm>
            <a:off x="1136961" y="4270078"/>
            <a:ext cx="402046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矩形: 圆角 30"/>
          <p:cNvSpPr/>
          <p:nvPr/>
        </p:nvSpPr>
        <p:spPr>
          <a:xfrm>
            <a:off x="2541506" y="1512631"/>
            <a:ext cx="2030494" cy="3016244"/>
          </a:xfrm>
          <a:prstGeom prst="roundRect">
            <a:avLst>
              <a:gd name="adj" fmla="val 7843"/>
            </a:avLst>
          </a:prstGeom>
          <a:solidFill>
            <a:schemeClr val="bg1"/>
          </a:solidFill>
          <a:ln w="28575">
            <a:noFill/>
          </a:ln>
          <a:effectLst>
            <a:outerShdw blurRad="127000" dist="127000" dir="5400000" algn="t" rotWithShape="0">
              <a:schemeClr val="accent1">
                <a:lumMod val="75000"/>
                <a:alpha val="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3" name="直接连接符 32"/>
          <p:cNvCxnSpPr/>
          <p:nvPr/>
        </p:nvCxnSpPr>
        <p:spPr>
          <a:xfrm>
            <a:off x="3355730" y="4270078"/>
            <a:ext cx="402046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图片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rcRect l="3848" t="2155" b="3276"/>
          <a:stretch>
            <a:fillRect/>
          </a:stretch>
        </p:blipFill>
        <p:spPr>
          <a:xfrm>
            <a:off x="26670" y="10795"/>
            <a:ext cx="2014855" cy="696595"/>
          </a:xfrm>
          <a:prstGeom prst="rect">
            <a:avLst/>
          </a:prstGeom>
        </p:spPr>
      </p:pic>
      <p:sp>
        <p:nvSpPr>
          <p:cNvPr id="8" name="矩形 7" descr="e7d195523061f1c09e9d68d7cf438b91ef959ecb14fc25d26BBA7F7DBC18E55DFF4014AF651F0BF2569D4B6C1DA7F1A4683A481403BD872FC687266AD13265C1DE7C373772FD8728ABDD69ADD03BFF5BE2862BC891DBB79E0A12267BEBE766ACAF6260D70995E6538A8984318D67824546F6FFC40C04D7CECC9107EBCC5E8E0A6BD80FAAD3BF75763CAF8F29A143E1D1"/>
          <p:cNvSpPr/>
          <p:nvPr/>
        </p:nvSpPr>
        <p:spPr bwMode="auto">
          <a:xfrm>
            <a:off x="466803" y="3653459"/>
            <a:ext cx="1742440" cy="5003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200" dirty="0">
                <a:solidFill>
                  <a:schemeClr val="accent1"/>
                </a:solidFill>
                <a:latin typeface="+mj-ea"/>
                <a:ea typeface="+mj-ea"/>
                <a:sym typeface="思源黑体 CN Normal" panose="020B0400000000000000" charset="-122"/>
              </a:rPr>
              <a:t>Fire/flame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200" dirty="0">
                <a:solidFill>
                  <a:schemeClr val="accent1"/>
                </a:solidFill>
                <a:latin typeface="+mj-ea"/>
                <a:ea typeface="+mj-ea"/>
                <a:sym typeface="思源黑体 CN Normal" panose="020B0400000000000000" charset="-122"/>
              </a:rPr>
              <a:t>Alarm</a:t>
            </a: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778" y="1791639"/>
            <a:ext cx="1903095" cy="1451610"/>
          </a:xfrm>
          <a:prstGeom prst="rect">
            <a:avLst/>
          </a:prstGeom>
        </p:spPr>
      </p:pic>
      <p:sp>
        <p:nvSpPr>
          <p:cNvPr id="20" name="文本框 19"/>
          <p:cNvSpPr txBox="1"/>
          <p:nvPr/>
        </p:nvSpPr>
        <p:spPr>
          <a:xfrm>
            <a:off x="2901393" y="3680764"/>
            <a:ext cx="1310005" cy="4457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200" dirty="0">
                <a:solidFill>
                  <a:schemeClr val="accent1"/>
                </a:solidFill>
                <a:latin typeface="+mj-ea"/>
                <a:ea typeface="+mj-ea"/>
                <a:sym typeface="思源黑体 CN Normal" panose="020B0400000000000000" charset="-122"/>
              </a:rPr>
              <a:t>Photosensitive/light Alarm</a:t>
            </a:r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01039" y="1864028"/>
            <a:ext cx="1911188" cy="1523365"/>
          </a:xfrm>
          <a:prstGeom prst="rect">
            <a:avLst/>
          </a:prstGeom>
        </p:spPr>
      </p:pic>
      <p:sp>
        <p:nvSpPr>
          <p:cNvPr id="47" name="文本框 46"/>
          <p:cNvSpPr txBox="1"/>
          <p:nvPr/>
        </p:nvSpPr>
        <p:spPr>
          <a:xfrm>
            <a:off x="7559675" y="4772660"/>
            <a:ext cx="1433830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/>
            <a:r>
              <a:rPr kumimoji="0" lang="en-US" altLang="zh-CN" sz="1000" b="0" i="0" u="none" strike="noStrike" kern="1200" cap="none" spc="0" normalizeH="0" baseline="0" noProof="0">
                <a:ln w="38100"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锦绣宋体" panose="02000503000000000000" charset="-122"/>
                <a:ea typeface="锦绣宋体" panose="02000503000000000000" charset="-122"/>
                <a:cs typeface="+mn-cs"/>
                <a:sym typeface="思源黑体 CN Normal" panose="020B0400000000000000" charset="-122"/>
              </a:rPr>
              <a:t>GROUP 16 </a:t>
            </a:r>
            <a:endParaRPr lang="zh-CN" altLang="en-US" sz="1050">
              <a:solidFill>
                <a:schemeClr val="accent1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344FA04-D92B-BFAA-3D1A-70439B33B65F}"/>
              </a:ext>
            </a:extLst>
          </p:cNvPr>
          <p:cNvSpPr/>
          <p:nvPr/>
        </p:nvSpPr>
        <p:spPr>
          <a:xfrm>
            <a:off x="2374900" y="614625"/>
            <a:ext cx="6037634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altLang="zh-CN" sz="2400" dirty="0">
                <a:ln w="38100">
                  <a:noFill/>
                </a:ln>
                <a:solidFill>
                  <a:schemeClr val="bg1"/>
                </a:solidFill>
                <a:latin typeface="+mj-ea"/>
                <a:ea typeface="+mj-ea"/>
                <a:sym typeface="+mn-lt"/>
              </a:rPr>
              <a:t>Detect flame and give warning</a:t>
            </a:r>
          </a:p>
          <a:p>
            <a:pPr marL="457200" indent="-457200">
              <a:buAutoNum type="arabicPeriod"/>
            </a:pPr>
            <a:r>
              <a:rPr lang="en-US" altLang="zh-CN" sz="2400" dirty="0">
                <a:ln w="38100">
                  <a:noFill/>
                </a:ln>
                <a:solidFill>
                  <a:schemeClr val="bg1"/>
                </a:solidFill>
                <a:latin typeface="+mj-ea"/>
                <a:ea typeface="+mj-ea"/>
                <a:sym typeface="+mn-lt"/>
              </a:rPr>
              <a:t>Avoid robbers by checking strong light</a:t>
            </a:r>
          </a:p>
        </p:txBody>
      </p:sp>
      <p:pic>
        <p:nvPicPr>
          <p:cNvPr id="2050" name="Picture 2" descr="查看源图像">
            <a:extLst>
              <a:ext uri="{FF2B5EF4-FFF2-40B4-BE49-F238E27FC236}">
                <a16:creationId xmlns:a16="http://schemas.microsoft.com/office/drawing/2014/main" id="{517C2E0D-1F3D-9502-DB10-8D23AFDF21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1887" y="1699144"/>
            <a:ext cx="4068762" cy="26191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632235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4" grpId="1" animBg="1"/>
      <p:bldP spid="31" grpId="0" animBg="1"/>
      <p:bldP spid="31" grpId="1" animBg="1"/>
      <p:bldP spid="8" grpId="0"/>
      <p:bldP spid="8" grpId="1"/>
      <p:bldP spid="20" grpId="0"/>
      <p:bldP spid="20" grpI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35472"/>
            <a:ext cx="9144000" cy="190237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2447369" y="109484"/>
            <a:ext cx="5826681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ln w="38100">
                  <a:noFill/>
                </a:ln>
                <a:solidFill>
                  <a:schemeClr val="bg1"/>
                </a:solidFill>
                <a:latin typeface="+mj-ea"/>
                <a:ea typeface="+mj-ea"/>
                <a:sym typeface="+mn-lt"/>
              </a:rPr>
              <a:t>Innovation 3: Wi-Fi wireless transmission</a:t>
            </a:r>
          </a:p>
        </p:txBody>
      </p:sp>
      <p:grpSp>
        <p:nvGrpSpPr>
          <p:cNvPr id="12" name="组合 11"/>
          <p:cNvGrpSpPr/>
          <p:nvPr/>
        </p:nvGrpSpPr>
        <p:grpSpPr>
          <a:xfrm>
            <a:off x="8628434" y="390398"/>
            <a:ext cx="299666" cy="193928"/>
            <a:chOff x="6709229" y="856343"/>
            <a:chExt cx="232229" cy="58057"/>
          </a:xfrm>
        </p:grpSpPr>
        <p:cxnSp>
          <p:nvCxnSpPr>
            <p:cNvPr id="13" name="直接连接符 12"/>
            <p:cNvCxnSpPr/>
            <p:nvPr/>
          </p:nvCxnSpPr>
          <p:spPr>
            <a:xfrm>
              <a:off x="6709229" y="856343"/>
              <a:ext cx="23222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>
              <a:off x="6709229" y="885372"/>
              <a:ext cx="23222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/>
            <p:cNvCxnSpPr/>
            <p:nvPr/>
          </p:nvCxnSpPr>
          <p:spPr>
            <a:xfrm>
              <a:off x="6709229" y="914400"/>
              <a:ext cx="23222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矩形: 圆角 8"/>
          <p:cNvSpPr/>
          <p:nvPr/>
        </p:nvSpPr>
        <p:spPr>
          <a:xfrm>
            <a:off x="704850" y="1305952"/>
            <a:ext cx="2030494" cy="3016244"/>
          </a:xfrm>
          <a:prstGeom prst="roundRect">
            <a:avLst>
              <a:gd name="adj" fmla="val 7843"/>
            </a:avLst>
          </a:prstGeom>
          <a:solidFill>
            <a:schemeClr val="bg1"/>
          </a:solidFill>
          <a:ln w="28575">
            <a:noFill/>
          </a:ln>
          <a:effectLst>
            <a:outerShdw blurRad="127000" dist="127000" dir="5400000" algn="t" rotWithShape="0">
              <a:schemeClr val="accent1">
                <a:lumMod val="75000"/>
                <a:alpha val="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 descr="e7d195523061f1c09e9d68d7cf438b91ef959ecb14fc25d26BBA7F7DBC18E55DFF4014AF651F0BF2569D4B6C1DA7F1A4683A481403BD872FC687266AD13265C1DE7C373772FD8728ABDD69ADD03BFF5BE2862BC891DBB79E0A12267BEBE766ACAF6260D70995E6538A8984318D67824546F6FFC40C04D7CECC9107EBCC5E8E0A6BD80FAAD3BF75763CAF8F29A143E1D1"/>
          <p:cNvSpPr/>
          <p:nvPr/>
        </p:nvSpPr>
        <p:spPr bwMode="auto">
          <a:xfrm>
            <a:off x="889000" y="3335020"/>
            <a:ext cx="1742440" cy="723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200" dirty="0">
                <a:solidFill>
                  <a:schemeClr val="accent1"/>
                </a:solidFill>
                <a:latin typeface="+mj-ea"/>
                <a:ea typeface="+mj-ea"/>
                <a:sym typeface="思源黑体 CN Normal" panose="020B0400000000000000" charset="-122"/>
              </a:rPr>
              <a:t>Wi-Fi connection 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200" dirty="0">
                <a:solidFill>
                  <a:schemeClr val="accent1"/>
                </a:solidFill>
                <a:latin typeface="+mj-ea"/>
                <a:ea typeface="+mj-ea"/>
                <a:sym typeface="思源黑体 CN Normal" panose="020B0400000000000000" charset="-122"/>
              </a:rPr>
              <a:t>upload 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200" dirty="0">
                <a:solidFill>
                  <a:schemeClr val="accent1"/>
                </a:solidFill>
                <a:latin typeface="+mj-ea"/>
                <a:ea typeface="+mj-ea"/>
                <a:sym typeface="思源黑体 CN Normal" panose="020B0400000000000000" charset="-122"/>
              </a:rPr>
              <a:t>sensor ESP32</a:t>
            </a:r>
            <a:endParaRPr lang="zh-CN" altLang="en-US" sz="1200" dirty="0">
              <a:solidFill>
                <a:schemeClr val="accent1"/>
              </a:solidFill>
              <a:latin typeface="+mj-ea"/>
              <a:ea typeface="+mj-ea"/>
              <a:sym typeface="思源黑体 CN Normal" panose="020B0400000000000000" charset="-122"/>
            </a:endParaRPr>
          </a:p>
        </p:txBody>
      </p:sp>
      <p:cxnSp>
        <p:nvCxnSpPr>
          <p:cNvPr id="21" name="直接连接符 20"/>
          <p:cNvCxnSpPr/>
          <p:nvPr/>
        </p:nvCxnSpPr>
        <p:spPr>
          <a:xfrm>
            <a:off x="1525423" y="4158649"/>
            <a:ext cx="402046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图片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rcRect l="3848" t="2155" b="3276"/>
          <a:stretch>
            <a:fillRect/>
          </a:stretch>
        </p:blipFill>
        <p:spPr>
          <a:xfrm>
            <a:off x="26670" y="10795"/>
            <a:ext cx="2014855" cy="696595"/>
          </a:xfrm>
          <a:prstGeom prst="rect">
            <a:avLst/>
          </a:prstGeom>
        </p:spPr>
      </p:pic>
      <p:sp>
        <p:nvSpPr>
          <p:cNvPr id="47" name="文本框 46"/>
          <p:cNvSpPr txBox="1"/>
          <p:nvPr/>
        </p:nvSpPr>
        <p:spPr>
          <a:xfrm>
            <a:off x="7559675" y="4772660"/>
            <a:ext cx="1433830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/>
            <a:r>
              <a:rPr kumimoji="0" lang="en-US" altLang="zh-CN" sz="1000" b="0" i="0" u="none" strike="noStrike" kern="1200" cap="none" spc="0" normalizeH="0" baseline="0" noProof="0">
                <a:ln w="38100"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锦绣宋体" panose="02000503000000000000" charset="-122"/>
                <a:ea typeface="锦绣宋体" panose="02000503000000000000" charset="-122"/>
                <a:cs typeface="+mn-cs"/>
                <a:sym typeface="思源黑体 CN Normal" panose="020B0400000000000000" charset="-122"/>
              </a:rPr>
              <a:t>GROUP 16 </a:t>
            </a:r>
            <a:endParaRPr lang="zh-CN" altLang="en-US" sz="1050">
              <a:solidFill>
                <a:schemeClr val="accent1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344FA04-D92B-BFAA-3D1A-70439B33B65F}"/>
              </a:ext>
            </a:extLst>
          </p:cNvPr>
          <p:cNvSpPr/>
          <p:nvPr/>
        </p:nvSpPr>
        <p:spPr>
          <a:xfrm>
            <a:off x="2800072" y="3258701"/>
            <a:ext cx="6343928" cy="138499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1400" b="1" dirty="0">
                <a:ln w="38100">
                  <a:noFill/>
                </a:ln>
                <a:solidFill>
                  <a:srgbClr val="0070C0"/>
                </a:solidFill>
                <a:latin typeface="+mj-ea"/>
                <a:ea typeface="+mj-ea"/>
                <a:sym typeface="+mn-lt"/>
              </a:rPr>
              <a:t>Step 1. </a:t>
            </a:r>
            <a:r>
              <a:rPr lang="en-US" altLang="zh-CN" sz="1400" dirty="0">
                <a:ln w="38100">
                  <a:noFill/>
                </a:ln>
                <a:solidFill>
                  <a:srgbClr val="0070C0"/>
                </a:solidFill>
                <a:latin typeface="+mj-ea"/>
                <a:ea typeface="+mj-ea"/>
                <a:sym typeface="+mn-lt"/>
              </a:rPr>
              <a:t>Sensors read data from the environment </a:t>
            </a:r>
          </a:p>
          <a:p>
            <a:r>
              <a:rPr lang="en-US" altLang="zh-CN" sz="1400" dirty="0">
                <a:ln w="38100">
                  <a:noFill/>
                </a:ln>
                <a:solidFill>
                  <a:srgbClr val="0070C0"/>
                </a:solidFill>
                <a:latin typeface="+mj-ea"/>
                <a:ea typeface="+mj-ea"/>
                <a:sym typeface="+mn-lt"/>
              </a:rPr>
              <a:t>	and transmit them to the main board.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1400" b="1" dirty="0">
                <a:ln w="38100">
                  <a:noFill/>
                </a:ln>
                <a:solidFill>
                  <a:srgbClr val="0070C0"/>
                </a:solidFill>
                <a:latin typeface="+mj-ea"/>
                <a:ea typeface="+mj-ea"/>
                <a:sym typeface="+mn-lt"/>
              </a:rPr>
              <a:t>Step 2. </a:t>
            </a:r>
            <a:r>
              <a:rPr lang="en-US" altLang="zh-CN" sz="1400" dirty="0">
                <a:ln w="38100">
                  <a:noFill/>
                </a:ln>
                <a:solidFill>
                  <a:srgbClr val="0070C0"/>
                </a:solidFill>
                <a:latin typeface="+mj-ea"/>
                <a:ea typeface="+mj-ea"/>
                <a:sym typeface="+mn-lt"/>
              </a:rPr>
              <a:t>The main board exchanges data to esp32.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1400" b="1" dirty="0">
                <a:ln w="38100">
                  <a:noFill/>
                </a:ln>
                <a:solidFill>
                  <a:srgbClr val="0070C0"/>
                </a:solidFill>
                <a:latin typeface="+mj-ea"/>
                <a:ea typeface="+mj-ea"/>
                <a:sym typeface="+mn-lt"/>
              </a:rPr>
              <a:t>Step 3. </a:t>
            </a:r>
            <a:r>
              <a:rPr lang="en-US" altLang="zh-CN" sz="1400" dirty="0">
                <a:ln w="38100">
                  <a:noFill/>
                </a:ln>
                <a:solidFill>
                  <a:srgbClr val="0070C0"/>
                </a:solidFill>
                <a:latin typeface="+mj-ea"/>
                <a:ea typeface="+mj-ea"/>
                <a:sym typeface="+mn-lt"/>
              </a:rPr>
              <a:t>Esp32 establishes a transmission protocol with the </a:t>
            </a:r>
            <a:r>
              <a:rPr lang="en-US" altLang="zh-CN" sz="1400" dirty="0" err="1">
                <a:ln w="38100">
                  <a:noFill/>
                </a:ln>
                <a:solidFill>
                  <a:srgbClr val="0070C0"/>
                </a:solidFill>
                <a:latin typeface="+mj-ea"/>
                <a:ea typeface="+mj-ea"/>
                <a:sym typeface="+mn-lt"/>
              </a:rPr>
              <a:t>OneNET</a:t>
            </a:r>
            <a:r>
              <a:rPr lang="en-US" altLang="zh-CN" sz="1400" dirty="0">
                <a:ln w="38100">
                  <a:noFill/>
                </a:ln>
                <a:solidFill>
                  <a:srgbClr val="0070C0"/>
                </a:solidFill>
                <a:latin typeface="+mj-ea"/>
                <a:ea typeface="+mj-ea"/>
                <a:sym typeface="+mn-lt"/>
              </a:rPr>
              <a:t> platform 	and uploads data into the platform.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1400" b="1" dirty="0">
                <a:ln w="38100">
                  <a:noFill/>
                </a:ln>
                <a:solidFill>
                  <a:srgbClr val="0070C0"/>
                </a:solidFill>
                <a:latin typeface="+mj-ea"/>
                <a:ea typeface="+mj-ea"/>
                <a:sym typeface="+mn-lt"/>
              </a:rPr>
              <a:t>Step 4. </a:t>
            </a:r>
            <a:r>
              <a:rPr lang="en-US" altLang="zh-CN" sz="1400" dirty="0">
                <a:ln w="38100">
                  <a:noFill/>
                </a:ln>
                <a:solidFill>
                  <a:srgbClr val="0070C0"/>
                </a:solidFill>
                <a:latin typeface="+mj-ea"/>
                <a:ea typeface="+mj-ea"/>
                <a:sym typeface="+mn-lt"/>
              </a:rPr>
              <a:t>IoT students download the data stream and form an excel sheet.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EA1C310-A15B-BEEE-2DB2-4A4028F0AE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693" y="1793604"/>
            <a:ext cx="1327207" cy="1307937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945AEC49-D3BD-665D-D04C-1E7363C09101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20389"/>
          <a:stretch/>
        </p:blipFill>
        <p:spPr>
          <a:xfrm>
            <a:off x="2892426" y="683443"/>
            <a:ext cx="2030494" cy="1217613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4A1C90FB-BC32-F123-9E43-A4DB0C5E6D2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2500" y="1381217"/>
            <a:ext cx="4165600" cy="1877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30737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0" dur="1000" fill="hold"/>
                                        <p:tgtEl>
                                          <p:spTgt spid="6"/>
                                        </p:tgtEl>
                                      </p:cBhvr>
                                      <p:by x="120000" y="12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animBg="1"/>
      <p:bldP spid="18" grpId="0"/>
      <p:bldP spid="18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-26670" y="-5719"/>
            <a:ext cx="9144000" cy="190237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2275589" y="122661"/>
            <a:ext cx="6118781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ln w="38100">
                  <a:noFill/>
                </a:ln>
                <a:solidFill>
                  <a:schemeClr val="bg1"/>
                </a:solidFill>
                <a:latin typeface="+mj-ea"/>
                <a:ea typeface="+mj-ea"/>
                <a:sym typeface="+mn-lt"/>
              </a:rPr>
              <a:t>Innovation 4: LCD screen for displaying data</a:t>
            </a:r>
          </a:p>
        </p:txBody>
      </p:sp>
      <p:grpSp>
        <p:nvGrpSpPr>
          <p:cNvPr id="12" name="组合 11"/>
          <p:cNvGrpSpPr/>
          <p:nvPr/>
        </p:nvGrpSpPr>
        <p:grpSpPr>
          <a:xfrm>
            <a:off x="8628434" y="390398"/>
            <a:ext cx="299666" cy="193928"/>
            <a:chOff x="6709229" y="856343"/>
            <a:chExt cx="232229" cy="58057"/>
          </a:xfrm>
        </p:grpSpPr>
        <p:cxnSp>
          <p:nvCxnSpPr>
            <p:cNvPr id="13" name="直接连接符 12"/>
            <p:cNvCxnSpPr/>
            <p:nvPr/>
          </p:nvCxnSpPr>
          <p:spPr>
            <a:xfrm>
              <a:off x="6709229" y="856343"/>
              <a:ext cx="23222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>
              <a:off x="6709229" y="885372"/>
              <a:ext cx="23222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/>
            <p:cNvCxnSpPr/>
            <p:nvPr/>
          </p:nvCxnSpPr>
          <p:spPr>
            <a:xfrm>
              <a:off x="6709229" y="914400"/>
              <a:ext cx="23222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矩形: 圆角 8"/>
          <p:cNvSpPr/>
          <p:nvPr/>
        </p:nvSpPr>
        <p:spPr>
          <a:xfrm>
            <a:off x="141857" y="1126596"/>
            <a:ext cx="2030494" cy="3016244"/>
          </a:xfrm>
          <a:prstGeom prst="roundRect">
            <a:avLst>
              <a:gd name="adj" fmla="val 7843"/>
            </a:avLst>
          </a:prstGeom>
          <a:solidFill>
            <a:schemeClr val="bg1"/>
          </a:solidFill>
          <a:ln w="28575">
            <a:noFill/>
          </a:ln>
          <a:effectLst>
            <a:outerShdw blurRad="127000" dist="127000" dir="5400000" algn="t" rotWithShape="0">
              <a:schemeClr val="accent1">
                <a:lumMod val="75000"/>
                <a:alpha val="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 descr="e7d195523061f1c09e9d68d7cf438b91ef959ecb14fc25d26BBA7F7DBC18E55DFF4014AF651F0BF2569D4B6C1DA7F1A4683A481403BD872FC687266AD13265C1DE7C373772FD8728ABDD69ADD03BFF5BE2862BC891DBB79E0A12267BEBE766ACAF6260D70995E6538A8984318D67824546F6FFC40C04D7CECC9107EBCC5E8E0A6BD80FAAD3BF75763CAF8F29A143E1D1"/>
          <p:cNvSpPr/>
          <p:nvPr/>
        </p:nvSpPr>
        <p:spPr bwMode="auto">
          <a:xfrm>
            <a:off x="285884" y="3318463"/>
            <a:ext cx="1742440" cy="4305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200" dirty="0">
                <a:solidFill>
                  <a:schemeClr val="accent1"/>
                </a:solidFill>
                <a:latin typeface="+mj-ea"/>
                <a:ea typeface="+mj-ea"/>
                <a:sym typeface="思源黑体 CN Normal" panose="020B0400000000000000" charset="-122"/>
              </a:rPr>
              <a:t>LCD 1602</a:t>
            </a:r>
            <a:endParaRPr lang="zh-CN" altLang="en-US" sz="1200" dirty="0">
              <a:solidFill>
                <a:schemeClr val="accent1"/>
              </a:solidFill>
              <a:latin typeface="+mj-ea"/>
              <a:ea typeface="+mj-ea"/>
              <a:sym typeface="思源黑体 CN Normal" panose="020B0400000000000000" charset="-122"/>
            </a:endParaRPr>
          </a:p>
        </p:txBody>
      </p:sp>
      <p:cxnSp>
        <p:nvCxnSpPr>
          <p:cNvPr id="21" name="直接连接符 20"/>
          <p:cNvCxnSpPr/>
          <p:nvPr/>
        </p:nvCxnSpPr>
        <p:spPr>
          <a:xfrm>
            <a:off x="972583" y="3879249"/>
            <a:ext cx="402046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图片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rcRect l="3848" t="2155" b="3276"/>
          <a:stretch>
            <a:fillRect/>
          </a:stretch>
        </p:blipFill>
        <p:spPr>
          <a:xfrm>
            <a:off x="26670" y="10795"/>
            <a:ext cx="2014855" cy="696595"/>
          </a:xfrm>
          <a:prstGeom prst="rect">
            <a:avLst/>
          </a:prstGeom>
        </p:spPr>
      </p:pic>
      <p:sp>
        <p:nvSpPr>
          <p:cNvPr id="47" name="文本框 46"/>
          <p:cNvSpPr txBox="1"/>
          <p:nvPr/>
        </p:nvSpPr>
        <p:spPr>
          <a:xfrm>
            <a:off x="7559675" y="4772660"/>
            <a:ext cx="1433830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/>
            <a:r>
              <a:rPr kumimoji="0" lang="en-US" altLang="zh-CN" sz="1000" b="0" i="0" u="none" strike="noStrike" kern="1200" cap="none" spc="0" normalizeH="0" baseline="0" noProof="0" dirty="0">
                <a:ln w="38100"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锦绣宋体" panose="02000503000000000000" charset="-122"/>
                <a:ea typeface="锦绣宋体" panose="02000503000000000000" charset="-122"/>
                <a:cs typeface="+mn-cs"/>
                <a:sym typeface="思源黑体 CN Normal" panose="020B0400000000000000" charset="-122"/>
              </a:rPr>
              <a:t>GROUP 16 </a:t>
            </a:r>
            <a:endParaRPr lang="zh-CN" altLang="en-US" sz="1050" dirty="0">
              <a:solidFill>
                <a:schemeClr val="accent1"/>
              </a:solidFill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344DE0C6-57BC-13E1-8816-429D99E9E6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9882" y="3453323"/>
            <a:ext cx="1834066" cy="1379032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5353773B-BF5F-6085-AF36-CCDB8F3B6D11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16970" b="27592"/>
          <a:stretch/>
        </p:blipFill>
        <p:spPr>
          <a:xfrm>
            <a:off x="158359" y="2246427"/>
            <a:ext cx="2030494" cy="937526"/>
          </a:xfrm>
          <a:prstGeom prst="rect">
            <a:avLst/>
          </a:prstGeom>
        </p:spPr>
      </p:pic>
      <p:sp>
        <p:nvSpPr>
          <p:cNvPr id="16" name="矩形 15">
            <a:extLst>
              <a:ext uri="{FF2B5EF4-FFF2-40B4-BE49-F238E27FC236}">
                <a16:creationId xmlns:a16="http://schemas.microsoft.com/office/drawing/2014/main" id="{EE802C5A-F8D9-C847-2DE8-DF424EEB1BF7}"/>
              </a:ext>
            </a:extLst>
          </p:cNvPr>
          <p:cNvSpPr/>
          <p:nvPr/>
        </p:nvSpPr>
        <p:spPr>
          <a:xfrm>
            <a:off x="3365766" y="817925"/>
            <a:ext cx="5900120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n w="38100">
                  <a:noFill/>
                </a:ln>
                <a:solidFill>
                  <a:schemeClr val="bg1"/>
                </a:solidFill>
                <a:highlight>
                  <a:srgbClr val="B49D86"/>
                </a:highlight>
                <a:latin typeface="+mj-ea"/>
                <a:ea typeface="+mj-ea"/>
                <a:sym typeface="+mn-lt"/>
              </a:rPr>
              <a:t>Distance, color, temperature, humidity, warehouse number are all displayed there!</a:t>
            </a: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8DA96A64-00F3-541F-B18F-FE892FB8FE6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76650" y="1942494"/>
            <a:ext cx="5251450" cy="2200345"/>
          </a:xfrm>
          <a:prstGeom prst="rect">
            <a:avLst/>
          </a:prstGeom>
        </p:spPr>
      </p:pic>
      <p:pic>
        <p:nvPicPr>
          <p:cNvPr id="19" name="图片 2">
            <a:extLst>
              <a:ext uri="{FF2B5EF4-FFF2-40B4-BE49-F238E27FC236}">
                <a16:creationId xmlns:a16="http://schemas.microsoft.com/office/drawing/2014/main" id="{53FA0E83-AF94-8029-5816-EF2CD4DE16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8182" y="1180559"/>
            <a:ext cx="1674813" cy="960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859176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1" animBg="1"/>
      <p:bldP spid="18" grpId="0"/>
      <p:bldP spid="18" grpId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图片 23">
            <a:extLst>
              <a:ext uri="{FF2B5EF4-FFF2-40B4-BE49-F238E27FC236}">
                <a16:creationId xmlns:a16="http://schemas.microsoft.com/office/drawing/2014/main" id="{7822C32C-9D4B-EDBE-6BBE-2D5B4C767DF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9988"/>
          <a:stretch/>
        </p:blipFill>
        <p:spPr>
          <a:xfrm>
            <a:off x="2199019" y="4326937"/>
            <a:ext cx="2219700" cy="816563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24655" y="3141980"/>
            <a:ext cx="1143000" cy="660400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0" y="0"/>
            <a:ext cx="9144000" cy="190237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3886835" y="160655"/>
            <a:ext cx="1369695" cy="4603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n w="38100">
                  <a:noFill/>
                </a:ln>
                <a:solidFill>
                  <a:schemeClr val="bg1"/>
                </a:solidFill>
                <a:latin typeface="+mj-ea"/>
                <a:ea typeface="+mj-ea"/>
                <a:sym typeface="+mn-lt"/>
              </a:rPr>
              <a:t>Summary</a:t>
            </a:r>
          </a:p>
        </p:txBody>
      </p:sp>
      <p:grpSp>
        <p:nvGrpSpPr>
          <p:cNvPr id="12" name="组合 11"/>
          <p:cNvGrpSpPr/>
          <p:nvPr/>
        </p:nvGrpSpPr>
        <p:grpSpPr>
          <a:xfrm>
            <a:off x="8628434" y="390398"/>
            <a:ext cx="299666" cy="193928"/>
            <a:chOff x="6709229" y="856343"/>
            <a:chExt cx="232229" cy="58057"/>
          </a:xfrm>
        </p:grpSpPr>
        <p:cxnSp>
          <p:nvCxnSpPr>
            <p:cNvPr id="13" name="直接连接符 12"/>
            <p:cNvCxnSpPr/>
            <p:nvPr/>
          </p:nvCxnSpPr>
          <p:spPr>
            <a:xfrm>
              <a:off x="6709229" y="856343"/>
              <a:ext cx="23222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>
              <a:off x="6709229" y="885372"/>
              <a:ext cx="23222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/>
            <p:cNvCxnSpPr/>
            <p:nvPr/>
          </p:nvCxnSpPr>
          <p:spPr>
            <a:xfrm>
              <a:off x="6709229" y="914400"/>
              <a:ext cx="232229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9" name="图片 8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/>
          <a:srcRect l="3848" t="2155" b="3276"/>
          <a:stretch>
            <a:fillRect/>
          </a:stretch>
        </p:blipFill>
        <p:spPr>
          <a:xfrm>
            <a:off x="26670" y="10795"/>
            <a:ext cx="2014855" cy="696595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7559675" y="4772660"/>
            <a:ext cx="1433830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/>
            <a:r>
              <a:rPr kumimoji="0" lang="en-US" altLang="zh-CN" sz="1000" b="0" i="0" u="none" strike="noStrike" kern="1200" cap="none" spc="0" normalizeH="0" baseline="0" noProof="0">
                <a:ln w="38100"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锦绣宋体" panose="02000503000000000000" charset="-122"/>
                <a:ea typeface="锦绣宋体" panose="02000503000000000000" charset="-122"/>
                <a:cs typeface="+mn-cs"/>
                <a:sym typeface="思源黑体 CN Normal" panose="020B0400000000000000" charset="-122"/>
              </a:rPr>
              <a:t>GROUP 16 </a:t>
            </a:r>
            <a:endParaRPr lang="zh-CN" altLang="en-US" sz="1050">
              <a:solidFill>
                <a:schemeClr val="accent1"/>
              </a:solidFill>
            </a:endParaRPr>
          </a:p>
        </p:txBody>
      </p:sp>
      <p:pic>
        <p:nvPicPr>
          <p:cNvPr id="4" name="图片 2">
            <a:extLst>
              <a:ext uri="{FF2B5EF4-FFF2-40B4-BE49-F238E27FC236}">
                <a16:creationId xmlns:a16="http://schemas.microsoft.com/office/drawing/2014/main" id="{6E85F36D-CE3D-1494-08EC-B3BFC69D32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6835" y="1082512"/>
            <a:ext cx="3079004" cy="2921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图片 1">
            <a:extLst>
              <a:ext uri="{FF2B5EF4-FFF2-40B4-BE49-F238E27FC236}">
                <a16:creationId xmlns:a16="http://schemas.microsoft.com/office/drawing/2014/main" id="{5B0BF096-32A2-F4C1-C082-A8CB42AED7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744" t="38574" r="20380" b="33644"/>
          <a:stretch>
            <a:fillRect/>
          </a:stretch>
        </p:blipFill>
        <p:spPr bwMode="auto">
          <a:xfrm>
            <a:off x="6877709" y="3116790"/>
            <a:ext cx="2219700" cy="10244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图片 1">
            <a:extLst>
              <a:ext uri="{FF2B5EF4-FFF2-40B4-BE49-F238E27FC236}">
                <a16:creationId xmlns:a16="http://schemas.microsoft.com/office/drawing/2014/main" id="{2DE365C0-920B-A355-0732-29A25BE37F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901" t="7886" r="12614"/>
          <a:stretch>
            <a:fillRect/>
          </a:stretch>
        </p:blipFill>
        <p:spPr bwMode="auto">
          <a:xfrm>
            <a:off x="7171341" y="1227269"/>
            <a:ext cx="1926068" cy="17376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593341D9-1197-A46A-838E-32B45E181A95}"/>
              </a:ext>
            </a:extLst>
          </p:cNvPr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02" t="2750" b="3336"/>
          <a:stretch>
            <a:fillRect/>
          </a:stretch>
        </p:blipFill>
        <p:spPr bwMode="auto">
          <a:xfrm>
            <a:off x="6907761" y="282971"/>
            <a:ext cx="1142707" cy="1102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文本框 18">
            <a:extLst>
              <a:ext uri="{FF2B5EF4-FFF2-40B4-BE49-F238E27FC236}">
                <a16:creationId xmlns:a16="http://schemas.microsoft.com/office/drawing/2014/main" id="{A51DDBF3-31B8-DB73-AE62-B27FFBF9DDC0}"/>
              </a:ext>
            </a:extLst>
          </p:cNvPr>
          <p:cNvSpPr txBox="1"/>
          <p:nvPr/>
        </p:nvSpPr>
        <p:spPr>
          <a:xfrm>
            <a:off x="46591" y="2160199"/>
            <a:ext cx="3877933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altLang="zh-CN" sz="1400" b="1" dirty="0">
                <a:highlight>
                  <a:srgbClr val="B49D86"/>
                </a:highlight>
              </a:rPr>
              <a:t>Good-looking appearance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zh-CN" sz="1400" b="1" dirty="0">
                <a:highlight>
                  <a:srgbClr val="B49D86"/>
                </a:highlight>
              </a:rPr>
              <a:t>Multiple comprehensive functions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zh-CN" sz="1400" b="1" dirty="0">
                <a:highlight>
                  <a:srgbClr val="B49D86"/>
                </a:highlight>
              </a:rPr>
              <a:t>Good data collection and update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zh-CN" sz="1400" b="1" dirty="0">
                <a:highlight>
                  <a:srgbClr val="B49D86"/>
                </a:highlight>
              </a:rPr>
              <a:t>Lower cost</a:t>
            </a:r>
          </a:p>
          <a:p>
            <a:pPr marL="342900" indent="-342900">
              <a:buFont typeface="+mj-lt"/>
              <a:buAutoNum type="arabicPeriod"/>
            </a:pPr>
            <a:r>
              <a:rPr lang="en-US" altLang="zh-CN" sz="1400" b="1" dirty="0">
                <a:highlight>
                  <a:srgbClr val="B49D86"/>
                </a:highlight>
              </a:rPr>
              <a:t>Better commercial use</a:t>
            </a:r>
          </a:p>
          <a:p>
            <a:endParaRPr lang="en-US" altLang="zh-CN" sz="1400" b="1" dirty="0">
              <a:highlight>
                <a:srgbClr val="B49D86"/>
              </a:highlight>
            </a:endParaRPr>
          </a:p>
          <a:p>
            <a:r>
              <a:rPr lang="en-US" altLang="zh-CN" sz="1400" b="1" dirty="0">
                <a:highlight>
                  <a:srgbClr val="B49D86"/>
                </a:highlight>
              </a:rPr>
              <a:t>Perfect smart car from group 16!</a:t>
            </a:r>
            <a:endParaRPr lang="zh-CN" altLang="en-US" sz="1400" b="1" dirty="0">
              <a:highlight>
                <a:srgbClr val="B49D86"/>
              </a:highlight>
            </a:endParaRPr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AE05E049-83D4-5086-92FF-32A7BA85364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5687" y="909467"/>
            <a:ext cx="2213182" cy="1281691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CD40C8EB-0F87-E35F-B929-6BE119693DCB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307205" y="4179367"/>
            <a:ext cx="3092176" cy="912468"/>
          </a:xfrm>
          <a:prstGeom prst="rect">
            <a:avLst/>
          </a:prstGeom>
        </p:spPr>
      </p:pic>
      <p:pic>
        <p:nvPicPr>
          <p:cNvPr id="23" name="图片 22" descr="图片包含 室内, 桌子, 小, 小孩&#10;&#10;描述已自动生成">
            <a:extLst>
              <a:ext uri="{FF2B5EF4-FFF2-40B4-BE49-F238E27FC236}">
                <a16:creationId xmlns:a16="http://schemas.microsoft.com/office/drawing/2014/main" id="{9E4A2D31-5D2A-11CB-BD2B-C8B029395208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843" y="4114415"/>
            <a:ext cx="2169857" cy="92757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/>
        </p:nvSpPr>
        <p:spPr bwMode="auto">
          <a:xfrm>
            <a:off x="4699635" y="736600"/>
            <a:ext cx="4015105" cy="2136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pPr algn="r" defTabSz="457200"/>
            <a:r>
              <a:rPr lang="en-US" altLang="zh-CN" sz="4800">
                <a:ln w="38100">
                  <a:noFill/>
                </a:ln>
                <a:solidFill>
                  <a:schemeClr val="accent1"/>
                </a:solidFill>
                <a:latin typeface="Yu Gothic UI Semibold" panose="020B0700000000000000" charset="-128"/>
                <a:ea typeface="Yu Gothic UI Semibold" panose="020B0700000000000000" charset="-128"/>
                <a:cs typeface="Arial Black" panose="020B0A04020102020204" charset="0"/>
                <a:sym typeface="思源黑体 CN Normal" panose="020B0400000000000000" charset="-122"/>
              </a:rPr>
              <a:t>Thanks</a:t>
            </a:r>
          </a:p>
          <a:p>
            <a:pPr algn="r" defTabSz="457200"/>
            <a:r>
              <a:rPr lang="en-US" altLang="zh-CN" sz="4800">
                <a:ln w="38100">
                  <a:noFill/>
                </a:ln>
                <a:solidFill>
                  <a:schemeClr val="accent1"/>
                </a:solidFill>
                <a:latin typeface="Yu Gothic UI Semibold" panose="020B0700000000000000" charset="-128"/>
                <a:ea typeface="Yu Gothic UI Semibold" panose="020B0700000000000000" charset="-128"/>
                <a:cs typeface="Arial Black" panose="020B0A04020102020204" charset="0"/>
                <a:sym typeface="思源黑体 CN Normal" panose="020B0400000000000000" charset="-122"/>
              </a:rPr>
              <a:t>For</a:t>
            </a:r>
          </a:p>
          <a:p>
            <a:pPr algn="r" defTabSz="457200"/>
            <a:r>
              <a:rPr lang="en-US" altLang="zh-CN" sz="4800">
                <a:ln w="38100">
                  <a:noFill/>
                </a:ln>
                <a:solidFill>
                  <a:schemeClr val="accent1"/>
                </a:solidFill>
                <a:latin typeface="Yu Gothic UI Semibold" panose="020B0700000000000000" charset="-128"/>
                <a:ea typeface="Yu Gothic UI Semibold" panose="020B0700000000000000" charset="-128"/>
                <a:cs typeface="Arial Black" panose="020B0A04020102020204" charset="0"/>
                <a:sym typeface="思源黑体 CN Normal" panose="020B0400000000000000" charset="-122"/>
              </a:rPr>
              <a:t>Watching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6023855" y="3746567"/>
            <a:ext cx="1954808" cy="30670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 spc="-150">
                <a:ln w="38100">
                  <a:noFill/>
                </a:ln>
                <a:solidFill>
                  <a:srgbClr val="D53D2A"/>
                </a:solidFill>
                <a:effectLst>
                  <a:outerShdw blurRad="127000" dist="127000" dir="5400000" algn="t" rotWithShape="0">
                    <a:srgbClr val="D53D2A">
                      <a:alpha val="20000"/>
                    </a:srgbClr>
                  </a:outerShdw>
                </a:effectLst>
                <a:latin typeface="+mj-ea"/>
                <a:ea typeface="+mj-ea"/>
              </a:defRPr>
            </a:lvl1pPr>
          </a:lstStyle>
          <a:p>
            <a:pPr algn="l"/>
            <a:r>
              <a:rPr lang="en-US" altLang="zh-CN" sz="1400" spc="0">
                <a:solidFill>
                  <a:schemeClr val="accent1"/>
                </a:solidFill>
                <a:effectLst/>
                <a:sym typeface="思源黑体 CN Normal" panose="020B0400000000000000" charset="-122"/>
              </a:rPr>
              <a:t>Team members</a:t>
            </a:r>
            <a:r>
              <a:rPr lang="zh-CN" altLang="en-US" sz="1400" spc="0">
                <a:solidFill>
                  <a:schemeClr val="accent1"/>
                </a:solidFill>
                <a:effectLst/>
                <a:sym typeface="思源黑体 CN Normal" panose="020B0400000000000000" charset="-122"/>
              </a:rPr>
              <a:t>：</a:t>
            </a:r>
            <a:r>
              <a:rPr lang="en-US" altLang="zh-CN" sz="1400" spc="0">
                <a:solidFill>
                  <a:schemeClr val="accent1"/>
                </a:solidFill>
                <a:effectLst/>
                <a:sym typeface="思源黑体 CN Normal" panose="020B0400000000000000" charset="-122"/>
              </a:rPr>
              <a:t>                                </a:t>
            </a:r>
          </a:p>
        </p:txBody>
      </p:sp>
      <p:sp>
        <p:nvSpPr>
          <p:cNvPr id="64" name="文本框 63"/>
          <p:cNvSpPr txBox="1"/>
          <p:nvPr/>
        </p:nvSpPr>
        <p:spPr>
          <a:xfrm>
            <a:off x="254635" y="4756150"/>
            <a:ext cx="1433830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/>
            <a:r>
              <a:rPr kumimoji="0" lang="en-US" altLang="zh-CN" sz="1000" b="0" i="0" u="none" strike="noStrike" kern="1200" cap="none" spc="0" normalizeH="0" baseline="0" noProof="0">
                <a:ln w="38100"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锦绣宋体" panose="02000503000000000000" charset="-122"/>
                <a:ea typeface="锦绣宋体" panose="02000503000000000000" charset="-122"/>
                <a:cs typeface="+mn-cs"/>
                <a:sym typeface="思源黑体 CN Normal" panose="020B0400000000000000" charset="-122"/>
              </a:rPr>
              <a:t>GROUP 16 </a:t>
            </a:r>
            <a:endParaRPr lang="zh-CN" altLang="en-US" sz="1050">
              <a:solidFill>
                <a:schemeClr val="accent1"/>
              </a:solidFill>
            </a:endParaRPr>
          </a:p>
        </p:txBody>
      </p:sp>
      <p:grpSp>
        <p:nvGrpSpPr>
          <p:cNvPr id="71" name="组合 70"/>
          <p:cNvGrpSpPr/>
          <p:nvPr/>
        </p:nvGrpSpPr>
        <p:grpSpPr>
          <a:xfrm>
            <a:off x="462334" y="365524"/>
            <a:ext cx="299666" cy="193928"/>
            <a:chOff x="6709229" y="856343"/>
            <a:chExt cx="232229" cy="58057"/>
          </a:xfrm>
        </p:grpSpPr>
        <p:cxnSp>
          <p:nvCxnSpPr>
            <p:cNvPr id="72" name="直接连接符 71"/>
            <p:cNvCxnSpPr/>
            <p:nvPr/>
          </p:nvCxnSpPr>
          <p:spPr>
            <a:xfrm>
              <a:off x="6709229" y="856343"/>
              <a:ext cx="232229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接连接符 72"/>
            <p:cNvCxnSpPr/>
            <p:nvPr/>
          </p:nvCxnSpPr>
          <p:spPr>
            <a:xfrm>
              <a:off x="6709229" y="885372"/>
              <a:ext cx="232229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接连接符 73"/>
            <p:cNvCxnSpPr/>
            <p:nvPr/>
          </p:nvCxnSpPr>
          <p:spPr>
            <a:xfrm>
              <a:off x="6709229" y="914400"/>
              <a:ext cx="232229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文本框 18"/>
          <p:cNvSpPr txBox="1"/>
          <p:nvPr/>
        </p:nvSpPr>
        <p:spPr>
          <a:xfrm>
            <a:off x="5906770" y="3189605"/>
            <a:ext cx="2889885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>
                <a:ln w="38100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Malgun Gothic Semilight" panose="020B0502040204020203" charset="-122"/>
                <a:ea typeface="Malgun Gothic Semilight" panose="020B0502040204020203" charset="-122"/>
                <a:cs typeface="+mn-cs"/>
                <a:sym typeface="思源黑体 CN Normal" panose="020B0400000000000000" charset="-122"/>
              </a:rPr>
              <a:t>Design of the circuit and implementation of the functions</a:t>
            </a:r>
          </a:p>
        </p:txBody>
      </p:sp>
      <p:cxnSp>
        <p:nvCxnSpPr>
          <p:cNvPr id="12" name="直接连接符 11"/>
          <p:cNvCxnSpPr/>
          <p:nvPr/>
        </p:nvCxnSpPr>
        <p:spPr>
          <a:xfrm>
            <a:off x="5639322" y="4225103"/>
            <a:ext cx="215153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7048500" y="-635"/>
            <a:ext cx="2095500" cy="7372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6535420" y="3938270"/>
            <a:ext cx="2491740" cy="1168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>
                <a:ln w="38100">
                  <a:noFill/>
                </a:ln>
                <a:solidFill>
                  <a:schemeClr val="accent1"/>
                </a:solidFill>
                <a:effectLst/>
                <a:latin typeface="+mj-ea"/>
                <a:ea typeface="+mj-ea"/>
                <a:sym typeface="思源黑体 CN Normal" panose="020B0400000000000000" charset="-122"/>
              </a:rPr>
              <a:t>Tangxun Wu</a:t>
            </a:r>
            <a:endParaRPr lang="en-US" altLang="zh-CN" sz="1400" spc="0">
              <a:ln w="38100">
                <a:noFill/>
              </a:ln>
              <a:solidFill>
                <a:schemeClr val="accent1"/>
              </a:solidFill>
              <a:effectLst/>
              <a:latin typeface="+mj-ea"/>
              <a:ea typeface="+mj-ea"/>
              <a:sym typeface="思源黑体 CN Normal" panose="020B0400000000000000" charset="-122"/>
            </a:endParaRPr>
          </a:p>
          <a:p>
            <a:pPr algn="ctr"/>
            <a:r>
              <a:rPr lang="en-US" altLang="zh-CN" sz="1400">
                <a:ln w="38100">
                  <a:noFill/>
                </a:ln>
                <a:solidFill>
                  <a:schemeClr val="accent1"/>
                </a:solidFill>
                <a:effectLst/>
                <a:latin typeface="+mj-ea"/>
                <a:ea typeface="+mj-ea"/>
                <a:sym typeface="思源黑体 CN Normal" panose="020B0400000000000000" charset="-122"/>
              </a:rPr>
              <a:t>Boyang He</a:t>
            </a:r>
            <a:endParaRPr lang="en-US" altLang="zh-CN" sz="1400" spc="0">
              <a:ln w="38100">
                <a:noFill/>
              </a:ln>
              <a:solidFill>
                <a:schemeClr val="accent1"/>
              </a:solidFill>
              <a:effectLst/>
              <a:latin typeface="+mj-ea"/>
              <a:ea typeface="+mj-ea"/>
              <a:sym typeface="思源黑体 CN Normal" panose="020B0400000000000000" charset="-122"/>
            </a:endParaRPr>
          </a:p>
          <a:p>
            <a:pPr algn="ctr"/>
            <a:r>
              <a:rPr lang="en-US" altLang="zh-CN" sz="1400">
                <a:ln w="38100">
                  <a:noFill/>
                </a:ln>
                <a:solidFill>
                  <a:schemeClr val="accent1"/>
                </a:solidFill>
                <a:effectLst/>
                <a:latin typeface="+mj-ea"/>
                <a:ea typeface="+mj-ea"/>
                <a:sym typeface="思源黑体 CN Normal" panose="020B0400000000000000" charset="-122"/>
              </a:rPr>
              <a:t>Guanyi Lin</a:t>
            </a:r>
            <a:endParaRPr lang="en-US" altLang="zh-CN" sz="1400" spc="0">
              <a:ln w="38100">
                <a:noFill/>
              </a:ln>
              <a:solidFill>
                <a:schemeClr val="accent1"/>
              </a:solidFill>
              <a:effectLst/>
              <a:latin typeface="+mj-ea"/>
              <a:ea typeface="+mj-ea"/>
              <a:sym typeface="思源黑体 CN Normal" panose="020B0400000000000000" charset="-122"/>
            </a:endParaRPr>
          </a:p>
          <a:p>
            <a:pPr algn="ctr"/>
            <a:r>
              <a:rPr lang="en-US" altLang="zh-CN" sz="1400">
                <a:ln w="38100">
                  <a:noFill/>
                </a:ln>
                <a:solidFill>
                  <a:schemeClr val="accent1"/>
                </a:solidFill>
                <a:effectLst/>
                <a:latin typeface="+mj-ea"/>
                <a:ea typeface="+mj-ea"/>
                <a:sym typeface="思源黑体 CN Normal" panose="020B0400000000000000" charset="-122"/>
              </a:rPr>
              <a:t>Donngze Sun</a:t>
            </a:r>
            <a:endParaRPr lang="en-US" altLang="zh-CN" sz="1400" spc="0">
              <a:ln w="38100">
                <a:noFill/>
              </a:ln>
              <a:solidFill>
                <a:schemeClr val="accent1"/>
              </a:solidFill>
              <a:effectLst/>
              <a:latin typeface="+mj-ea"/>
              <a:ea typeface="+mj-ea"/>
              <a:sym typeface="思源黑体 CN Normal" panose="020B0400000000000000" charset="-122"/>
            </a:endParaRPr>
          </a:p>
          <a:p>
            <a:pPr algn="ctr"/>
            <a:r>
              <a:rPr lang="en-US" altLang="zh-CN" sz="1400">
                <a:ln w="38100">
                  <a:noFill/>
                </a:ln>
                <a:solidFill>
                  <a:schemeClr val="accent1"/>
                </a:solidFill>
                <a:effectLst/>
                <a:latin typeface="+mj-ea"/>
                <a:ea typeface="+mj-ea"/>
                <a:sym typeface="思源黑体 CN Normal" panose="020B0400000000000000" charset="-122"/>
              </a:rPr>
              <a:t>Weiping Kong</a:t>
            </a:r>
            <a:endParaRPr lang="en-US" altLang="zh-CN" sz="1400">
              <a:ln w="38100">
                <a:noFill/>
              </a:ln>
              <a:solidFill>
                <a:schemeClr val="accent1"/>
              </a:solidFill>
              <a:effectLst/>
              <a:latin typeface="+mj-ea"/>
              <a:ea typeface="+mj-ea"/>
            </a:endParaRPr>
          </a:p>
        </p:txBody>
      </p:sp>
      <p:pic>
        <p:nvPicPr>
          <p:cNvPr id="4" name="图片 3" descr="图片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830" y="904240"/>
            <a:ext cx="4474210" cy="34747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cb53ab2b-c03d-49fa-a032-52fe68fbc824"/>
  <p:tag name="COMMONDATA" val="eyJjb3VudCI6MjEsImhkaWQiOiIyYmI4MTk2YWJhZDI5OWQxN2I0ODc4OTQwMTJjM2ZmMiIsInVzZXJDb3VudCI6MjF9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470,&quot;width&quot;:4180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470,&quot;width&quot;:4180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470,&quot;width&quot;:4180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470,&quot;width&quot;:4180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470,&quot;width&quot;:4180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470,&quot;width&quot;:4180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470,&quot;width&quot;:4180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470,&quot;width&quot;:4180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470,&quot;width&quot;:4180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37680,&quot;width&quot;:37680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470,&quot;width&quot;:4180}"/>
</p:tagLst>
</file>

<file path=ppt/theme/theme1.xml><?xml version="1.0" encoding="utf-8"?>
<a:theme xmlns:a="http://schemas.openxmlformats.org/drawingml/2006/main" name="1_Office 主题">
  <a:themeElements>
    <a:clrScheme name="2经典蓝">
      <a:dk1>
        <a:sysClr val="windowText" lastClr="000000"/>
      </a:dk1>
      <a:lt1>
        <a:sysClr val="window" lastClr="FFFFFF"/>
      </a:lt1>
      <a:dk2>
        <a:srgbClr val="EEF2F5"/>
      </a:dk2>
      <a:lt2>
        <a:srgbClr val="E7E6E6"/>
      </a:lt2>
      <a:accent1>
        <a:srgbClr val="1D4E89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00"/>
      </a:hlink>
      <a:folHlink>
        <a:srgbClr val="954F72"/>
      </a:folHlink>
    </a:clrScheme>
    <a:fontScheme name="思源宋体 CN Heavy">
      <a:majorFont>
        <a:latin typeface="思源黑体 CN Normal"/>
        <a:ea typeface="锦绣宋体"/>
        <a:cs typeface=""/>
      </a:majorFont>
      <a:minorFont>
        <a:latin typeface="思源黑体 CN Normal"/>
        <a:ea typeface="思源黑体 CN Normal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思源黑体 CN Normal"/>
        <a:ea typeface=""/>
        <a:cs typeface=""/>
        <a:font script="Jpan" typeface="ＭＳ Ｐゴシック"/>
        <a:font script="Hang" typeface="맑은 고딕"/>
        <a:font script="Hans" typeface="思源黑体 CN Normal"/>
        <a:font script="Hant" typeface="新細明體"/>
        <a:font script="Arab" typeface="思源黑体 CN Normal"/>
        <a:font script="Hebr" typeface="思源黑体 CN Normal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 Normal"/>
        <a:font script="Uigh" typeface="Microsoft Uighur"/>
        <a:font script="Geor" typeface="Sylfaen"/>
      </a:majorFont>
      <a:minorFont>
        <a:latin typeface="思源黑体 CN Normal"/>
        <a:ea typeface=""/>
        <a:cs typeface=""/>
        <a:font script="Jpan" typeface="ＭＳ Ｐゴシック"/>
        <a:font script="Hang" typeface="맑은 고딕"/>
        <a:font script="Hans" typeface="思源黑体 CN Normal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思源黑体 CN Normal"/>
        <a:ea typeface=""/>
        <a:cs typeface=""/>
        <a:font script="Jpan" typeface="ＭＳ Ｐゴシック"/>
        <a:font script="Hang" typeface="맑은 고딕"/>
        <a:font script="Hans" typeface="思源黑体 CN Normal"/>
        <a:font script="Hant" typeface="新細明體"/>
        <a:font script="Arab" typeface="思源黑体 CN Normal"/>
        <a:font script="Hebr" typeface="思源黑体 CN Normal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 Normal"/>
        <a:font script="Uigh" typeface="Microsoft Uighur"/>
        <a:font script="Geor" typeface="Sylfaen"/>
      </a:majorFont>
      <a:minorFont>
        <a:latin typeface="思源黑体 CN Normal"/>
        <a:ea typeface=""/>
        <a:cs typeface=""/>
        <a:font script="Jpan" typeface="ＭＳ Ｐゴシック"/>
        <a:font script="Hang" typeface="맑은 고딕"/>
        <a:font script="Hans" typeface="思源黑体 CN Normal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</TotalTime>
  <Words>434</Words>
  <Application>Microsoft Office PowerPoint</Application>
  <PresentationFormat>全屏显示(16:9)</PresentationFormat>
  <Paragraphs>106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9" baseType="lpstr">
      <vt:lpstr>Yu Gothic UI Semibold</vt:lpstr>
      <vt:lpstr>思源黑体 CN Normal</vt:lpstr>
      <vt:lpstr>锦绣宋体</vt:lpstr>
      <vt:lpstr>Wingdings</vt:lpstr>
      <vt:lpstr>Arial</vt:lpstr>
      <vt:lpstr>Malgun Gothic Semilight</vt:lpstr>
      <vt:lpstr>Magneto</vt:lpstr>
      <vt:lpstr>1_Office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桤儿哥哥</dc:creator>
  <cp:lastModifiedBy>吴 汤迅</cp:lastModifiedBy>
  <cp:revision>66</cp:revision>
  <dcterms:created xsi:type="dcterms:W3CDTF">1900-01-01T00:00:00Z</dcterms:created>
  <dcterms:modified xsi:type="dcterms:W3CDTF">2022-10-24T18:25:00Z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2052-11.1.0.12598</vt:lpwstr>
  </property>
  <property fmtid="{D5CDD505-2E9C-101B-9397-08002B2CF9AE}" pid="3" name="KSOTemplateUUID">
    <vt:lpwstr>v1.0_mb_gdgPBmG5SlTBV+V0uNRwMg==</vt:lpwstr>
  </property>
  <property fmtid="{D5CDD505-2E9C-101B-9397-08002B2CF9AE}" pid="4" name="ICV">
    <vt:lpwstr>D1D60FD6E620721F6AC05463174EE8F4</vt:lpwstr>
  </property>
</Properties>
</file>