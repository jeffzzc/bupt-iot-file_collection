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543" r:id="rId2"/>
    <p:sldId id="639" r:id="rId3"/>
    <p:sldId id="681" r:id="rId4"/>
    <p:sldId id="575" r:id="rId5"/>
    <p:sldId id="579" r:id="rId6"/>
    <p:sldId id="613" r:id="rId7"/>
    <p:sldId id="576" r:id="rId8"/>
    <p:sldId id="612" r:id="rId9"/>
    <p:sldId id="614" r:id="rId10"/>
    <p:sldId id="615" r:id="rId11"/>
    <p:sldId id="616" r:id="rId12"/>
    <p:sldId id="605" r:id="rId13"/>
    <p:sldId id="721" r:id="rId14"/>
    <p:sldId id="722" r:id="rId15"/>
    <p:sldId id="723" r:id="rId16"/>
    <p:sldId id="724" r:id="rId17"/>
    <p:sldId id="725" r:id="rId18"/>
    <p:sldId id="726" r:id="rId19"/>
    <p:sldId id="727" r:id="rId20"/>
    <p:sldId id="728" r:id="rId21"/>
    <p:sldId id="729" r:id="rId22"/>
    <p:sldId id="730" r:id="rId23"/>
    <p:sldId id="731" r:id="rId24"/>
    <p:sldId id="732" r:id="rId25"/>
    <p:sldId id="733" r:id="rId26"/>
    <p:sldId id="734" r:id="rId27"/>
    <p:sldId id="735" r:id="rId28"/>
    <p:sldId id="736" r:id="rId29"/>
    <p:sldId id="737" r:id="rId30"/>
    <p:sldId id="738" r:id="rId31"/>
    <p:sldId id="739" r:id="rId32"/>
    <p:sldId id="740" r:id="rId33"/>
    <p:sldId id="741" r:id="rId34"/>
    <p:sldId id="641" r:id="rId35"/>
    <p:sldId id="640" r:id="rId36"/>
    <p:sldId id="642" r:id="rId37"/>
    <p:sldId id="643" r:id="rId38"/>
    <p:sldId id="644" r:id="rId39"/>
    <p:sldId id="645" r:id="rId40"/>
    <p:sldId id="674" r:id="rId41"/>
    <p:sldId id="675" r:id="rId42"/>
    <p:sldId id="676" r:id="rId43"/>
    <p:sldId id="677" r:id="rId44"/>
    <p:sldId id="678" r:id="rId45"/>
    <p:sldId id="680" r:id="rId46"/>
    <p:sldId id="611" r:id="rId47"/>
  </p:sldIdLst>
  <p:sldSz cx="9144000" cy="5143500" type="screen16x9"/>
  <p:notesSz cx="6858000" cy="9144000"/>
  <p:embeddedFontLst>
    <p:embeddedFont>
      <p:font typeface="锦绣宋体" panose="02010600030101010101" charset="-122"/>
      <p:regular r:id="rId50"/>
    </p:embeddedFont>
    <p:embeddedFont>
      <p:font typeface="思源黑体 CN Normal" panose="02010600030101010101" charset="-122"/>
      <p:regular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Cambria" panose="02040503050406030204" pitchFamily="18" charset="0"/>
      <p:regular r:id="rId56"/>
      <p:bold r:id="rId57"/>
      <p:italic r:id="rId58"/>
      <p:boldItalic r:id="rId59"/>
    </p:embeddedFont>
    <p:embeddedFont>
      <p:font typeface="Malgun Gothic Semilight" panose="020B0502040204020203" pitchFamily="34" charset="-122"/>
      <p:regular r:id="rId60"/>
    </p:embeddedFont>
    <p:embeddedFont>
      <p:font typeface="Yu Gothic UI Semibold" panose="020B0700000000000000" pitchFamily="34" charset="-128"/>
      <p:bold r:id="rId61"/>
    </p:embeddedFont>
  </p:embeddedFontLst>
  <p:custDataLst>
    <p:tags r:id="rId62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E2A6164-6C94-4D72-A808-DBA72125A748}">
          <p14:sldIdLst>
            <p14:sldId id="543"/>
            <p14:sldId id="639"/>
            <p14:sldId id="681"/>
            <p14:sldId id="575"/>
            <p14:sldId id="579"/>
            <p14:sldId id="613"/>
            <p14:sldId id="576"/>
            <p14:sldId id="612"/>
            <p14:sldId id="614"/>
            <p14:sldId id="615"/>
            <p14:sldId id="616"/>
            <p14:sldId id="605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641"/>
            <p14:sldId id="640"/>
            <p14:sldId id="642"/>
            <p14:sldId id="643"/>
            <p14:sldId id="644"/>
            <p14:sldId id="645"/>
            <p14:sldId id="674"/>
            <p14:sldId id="675"/>
            <p14:sldId id="676"/>
            <p14:sldId id="677"/>
            <p14:sldId id="678"/>
            <p14:sldId id="680"/>
            <p14:sldId id="611"/>
          </p14:sldIdLst>
        </p14:section>
      </p14:sectionLst>
    </p:ext>
    <p:ext uri="{EFAFB233-063F-42B5-8137-9DF3F51BA10A}">
      <p15:sldGuideLst xmlns:p15="http://schemas.microsoft.com/office/powerpoint/2012/main">
        <p15:guide id="1" pos="124">
          <p15:clr>
            <a:srgbClr val="A4A3A4"/>
          </p15:clr>
        </p15:guide>
        <p15:guide id="2" pos="5624">
          <p15:clr>
            <a:srgbClr val="A4A3A4"/>
          </p15:clr>
        </p15:guide>
        <p15:guide id="3" orient="horz" pos="2758">
          <p15:clr>
            <a:srgbClr val="A4A3A4"/>
          </p15:clr>
        </p15:guide>
        <p15:guide id="4" orient="horz" pos="3006">
          <p15:clr>
            <a:srgbClr val="A4A3A4"/>
          </p15:clr>
        </p15:guide>
        <p15:guide id="5" pos="2880">
          <p15:clr>
            <a:srgbClr val="A4A3A4"/>
          </p15:clr>
        </p15:guide>
        <p15:guide id="6" orient="horz" pos="19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49D86"/>
    <a:srgbClr val="0033CC"/>
    <a:srgbClr val="353A55"/>
    <a:srgbClr val="4C5378"/>
    <a:srgbClr val="E0D7CE"/>
    <a:srgbClr val="272B3E"/>
    <a:srgbClr val="A08366"/>
    <a:srgbClr val="304371"/>
    <a:srgbClr val="EE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59" autoAdjust="0"/>
    <p:restoredTop sz="94660"/>
  </p:normalViewPr>
  <p:slideViewPr>
    <p:cSldViewPr snapToGrid="0" showGuides="1">
      <p:cViewPr varScale="1">
        <p:scale>
          <a:sx n="122" d="100"/>
          <a:sy n="122" d="100"/>
        </p:scale>
        <p:origin x="496" y="76"/>
      </p:cViewPr>
      <p:guideLst>
        <p:guide pos="124"/>
        <p:guide pos="5624"/>
        <p:guide orient="horz" pos="2758"/>
        <p:guide orient="horz" pos="3006"/>
        <p:guide pos="2880"/>
        <p:guide orient="horz" pos="19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</a:rPr>
              <a:t>2022/10/26</a:t>
            </a:fld>
            <a:endParaRPr lang="zh-CN" altLang="en-US">
              <a:latin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</a:rPr>
              <a:t>‹#›</a:t>
            </a:fld>
            <a:endParaRPr lang="zh-CN" altLang="en-US">
              <a:latin typeface="思源黑体 CN Normal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794339" y="0"/>
            <a:ext cx="243068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5070763" y="605100"/>
            <a:ext cx="3844637" cy="1990845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1"/>
          </p:nvPr>
        </p:nvSpPr>
        <p:spPr>
          <a:xfrm>
            <a:off x="5070763" y="2777283"/>
            <a:ext cx="3844637" cy="1990845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314013" y="0"/>
            <a:ext cx="3829987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4144781" y="697391"/>
            <a:ext cx="2308486" cy="4128609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1"/>
          </p:nvPr>
        </p:nvSpPr>
        <p:spPr>
          <a:xfrm>
            <a:off x="6606914" y="697391"/>
            <a:ext cx="2308486" cy="4128609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96694" y="1108271"/>
            <a:ext cx="3536004" cy="1568052"/>
          </a:xfrm>
          <a:prstGeom prst="roundRect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1"/>
          </p:nvPr>
        </p:nvSpPr>
        <p:spPr>
          <a:xfrm>
            <a:off x="296694" y="2878705"/>
            <a:ext cx="3536004" cy="1568052"/>
          </a:xfrm>
          <a:prstGeom prst="roundRect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5000">
              <a:schemeClr val="bg1"/>
            </a:gs>
            <a:gs pos="100000">
              <a:srgbClr val="E0F0FC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669989D-4831-4E99-B76E-9A53CB0F3A88}" type="datetimeFigureOut">
              <a:rPr lang="zh-CN" altLang="en-US" smtClean="0"/>
              <a:t>2022/10/26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黑体 CN Normal" panose="020B0400000000000000" charset="-122"/>
          <a:ea typeface="锦绣宋体" panose="02000503000000000000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GIF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3.GIF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23.GIF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13" Type="http://schemas.openxmlformats.org/officeDocument/2006/relationships/image" Target="../media/image38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3.png"/><Relationship Id="rId12" Type="http://schemas.openxmlformats.org/officeDocument/2006/relationships/image" Target="../media/image3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5.png"/><Relationship Id="rId4" Type="http://schemas.openxmlformats.org/officeDocument/2006/relationships/image" Target="../media/image31.png"/><Relationship Id="rId9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2" Type="http://schemas.openxmlformats.org/officeDocument/2006/relationships/tags" Target="../tags/tag16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53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65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Relationship Id="rId4" Type="http://schemas.openxmlformats.org/officeDocument/2006/relationships/image" Target="../media/image7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0" y="2304415"/>
            <a:ext cx="5492115" cy="28390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4987925" y="1433830"/>
            <a:ext cx="4156075" cy="3709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232785" y="0"/>
            <a:ext cx="5911215" cy="2974340"/>
          </a:xfrm>
          <a:prstGeom prst="rect">
            <a:avLst/>
          </a:prstGeom>
        </p:spPr>
      </p:pic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/>
        </p:nvCxnSpPr>
        <p:spPr>
          <a:xfrm>
            <a:off x="672352" y="3482788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240" y="2466340"/>
            <a:ext cx="3070860" cy="2713355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64" name="文本框 6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</a:t>
            </a:r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 rot="10800000">
            <a:off x="1312545" y="2755265"/>
            <a:ext cx="6293485" cy="1137285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6000">
                <a:ln w="38100">
                  <a:noFill/>
                </a:ln>
                <a:solidFill>
                  <a:schemeClr val="bg1">
                    <a:alpha val="41000"/>
                  </a:schemeClr>
                </a:solidFill>
                <a:effectLst/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       </a:t>
            </a:r>
            <a:r>
              <a:rPr lang="zh-CN" altLang="en-US" sz="6000">
                <a:ln w="38100">
                  <a:noFill/>
                </a:ln>
                <a:solidFill>
                  <a:schemeClr val="bg1">
                    <a:alpha val="41000"/>
                  </a:schemeClr>
                </a:solidFill>
                <a:effectLst/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</a:t>
            </a:r>
            <a:r>
              <a:rPr lang="en-US" altLang="zh-CN" sz="6000">
                <a:ln w="38100">
                  <a:noFill/>
                </a:ln>
                <a:solidFill>
                  <a:schemeClr val="bg1">
                    <a:alpha val="41000"/>
                  </a:schemeClr>
                </a:solidFill>
                <a:effectLst/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en-US" altLang="zh-CN" sz="6000">
                <a:ln w="38100">
                  <a:noFill/>
                </a:ln>
                <a:solidFill>
                  <a:schemeClr val="accent1">
                    <a:alpha val="83000"/>
                  </a:schemeClr>
                </a:solidFill>
                <a:effectLst/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nd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40970" y="383540"/>
            <a:ext cx="3812540" cy="220789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 bwMode="auto">
          <a:xfrm>
            <a:off x="3191510" y="1892300"/>
            <a:ext cx="4486910" cy="11372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6000">
                <a:ln w="381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And 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000" y="0"/>
            <a:ext cx="2322195" cy="147066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33170" y="-887095"/>
            <a:ext cx="2043430" cy="965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>
                <a:ln w="3810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Build</a:t>
            </a:r>
          </a:p>
        </p:txBody>
      </p:sp>
      <p:sp>
        <p:nvSpPr>
          <p:cNvPr id="19" name="文本框 18"/>
          <p:cNvSpPr txBox="1"/>
          <p:nvPr/>
        </p:nvSpPr>
        <p:spPr>
          <a:xfrm rot="10800000">
            <a:off x="5060315" y="5094605"/>
            <a:ext cx="3048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>
                <a:ln w="38100">
                  <a:noFill/>
                </a:ln>
                <a:solidFill>
                  <a:schemeClr val="bg1">
                    <a:alpha val="41000"/>
                  </a:schemeClr>
                </a:solidFill>
                <a:effectLst/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Build</a:t>
            </a:r>
            <a:endParaRPr lang="en-US" altLang="zh-CN" sz="6000">
              <a:ln w="3810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0405" y="4772660"/>
            <a:ext cx="2576195" cy="1026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>
                <a:ln w="3810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Design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 rot="10800000">
            <a:off x="4573270" y="-951865"/>
            <a:ext cx="3048000" cy="1222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>
                <a:ln w="38100">
                  <a:noFill/>
                </a:ln>
                <a:solidFill>
                  <a:schemeClr val="accent1">
                    <a:alpha val="83000"/>
                  </a:schemeClr>
                </a:solidFill>
                <a:effectLst/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Design</a:t>
            </a:r>
          </a:p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 rot="10800000">
            <a:off x="3671570" y="5177155"/>
            <a:ext cx="3048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>
                <a:ln w="38100">
                  <a:noFill/>
                </a:ln>
                <a:solidFill>
                  <a:schemeClr val="bg1">
                    <a:alpha val="41000"/>
                  </a:schemeClr>
                </a:solidFill>
                <a:effectLst/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Build</a:t>
            </a:r>
            <a:endParaRPr lang="en-US" altLang="zh-CN" sz="6000">
              <a:ln w="38100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38076 0.0171645 C -0.0320178 0.0433404 -0.122353 0.108072 -0.117059 0.159778 C -0.111765 0.211485 -0.0101634 0.199237 0.0190209 0.275702 C 0.0482052 0.352165 0.0297444 0.491169 0.0289978 0.542104 " pathEditMode="relative" rAng="0" ptsTypes="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0" y="262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8876 0.0135802 C -0.0304848 -0.0232099 0.0112516 -0.127407 -0.0104163 -0.175308 C -0.0320819 -0.223209 -0.137763 -0.174567 -0.147206 -0.225925 C -0.156651 -0.277283 -0.0761101 -0.39111 -0.0576377 -0.432098 C -0.0391656 -0.473086 -0.0554149 -0.43111 -0.0548597 -0.430863 C -0.0543042 -0.430617 -0.05479 -0.430863 -0.0548597 -0.430863 " pathEditMode="relative" rAng="0" ptsTypes=""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00" y="-2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63885 0 C -0.0138192 -0.0277778 -0.0652774 -0.105926 -0.011111 -0.14321 C 0.043056 -0.180494 0.222227 -0.14642 0.263199 -0.18642 C 0.304172 -0.22642 0.151533 -0.268642 0.193755 -0.34321 C 0.235977 -0.417778 0.41681 -0.519136 0.47431 -0.559259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00" y="-2790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79615 -0.00617141 C 0.0256975 0.0360539 0.120511 0.153182 0.0889303 0.21291 C 0.0573482 0.272638 -0.103722 0.222456 -0.154116 0.292464 C -0.20451 0.362472 -0.116081 0.480704 -0.163042 0.562952 C -0.210003 0.645199 -0.343951 0.680938 -0.388923 0.703703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00" y="35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697897" y="868391"/>
            <a:ext cx="2415979" cy="1014730"/>
            <a:chOff x="5516035" y="1072406"/>
            <a:chExt cx="2415979" cy="1014730"/>
          </a:xfrm>
        </p:grpSpPr>
        <p:sp>
          <p:nvSpPr>
            <p:cNvPr id="54" name="矩形 53"/>
            <p:cNvSpPr/>
            <p:nvPr/>
          </p:nvSpPr>
          <p:spPr>
            <a:xfrm>
              <a:off x="6084843" y="1072406"/>
              <a:ext cx="1847171" cy="1014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Automated Robots Design</a:t>
              </a:r>
            </a:p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 </a:t>
              </a:r>
              <a:r>
                <a:rPr lang="zh-CN" altLang="en-US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（</a:t>
              </a:r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Telecom</a:t>
              </a:r>
              <a:r>
                <a:rPr lang="zh-CN" altLang="en-US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）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01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57" name="直接连接符 56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018148" y="1165608"/>
            <a:ext cx="2610089" cy="301406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5697897" y="1959111"/>
            <a:ext cx="2417249" cy="1045525"/>
            <a:chOff x="5516035" y="1205441"/>
            <a:chExt cx="2417249" cy="1045525"/>
          </a:xfrm>
        </p:grpSpPr>
        <p:sp>
          <p:nvSpPr>
            <p:cNvPr id="60" name="矩形 59"/>
            <p:cNvSpPr/>
            <p:nvPr/>
          </p:nvSpPr>
          <p:spPr>
            <a:xfrm>
              <a:off x="6086113" y="1236236"/>
              <a:ext cx="1847171" cy="1014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 </a:t>
              </a:r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Web</a:t>
              </a:r>
            </a:p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Design</a:t>
              </a:r>
            </a:p>
            <a:p>
              <a:r>
                <a:rPr lang="zh-CN" altLang="en-US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（E-Commerce）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02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5697897" y="2916796"/>
            <a:ext cx="2415979" cy="1046160"/>
            <a:chOff x="5516035" y="1205441"/>
            <a:chExt cx="2415979" cy="1046160"/>
          </a:xfrm>
        </p:grpSpPr>
        <p:sp>
          <p:nvSpPr>
            <p:cNvPr id="66" name="矩形 65"/>
            <p:cNvSpPr/>
            <p:nvPr/>
          </p:nvSpPr>
          <p:spPr>
            <a:xfrm>
              <a:off x="6084843" y="1236871"/>
              <a:ext cx="1847171" cy="1014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Database and</a:t>
              </a:r>
            </a:p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Interface</a:t>
              </a:r>
            </a:p>
            <a:p>
              <a:r>
                <a:rPr lang="zh-CN" altLang="en-US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（IoT）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03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/>
          <p:cNvGrpSpPr/>
          <p:nvPr/>
        </p:nvGrpSpPr>
        <p:grpSpPr>
          <a:xfrm>
            <a:off x="5697897" y="3874481"/>
            <a:ext cx="2659458" cy="460375"/>
            <a:chOff x="5516035" y="1205441"/>
            <a:chExt cx="2659458" cy="460375"/>
          </a:xfrm>
        </p:grpSpPr>
        <p:sp>
          <p:nvSpPr>
            <p:cNvPr id="77" name="矩形 76"/>
            <p:cNvSpPr/>
            <p:nvPr/>
          </p:nvSpPr>
          <p:spPr>
            <a:xfrm>
              <a:off x="6084843" y="1226711"/>
              <a:ext cx="2090650" cy="398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ln w="38100">
                    <a:noFill/>
                  </a:ln>
                  <a:solidFill>
                    <a:schemeClr val="accent1"/>
                  </a:solidFill>
                  <a:latin typeface="+mj-ea"/>
                  <a:ea typeface="+mj-ea"/>
                  <a:sym typeface="+mn-lt"/>
                </a:rPr>
                <a:t>Summary</a:t>
              </a: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5516035" y="1205441"/>
              <a:ext cx="569888" cy="460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2000" spc="-300">
                  <a:ln w="38100">
                    <a:noFill/>
                  </a:ln>
                  <a:solidFill>
                    <a:srgbClr val="D53D2A"/>
                  </a:solidFill>
                  <a:effectLst>
                    <a:outerShdw blurRad="127000" dist="127000" dir="5400000" algn="t" rotWithShape="0">
                      <a:srgbClr val="D53D2A">
                        <a:alpha val="20000"/>
                      </a:srgb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pPr algn="ctr"/>
              <a:r>
                <a:rPr lang="en-US" altLang="zh-CN" sz="2400" spc="-150">
                  <a:solidFill>
                    <a:schemeClr val="accent1"/>
                  </a:solidFill>
                  <a:effectLst/>
                </a:rPr>
                <a:t>04</a:t>
              </a:r>
              <a:endParaRPr lang="zh-CN" altLang="en-US" sz="2400" spc="-150">
                <a:solidFill>
                  <a:schemeClr val="accent1"/>
                </a:solidFill>
                <a:effectLst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>
            <a:xfrm>
              <a:off x="6048880" y="1359822"/>
              <a:ext cx="0" cy="141573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Freeform 5"/>
          <p:cNvSpPr/>
          <p:nvPr/>
        </p:nvSpPr>
        <p:spPr bwMode="auto">
          <a:xfrm>
            <a:off x="482407" y="3114988"/>
            <a:ext cx="957172" cy="110531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731203" y="3630685"/>
            <a:ext cx="770459" cy="889708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867424" y="803868"/>
            <a:ext cx="558238" cy="64464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1033780" y="2346325"/>
            <a:ext cx="252857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400">
                <a:ln w="38100"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</a:p>
        </p:txBody>
      </p:sp>
      <p:sp>
        <p:nvSpPr>
          <p:cNvPr id="84" name="矩形 83"/>
          <p:cNvSpPr/>
          <p:nvPr/>
        </p:nvSpPr>
        <p:spPr bwMode="auto">
          <a:xfrm>
            <a:off x="946150" y="2242185"/>
            <a:ext cx="252857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57905" y="98425"/>
            <a:ext cx="20281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457200"/>
            <a:r>
              <a:rPr lang="en-US" altLang="zh-CN" sz="20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Build &amp; Design</a:t>
            </a:r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2925445" y="491490"/>
            <a:ext cx="328231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715010" y="685800"/>
            <a:ext cx="4015105" cy="2136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utomated </a:t>
            </a:r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R</a:t>
            </a:r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obots</a:t>
            </a:r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Design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46345" y="3657667"/>
            <a:ext cx="1954808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Team members</a:t>
            </a:r>
            <a:r>
              <a:rPr lang="zh-CN" altLang="en-US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                               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1801495" y="3023235"/>
            <a:ext cx="28898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lgun Gothic Semilight" panose="020B0502040204020203" charset="-122"/>
                <a:ea typeface="Malgun Gothic Semilight" panose="020B0502040204020203" charset="-122"/>
                <a:sym typeface="思源黑体 CN Normal" panose="020B0400000000000000" charset="-122"/>
              </a:rPr>
              <a:t>Design of the circuit and implementation of the functions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447253" y="995737"/>
            <a:ext cx="4468147" cy="3468687"/>
            <a:chOff x="3835221" y="746966"/>
            <a:chExt cx="5080179" cy="3943816"/>
          </a:xfrm>
          <a:blipFill>
            <a:blip r:embed="rId3"/>
            <a:stretch>
              <a:fillRect/>
            </a:stretch>
          </a:blipFill>
        </p:grpSpPr>
        <p:cxnSp>
          <p:nvCxnSpPr>
            <p:cNvPr id="18" name="直接连接符 17"/>
            <p:cNvCxnSpPr/>
            <p:nvPr/>
          </p:nvCxnSpPr>
          <p:spPr>
            <a:xfrm>
              <a:off x="3835221" y="2708508"/>
              <a:ext cx="1546583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5"/>
            <p:cNvSpPr/>
            <p:nvPr/>
          </p:nvSpPr>
          <p:spPr bwMode="auto">
            <a:xfrm>
              <a:off x="5524968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6204044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"/>
            <p:cNvSpPr/>
            <p:nvPr/>
          </p:nvSpPr>
          <p:spPr bwMode="auto">
            <a:xfrm>
              <a:off x="481899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550479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"/>
            <p:cNvSpPr/>
            <p:nvPr/>
          </p:nvSpPr>
          <p:spPr bwMode="auto">
            <a:xfrm>
              <a:off x="760253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6889844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5"/>
            <p:cNvSpPr/>
            <p:nvPr/>
          </p:nvSpPr>
          <p:spPr bwMode="auto">
            <a:xfrm>
              <a:off x="6903290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5"/>
            <p:cNvSpPr/>
            <p:nvPr/>
          </p:nvSpPr>
          <p:spPr bwMode="auto">
            <a:xfrm>
              <a:off x="411302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672352" y="3482788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7910" y="3849370"/>
            <a:ext cx="24917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Tangxun Wu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Boyang He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Guanyi Lin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Donngze Sun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Weiping Kong</a:t>
            </a:r>
            <a:endParaRPr lang="en-US" altLang="zh-CN" sz="140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06019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1130" y="71755"/>
            <a:ext cx="2785110" cy="9188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Mission R</a:t>
            </a:r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equirements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665"/>
            <a:ext cx="3919220" cy="26384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77360" y="487680"/>
            <a:ext cx="4428490" cy="2975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Basic requirements: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1. follows black line tracks on the floor;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2. stops at marked positions and records the position of the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goods of four possible colours (red, blue, yellow and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green) along the track;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3. stops when it is back to the base PC;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4. offloads the recorded positions to the hardware-database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interface software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• Possible advanced functions: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– connect to the host PC wirelessly and transmit the positions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of the goods in real time.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– self-designed other functions.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73475" y="3497580"/>
            <a:ext cx="5121275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r>
              <a:rPr lang="en-US" altLang="zh-CN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                                           </a:t>
            </a:r>
            <a:r>
              <a:rPr lang="zh-CN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</a:p>
          <a:p>
            <a:r>
              <a:rPr lang="en-US" altLang="zh-CN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                                             </a:t>
            </a:r>
            <a:endParaRPr lang="zh-CN" altLang="en-US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   </a:t>
            </a:r>
            <a:r>
              <a:rPr lang="en-US" altLang="zh-CN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                                                          </a:t>
            </a:r>
            <a:endParaRPr lang="zh-CN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54185" y="3410869"/>
            <a:ext cx="187037" cy="9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4510405" y="78740"/>
            <a:ext cx="32689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457200"/>
            <a:r>
              <a:rPr lang="en-US" altLang="zh-CN" sz="2000"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zh-CN" altLang="en-US" sz="2000"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utomated </a:t>
            </a:r>
            <a:r>
              <a:rPr lang="en-US" altLang="zh-CN" sz="2000"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R</a:t>
            </a:r>
            <a:r>
              <a:rPr lang="zh-CN" altLang="en-US" sz="2000"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obots</a:t>
            </a:r>
            <a:r>
              <a:rPr lang="en-US" altLang="zh-CN" sz="2000"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Design</a:t>
            </a:r>
          </a:p>
        </p:txBody>
      </p:sp>
      <p:sp>
        <p:nvSpPr>
          <p:cNvPr id="19" name="文本框 18"/>
          <p:cNvSpPr txBox="1"/>
          <p:nvPr/>
        </p:nvSpPr>
        <p:spPr>
          <a:xfrm rot="19860000">
            <a:off x="7119620" y="3295015"/>
            <a:ext cx="102362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Innovative </a:t>
            </a:r>
          </a:p>
          <a:p>
            <a:pPr algn="ctr"/>
            <a:r>
              <a:rPr lang="zh-CN" altLang="en-US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design</a:t>
            </a:r>
            <a:r>
              <a:rPr lang="en-US" altLang="zh-CN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  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 rot="480000">
            <a:off x="5761355" y="4058285"/>
            <a:ext cx="321119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sym typeface="+mn-ea"/>
              </a:rPr>
              <a:t>Comprehensive documentation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 rot="21060000">
            <a:off x="4022090" y="4588510"/>
            <a:ext cx="1970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+mn-ea"/>
              </a:rPr>
              <a:t>Excellent teamwork</a:t>
            </a:r>
            <a:endParaRPr lang="zh-CN" alt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7530465" y="1481455"/>
            <a:ext cx="10979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sym typeface="+mn-ea"/>
              </a:rPr>
              <a:t> </a:t>
            </a:r>
            <a:r>
              <a:rPr lang="zh-CN" altLang="en-US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Effective marketing</a:t>
            </a:r>
            <a:r>
              <a:rPr lang="en-US" altLang="zh-CN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 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 rot="1140000">
            <a:off x="3629025" y="3821430"/>
            <a:ext cx="16249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sym typeface="+mn-ea"/>
              </a:rPr>
              <a:t>Careful planning</a:t>
            </a:r>
            <a:endParaRPr lang="zh-CN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684270" y="82550"/>
            <a:ext cx="1776095" cy="501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A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ppearance</a:t>
            </a:r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57150" y="3092450"/>
            <a:ext cx="8858249" cy="1829118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865" y="1778635"/>
            <a:ext cx="3812540" cy="2207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975" y="1309370"/>
            <a:ext cx="307086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677" y="437198"/>
            <a:ext cx="2874645" cy="24466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77137" y="489839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 dirty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6130" y="3089910"/>
            <a:ext cx="2411095" cy="1808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小车避障 的图像结果"/>
          <p:cNvPicPr>
            <a:picLocks noChangeAspect="1" noChangeArrowheads="1"/>
          </p:cNvPicPr>
          <p:nvPr/>
        </p:nvPicPr>
        <p:blipFill rotWithShape="1">
          <a:blip r:embed="rId3"/>
          <a:srcRect t="18371" r="34833"/>
          <a:stretch>
            <a:fillRect/>
          </a:stretch>
        </p:blipFill>
        <p:spPr bwMode="auto">
          <a:xfrm>
            <a:off x="6890397" y="3566098"/>
            <a:ext cx="2202803" cy="156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76307" y="159565"/>
            <a:ext cx="242951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Basic  Functions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22859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372626" y="3696970"/>
            <a:ext cx="1668899" cy="49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Sensor for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Color Identification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461060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605087" y="3566099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Sensor for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Infrared Obstacle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Avoidance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72528" y="702043"/>
            <a:ext cx="432067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Do infrared tracking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Obstacle avoidance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Useful for normal running!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35" y="1924050"/>
            <a:ext cx="1894840" cy="1587500"/>
          </a:xfrm>
          <a:prstGeom prst="rect">
            <a:avLst/>
          </a:prstGeom>
        </p:spPr>
      </p:pic>
      <p:pic>
        <p:nvPicPr>
          <p:cNvPr id="1026" name="Picture 2" descr="查看源图像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45729" y="1948586"/>
            <a:ext cx="26670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080" y="2091690"/>
            <a:ext cx="1742440" cy="131399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8"/>
          <a:srcRect b="56420"/>
          <a:stretch>
            <a:fillRect/>
          </a:stretch>
        </p:blipFill>
        <p:spPr>
          <a:xfrm>
            <a:off x="1628241" y="768846"/>
            <a:ext cx="1516046" cy="1227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43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76307" y="159565"/>
            <a:ext cx="242951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Basic  Functions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22859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372626" y="3696970"/>
            <a:ext cx="1668899" cy="49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Sensor for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Infrared </a:t>
            </a: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T</a:t>
            </a:r>
            <a:r>
              <a:rPr lang="zh-CN" altLang="en-US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racking 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461060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587294" y="3632728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Ultrasonic Ranging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&amp; Warehouse Counting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65329" y="713683"/>
            <a:ext cx="487498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3.     Identify the cargos via color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4.    Warehouse location counting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Optimized algorithm  for accuracy!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520" y="772917"/>
            <a:ext cx="1970405" cy="114109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94" y="2082756"/>
            <a:ext cx="1841500" cy="143383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8813" y="2107676"/>
            <a:ext cx="1519402" cy="151940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7"/>
          <a:srcRect l="47984" t="9445" r="11404" b="12222"/>
          <a:stretch>
            <a:fillRect/>
          </a:stretch>
        </p:blipFill>
        <p:spPr>
          <a:xfrm>
            <a:off x="4729307" y="1899942"/>
            <a:ext cx="2222737" cy="1607723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705349" y="3742143"/>
            <a:ext cx="42881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Transform RGB into HSV for identifying color.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Apply distance to do if-else judgement for </a:t>
            </a:r>
          </a:p>
          <a:p>
            <a:r>
              <a:rPr lang="en-US" altLang="zh-CN" sz="1400" dirty="0"/>
              <a:t>	better warehouse counting.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47369" y="109484"/>
            <a:ext cx="54517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1: Environmental monitoring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704850" y="13059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889000" y="3335020"/>
            <a:ext cx="174244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Environmental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</a:t>
            </a:r>
            <a:r>
              <a:rPr lang="zh-CN" altLang="en-US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arameter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</a:t>
            </a:r>
            <a:r>
              <a:rPr lang="zh-CN" altLang="en-US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cquisition </a:t>
            </a: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sensor</a:t>
            </a:r>
            <a:endParaRPr lang="zh-CN" altLang="en-US" sz="1200" dirty="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525423" y="415864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32" y="1808480"/>
            <a:ext cx="1392697" cy="1100284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96658" y="639601"/>
            <a:ext cx="432067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Detect indoor humidity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Measure the temperature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For better cargo storage!</a:t>
            </a:r>
          </a:p>
          <a:p>
            <a:pPr marL="457200" indent="-457200">
              <a:buAutoNum type="arabicPeriod"/>
            </a:pPr>
            <a:endParaRPr lang="en-US" altLang="zh-CN" sz="2400" dirty="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2039" y="1970824"/>
            <a:ext cx="3539129" cy="28065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8" grpId="0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47369" y="109484"/>
            <a:ext cx="596516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2: Emergency control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: 圆角 23"/>
          <p:cNvSpPr/>
          <p:nvPr/>
        </p:nvSpPr>
        <p:spPr>
          <a:xfrm>
            <a:off x="322737" y="1512631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1136961" y="4270078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/>
          <p:cNvSpPr/>
          <p:nvPr/>
        </p:nvSpPr>
        <p:spPr>
          <a:xfrm>
            <a:off x="2541506" y="1512631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3355730" y="4270078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66803" y="3653459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Fire/flame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Alarm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78" y="1791639"/>
            <a:ext cx="1903095" cy="14516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901393" y="3680764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Photosensitive/light Alarm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039" y="1864028"/>
            <a:ext cx="1911188" cy="152336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74900" y="614625"/>
            <a:ext cx="60376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Detect flame and give warning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Avoid robbers by checking strong light</a:t>
            </a:r>
          </a:p>
        </p:txBody>
      </p:sp>
      <p:pic>
        <p:nvPicPr>
          <p:cNvPr id="2050" name="Picture 2" descr="查看源图像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31887" y="1699144"/>
            <a:ext cx="4068762" cy="26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1" grpId="0" animBg="1"/>
      <p:bldP spid="31" grpId="1" animBg="1"/>
      <p:bldP spid="8" grpId="0"/>
      <p:bldP spid="8" grpId="1"/>
      <p:bldP spid="20" grpId="0"/>
      <p:bldP spid="20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5472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47369" y="109484"/>
            <a:ext cx="582668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3: Wi-Fi wireless transmission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704850" y="13059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889000" y="3335020"/>
            <a:ext cx="174244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Wi-Fi connection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upload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sensor ESP32</a:t>
            </a:r>
            <a:endParaRPr lang="zh-CN" altLang="en-US" sz="1200" dirty="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525423" y="415864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800072" y="3258701"/>
            <a:ext cx="6343928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1.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Sensors read data from the environment </a:t>
            </a:r>
          </a:p>
          <a:p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	and transmit them to the main 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2.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The main board exchanges data to esp32.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3.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Esp32 establishes a transmission protocol with the </a:t>
            </a:r>
            <a:r>
              <a:rPr lang="en-US" altLang="zh-CN" sz="1400" dirty="0" err="1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OneNET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 platform 	and uploads data into the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4.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IoT students download the data stream and form an excel sheet.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93" y="1793604"/>
            <a:ext cx="1327207" cy="130793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 r="20389"/>
          <a:stretch>
            <a:fillRect/>
          </a:stretch>
        </p:blipFill>
        <p:spPr>
          <a:xfrm>
            <a:off x="2892426" y="683443"/>
            <a:ext cx="2030494" cy="121761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381217"/>
            <a:ext cx="4165600" cy="18774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8" grpId="0"/>
      <p:bldP spid="1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26670" y="-5719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75589" y="122661"/>
            <a:ext cx="611878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4: LCD screen for displaying data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141857" y="1126596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85884" y="3318463"/>
            <a:ext cx="1742440" cy="430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LCD 1602</a:t>
            </a:r>
            <a:endParaRPr lang="zh-CN" altLang="en-US" sz="1200" dirty="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972583" y="387924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 dirty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882" y="3453323"/>
            <a:ext cx="1834066" cy="137903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/>
          <a:srcRect t="16970" b="27592"/>
          <a:stretch>
            <a:fillRect/>
          </a:stretch>
        </p:blipFill>
        <p:spPr>
          <a:xfrm>
            <a:off x="158359" y="2246427"/>
            <a:ext cx="2030494" cy="93752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365766" y="817925"/>
            <a:ext cx="590012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Distance, color, temperature, humidity, warehouse number are all displayed there!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650" y="1942494"/>
            <a:ext cx="5251450" cy="2200345"/>
          </a:xfrm>
          <a:prstGeom prst="rect">
            <a:avLst/>
          </a:prstGeom>
        </p:spPr>
      </p:pic>
      <p:pic>
        <p:nvPicPr>
          <p:cNvPr id="19" name="图片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182" y="1180559"/>
            <a:ext cx="1674813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8" grpId="0"/>
      <p:bldP spid="1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4"/>
          <a:srcRect b="9988"/>
          <a:stretch>
            <a:fillRect/>
          </a:stretch>
        </p:blipFill>
        <p:spPr>
          <a:xfrm>
            <a:off x="2199019" y="4326937"/>
            <a:ext cx="2219700" cy="8165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655" y="3141980"/>
            <a:ext cx="1143000" cy="6604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86835" y="160655"/>
            <a:ext cx="13696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Summary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pic>
        <p:nvPicPr>
          <p:cNvPr id="5" name="图片 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4" t="38574" r="20380" b="33644"/>
          <a:stretch>
            <a:fillRect/>
          </a:stretch>
        </p:blipFill>
        <p:spPr bwMode="auto">
          <a:xfrm>
            <a:off x="6877709" y="3116790"/>
            <a:ext cx="2219700" cy="1024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1" t="7886" r="12614"/>
          <a:stretch>
            <a:fillRect/>
          </a:stretch>
        </p:blipFill>
        <p:spPr bwMode="auto">
          <a:xfrm>
            <a:off x="7207892" y="1391801"/>
            <a:ext cx="1926068" cy="173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" t="2750" b="3336"/>
          <a:stretch>
            <a:fillRect/>
          </a:stretch>
        </p:blipFill>
        <p:spPr bwMode="auto">
          <a:xfrm>
            <a:off x="6907761" y="282971"/>
            <a:ext cx="1142707" cy="1102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框 18"/>
          <p:cNvSpPr txBox="1"/>
          <p:nvPr/>
        </p:nvSpPr>
        <p:spPr>
          <a:xfrm>
            <a:off x="46591" y="2160199"/>
            <a:ext cx="38779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Good-looking appearance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Multiple comprehensive 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Good data collection and update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Lower cost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Better commercial use</a:t>
            </a:r>
          </a:p>
          <a:p>
            <a:endParaRPr lang="en-US" altLang="zh-CN" sz="1400" b="1" dirty="0">
              <a:highlight>
                <a:srgbClr val="B49D86"/>
              </a:highlight>
            </a:endParaRPr>
          </a:p>
          <a:p>
            <a:r>
              <a:rPr lang="en-US" altLang="zh-CN" sz="1400" b="1" dirty="0">
                <a:highlight>
                  <a:srgbClr val="B49D86"/>
                </a:highlight>
              </a:rPr>
              <a:t>Perfect smart car from group 16!</a:t>
            </a:r>
            <a:endParaRPr lang="zh-CN" altLang="en-US" sz="1400" b="1" dirty="0">
              <a:highlight>
                <a:srgbClr val="B49D86"/>
              </a:highlight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687" y="909467"/>
            <a:ext cx="2213182" cy="128169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7205" y="4179367"/>
            <a:ext cx="3092176" cy="912468"/>
          </a:xfrm>
          <a:prstGeom prst="rect">
            <a:avLst/>
          </a:prstGeom>
        </p:spPr>
      </p:pic>
      <p:pic>
        <p:nvPicPr>
          <p:cNvPr id="23" name="图片 22" descr="图片包含 室内, 桌子, 小, 小孩&#10;&#10;描述已自动生成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43" y="4114415"/>
            <a:ext cx="2169857" cy="9275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110CA1-212E-1D95-F0FA-3F91B26DBA3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4105" y="820589"/>
            <a:ext cx="3364850" cy="3329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485874" y="562318"/>
            <a:ext cx="4086126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48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Web Design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99847" y="3011522"/>
            <a:ext cx="3972153" cy="1168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en-US" altLang="zh-CN" sz="1400" spc="0" dirty="0">
                <a:solidFill>
                  <a:schemeClr val="accent1"/>
                </a:solidFill>
                <a:effectLst/>
              </a:rPr>
              <a:t>E-Commerce</a:t>
            </a:r>
          </a:p>
          <a:p>
            <a:r>
              <a:rPr lang="en-US" altLang="zh-CN" sz="1400" spc="0" dirty="0">
                <a:solidFill>
                  <a:schemeClr val="accent1"/>
                </a:solidFill>
                <a:effectLst/>
              </a:rPr>
              <a:t>Team members</a:t>
            </a:r>
            <a:r>
              <a:rPr lang="zh-CN" altLang="en-US" sz="1400" spc="0" dirty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endParaRPr lang="en-US" altLang="zh-CN" sz="1400" spc="0" dirty="0">
              <a:solidFill>
                <a:schemeClr val="accent1"/>
              </a:solidFill>
              <a:effectLst/>
              <a:sym typeface="思源黑体 CN Normal" panose="020B0400000000000000" charset="-122"/>
            </a:endParaRPr>
          </a:p>
          <a:p>
            <a:r>
              <a:rPr lang="en-US" altLang="zh-CN" sz="1400" spc="0" dirty="0" err="1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Jingru</a:t>
            </a:r>
            <a:r>
              <a:rPr lang="en-US" altLang="zh-CN" sz="1400" spc="0" dirty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Dai	</a:t>
            </a:r>
          </a:p>
          <a:p>
            <a:r>
              <a:rPr lang="en-US" altLang="zh-CN" sz="1400" spc="0" dirty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Xinyi Li	       </a:t>
            </a:r>
          </a:p>
          <a:p>
            <a:r>
              <a:rPr lang="en-US" altLang="zh-CN" sz="1400" spc="0" dirty="0" err="1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Xianglong</a:t>
            </a:r>
            <a:r>
              <a:rPr lang="en-US" altLang="zh-CN" sz="1400" spc="0" dirty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Qin</a:t>
            </a:r>
          </a:p>
        </p:txBody>
      </p:sp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880745" y="1565910"/>
            <a:ext cx="4096385" cy="982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0" i="0" dirty="0">
                <a:solidFill>
                  <a:srgbClr val="101214"/>
                </a:solidFill>
                <a:effectLst/>
                <a:latin typeface="PingFang SC"/>
              </a:rPr>
              <a:t>Database Management &amp; 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101214"/>
                </a:solidFill>
                <a:latin typeface="PingFang SC"/>
              </a:rPr>
              <a:t>A</a:t>
            </a:r>
            <a:r>
              <a:rPr lang="en-US" altLang="zh-CN" sz="2000" b="0" i="0" dirty="0">
                <a:solidFill>
                  <a:srgbClr val="101214"/>
                </a:solidFill>
                <a:effectLst/>
                <a:latin typeface="PingFang SC"/>
              </a:rPr>
              <a:t>dministrator Side Software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447253" y="995737"/>
            <a:ext cx="4468147" cy="3468687"/>
            <a:chOff x="3835221" y="746966"/>
            <a:chExt cx="5080179" cy="3943816"/>
          </a:xfrm>
          <a:blipFill>
            <a:blip r:embed="rId2"/>
            <a:stretch>
              <a:fillRect/>
            </a:stretch>
          </a:blipFill>
        </p:grpSpPr>
        <p:cxnSp>
          <p:nvCxnSpPr>
            <p:cNvPr id="18" name="直接连接符 17"/>
            <p:cNvCxnSpPr/>
            <p:nvPr/>
          </p:nvCxnSpPr>
          <p:spPr>
            <a:xfrm>
              <a:off x="3835221" y="2708508"/>
              <a:ext cx="1546583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5"/>
            <p:cNvSpPr/>
            <p:nvPr/>
          </p:nvSpPr>
          <p:spPr bwMode="auto">
            <a:xfrm>
              <a:off x="5524968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6204044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"/>
            <p:cNvSpPr/>
            <p:nvPr/>
          </p:nvSpPr>
          <p:spPr bwMode="auto">
            <a:xfrm>
              <a:off x="481899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550479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"/>
            <p:cNvSpPr/>
            <p:nvPr/>
          </p:nvSpPr>
          <p:spPr bwMode="auto">
            <a:xfrm>
              <a:off x="760253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6889844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5"/>
            <p:cNvSpPr/>
            <p:nvPr/>
          </p:nvSpPr>
          <p:spPr bwMode="auto">
            <a:xfrm>
              <a:off x="6903290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5"/>
            <p:cNvSpPr/>
            <p:nvPr/>
          </p:nvSpPr>
          <p:spPr bwMode="auto">
            <a:xfrm>
              <a:off x="411302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725855" y="2836643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矩形 53"/>
          <p:cNvSpPr/>
          <p:nvPr/>
        </p:nvSpPr>
        <p:spPr>
          <a:xfrm>
            <a:off x="6055360" y="1056005"/>
            <a:ext cx="2978785" cy="3924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Mission Requirements</a:t>
            </a:r>
            <a:endParaRPr lang="zh-CN" altLang="en-US" sz="20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488982" y="1033811"/>
            <a:ext cx="569888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2400" spc="-150" dirty="0">
                <a:solidFill>
                  <a:schemeClr val="accent1"/>
                </a:solidFill>
                <a:effectLst/>
              </a:rPr>
              <a:t>01</a:t>
            </a:r>
            <a:endParaRPr lang="zh-CN" altLang="en-US" sz="2400" spc="-15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57" name="直接连接符 56"/>
          <p:cNvCxnSpPr/>
          <p:nvPr/>
        </p:nvCxnSpPr>
        <p:spPr>
          <a:xfrm>
            <a:off x="6020557" y="1211052"/>
            <a:ext cx="0" cy="14157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5"/>
          <p:cNvSpPr/>
          <p:nvPr/>
        </p:nvSpPr>
        <p:spPr bwMode="auto">
          <a:xfrm>
            <a:off x="1018148" y="1165608"/>
            <a:ext cx="2610089" cy="301406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6057788" y="1672789"/>
            <a:ext cx="1847171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Technology</a:t>
            </a:r>
            <a:endParaRPr lang="zh-CN" altLang="zh-CN" sz="20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  <a:p>
            <a:endParaRPr lang="zh-CN" altLang="en-US" sz="20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488981" y="1649842"/>
            <a:ext cx="569888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2400" spc="-150" dirty="0">
                <a:solidFill>
                  <a:schemeClr val="accent1"/>
                </a:solidFill>
                <a:effectLst/>
              </a:rPr>
              <a:t>02</a:t>
            </a:r>
            <a:endParaRPr lang="zh-CN" altLang="en-US" sz="2400" spc="-15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63" name="直接连接符 62"/>
          <p:cNvCxnSpPr/>
          <p:nvPr/>
        </p:nvCxnSpPr>
        <p:spPr>
          <a:xfrm>
            <a:off x="6021826" y="1804223"/>
            <a:ext cx="0" cy="14157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6057788" y="2273318"/>
            <a:ext cx="184717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Database</a:t>
            </a:r>
            <a:endParaRPr lang="zh-CN" altLang="zh-CN" sz="20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488981" y="2254074"/>
            <a:ext cx="569888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2400" spc="-150">
                <a:solidFill>
                  <a:schemeClr val="accent1"/>
                </a:solidFill>
                <a:effectLst/>
              </a:rPr>
              <a:t>03</a:t>
            </a:r>
            <a:endParaRPr lang="zh-CN" altLang="en-US" sz="2400" spc="-150">
              <a:solidFill>
                <a:schemeClr val="accent1"/>
              </a:solidFill>
              <a:effectLst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021826" y="2408455"/>
            <a:ext cx="0" cy="14157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6056707" y="2857702"/>
            <a:ext cx="209065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Function</a:t>
            </a:r>
            <a:endParaRPr lang="zh-CN" altLang="zh-CN" sz="20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5487900" y="2832590"/>
            <a:ext cx="569888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2400" spc="-150">
                <a:solidFill>
                  <a:schemeClr val="accent1"/>
                </a:solidFill>
                <a:effectLst/>
              </a:rPr>
              <a:t>04</a:t>
            </a:r>
            <a:endParaRPr lang="zh-CN" altLang="en-US" sz="2400" spc="-150">
              <a:solidFill>
                <a:schemeClr val="accent1"/>
              </a:solidFill>
              <a:effectLst/>
            </a:endParaRPr>
          </a:p>
        </p:txBody>
      </p:sp>
      <p:cxnSp>
        <p:nvCxnSpPr>
          <p:cNvPr id="80" name="直接连接符 79"/>
          <p:cNvCxnSpPr/>
          <p:nvPr/>
        </p:nvCxnSpPr>
        <p:spPr>
          <a:xfrm>
            <a:off x="6020745" y="2986971"/>
            <a:ext cx="0" cy="14157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Freeform 5"/>
          <p:cNvSpPr/>
          <p:nvPr/>
        </p:nvSpPr>
        <p:spPr bwMode="auto">
          <a:xfrm>
            <a:off x="482407" y="3114988"/>
            <a:ext cx="957172" cy="110531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731203" y="3630685"/>
            <a:ext cx="770459" cy="889708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867424" y="803868"/>
            <a:ext cx="558238" cy="64464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4" name="矩形 83"/>
          <p:cNvSpPr/>
          <p:nvPr/>
        </p:nvSpPr>
        <p:spPr bwMode="auto">
          <a:xfrm>
            <a:off x="1366128" y="2215999"/>
            <a:ext cx="276979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36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CONTENTS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6055360" y="3430270"/>
            <a:ext cx="2842260" cy="4184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Business Analysis</a:t>
            </a:r>
            <a:endParaRPr lang="zh-CN" altLang="zh-CN" sz="20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6819" y="3411106"/>
            <a:ext cx="569888" cy="461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2000" spc="-30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2400" spc="-150" dirty="0">
                <a:solidFill>
                  <a:schemeClr val="accent1"/>
                </a:solidFill>
                <a:effectLst/>
              </a:rPr>
              <a:t>05</a:t>
            </a:r>
            <a:endParaRPr lang="zh-CN" altLang="en-US" sz="2400" spc="-150" dirty="0">
              <a:solidFill>
                <a:schemeClr val="accent1"/>
              </a:solidFill>
              <a:effectLst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020745" y="3585792"/>
            <a:ext cx="0" cy="141573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60" grpId="0"/>
      <p:bldP spid="62" grpId="0"/>
      <p:bldP spid="66" grpId="0"/>
      <p:bldP spid="69" grpId="0"/>
      <p:bldP spid="77" grpId="0"/>
      <p:bldP spid="79" grpId="0"/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矩形 36"/>
          <p:cNvSpPr/>
          <p:nvPr/>
        </p:nvSpPr>
        <p:spPr bwMode="auto">
          <a:xfrm>
            <a:off x="4467533" y="1788404"/>
            <a:ext cx="4447867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Mission Requirements</a:t>
            </a:r>
            <a:endParaRPr lang="zh-CN" altLang="en-US" sz="48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42485" y="3556635"/>
            <a:ext cx="1513205" cy="24955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+mj-ea"/>
                <a:ea typeface="+mj-ea"/>
              </a:rPr>
              <a:t>The first unit</a:t>
            </a:r>
            <a:endParaRPr lang="zh-CN" altLang="en-US" sz="1200" dirty="0"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457200"/>
            <a:r>
              <a:rPr lang="en-US" altLang="zh-CN" sz="48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01</a:t>
            </a: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1100">
                <a:ln w="38100">
                  <a:noFill/>
                </a:ln>
                <a:solidFill>
                  <a:schemeClr val="bg1">
                    <a:alpha val="31000"/>
                  </a:schemeClr>
                </a:solidFill>
                <a:latin typeface="+mj-ea"/>
                <a:ea typeface="+mj-ea"/>
                <a:sym typeface="思源黑体 CN Normal" panose="020B0400000000000000" charset="-122"/>
              </a:rPr>
              <a:t>PARTONE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06019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4"/>
          <a:stretch>
            <a:fillRect/>
          </a:stretch>
        </p:blipFill>
        <p:spPr>
          <a:xfrm>
            <a:off x="228601" y="933854"/>
            <a:ext cx="4343400" cy="361208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51407" y="137762"/>
            <a:ext cx="2784833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</a:rPr>
              <a:t>Mission Requirements</a:t>
            </a:r>
            <a:endParaRPr lang="zh-CN" altLang="en-US" sz="2400" dirty="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  <a:p>
            <a:pPr defTabSz="457200"/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921239" y="1231014"/>
            <a:ext cx="3955250" cy="9531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8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Mission Requirements</a:t>
            </a:r>
            <a:endParaRPr lang="zh-CN" altLang="en-US" sz="28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  <a:p>
            <a:pPr defTabSz="457200"/>
            <a:endParaRPr lang="zh-CN" altLang="en-US" sz="28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72050" y="2037715"/>
            <a:ext cx="3555365" cy="14166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Our e-commerce major is mainly responsible for designing databases with the IOT major and designing administrator website with the following functions: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1407" y="137762"/>
            <a:ext cx="2784833" cy="19380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</a:rPr>
              <a:t>Mission Requirements</a:t>
            </a:r>
            <a:endParaRPr lang="zh-CN" altLang="en-US" sz="2400" dirty="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  <a:p>
            <a:pPr defTabSz="457200"/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4666138" y="1496452"/>
            <a:ext cx="2030494" cy="3016244"/>
            <a:chOff x="4666138" y="1496452"/>
            <a:chExt cx="2030494" cy="3016244"/>
          </a:xfrm>
        </p:grpSpPr>
        <p:sp>
          <p:nvSpPr>
            <p:cNvPr id="31" name="矩形: 圆角 30"/>
            <p:cNvSpPr/>
            <p:nvPr/>
          </p:nvSpPr>
          <p:spPr>
            <a:xfrm>
              <a:off x="4666138" y="1496452"/>
              <a:ext cx="2030494" cy="3016244"/>
            </a:xfrm>
            <a:prstGeom prst="roundRect">
              <a:avLst>
                <a:gd name="adj" fmla="val 7843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734810" y="1832008"/>
              <a:ext cx="1893149" cy="1738906"/>
              <a:chOff x="3313137" y="1595336"/>
              <a:chExt cx="1999080" cy="1836206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3313137" y="2651546"/>
                <a:ext cx="1999080" cy="779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05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Normal" panose="020B0400000000000000" charset="-122"/>
                  </a:rPr>
                  <a:t>3. Allows administrators to query and edit worker information, create and delete workers.</a:t>
                </a:r>
                <a:endParaRPr lang="zh-CN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3947891" y="1595336"/>
                <a:ext cx="729575" cy="7295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5480362" y="4253899"/>
              <a:ext cx="40204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图片 4" descr="32313534313136373b32313534313135313bbacfd7f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4299" y="1984344"/>
              <a:ext cx="394173" cy="394173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228600" y="1496452"/>
            <a:ext cx="2030494" cy="3016244"/>
            <a:chOff x="228600" y="1496452"/>
            <a:chExt cx="2030494" cy="3016244"/>
          </a:xfrm>
        </p:grpSpPr>
        <p:sp>
          <p:nvSpPr>
            <p:cNvPr id="9" name="矩形: 圆角 8"/>
            <p:cNvSpPr/>
            <p:nvPr/>
          </p:nvSpPr>
          <p:spPr>
            <a:xfrm>
              <a:off x="228600" y="1496452"/>
              <a:ext cx="2030494" cy="3016244"/>
            </a:xfrm>
            <a:prstGeom prst="roundRect">
              <a:avLst>
                <a:gd name="adj" fmla="val 7843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359663" y="1832008"/>
              <a:ext cx="1893149" cy="1504407"/>
              <a:chOff x="3379020" y="1595336"/>
              <a:chExt cx="1999080" cy="158858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3379020" y="2745175"/>
                <a:ext cx="1999080" cy="4387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05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Normal" panose="020B0400000000000000" charset="-122"/>
                  </a:rPr>
                  <a:t>1. Allow administrators to log in and log out.</a:t>
                </a:r>
                <a:endParaRPr lang="zh-CN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3947891" y="1595336"/>
                <a:ext cx="729575" cy="7295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1" name="直接连接符 20"/>
            <p:cNvCxnSpPr/>
            <p:nvPr/>
          </p:nvCxnSpPr>
          <p:spPr>
            <a:xfrm>
              <a:off x="1042823" y="4253899"/>
              <a:ext cx="40204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4" name="图片 14" descr="32313534313136373b32313534313136303bc9cfc9fd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760" y="1984344"/>
              <a:ext cx="394173" cy="394173"/>
            </a:xfrm>
            <a:prstGeom prst="rect">
              <a:avLst/>
            </a:prstGeom>
          </p:spPr>
        </p:pic>
      </p:grpSp>
      <p:grpSp>
        <p:nvGrpSpPr>
          <p:cNvPr id="49" name="组合 48"/>
          <p:cNvGrpSpPr/>
          <p:nvPr/>
        </p:nvGrpSpPr>
        <p:grpSpPr>
          <a:xfrm>
            <a:off x="2447369" y="1496452"/>
            <a:ext cx="2030494" cy="3016244"/>
            <a:chOff x="2447369" y="1496452"/>
            <a:chExt cx="2030494" cy="3016244"/>
          </a:xfrm>
        </p:grpSpPr>
        <p:sp>
          <p:nvSpPr>
            <p:cNvPr id="24" name="矩形: 圆角 23"/>
            <p:cNvSpPr/>
            <p:nvPr/>
          </p:nvSpPr>
          <p:spPr>
            <a:xfrm>
              <a:off x="2447369" y="1496452"/>
              <a:ext cx="2030494" cy="3016244"/>
            </a:xfrm>
            <a:prstGeom prst="roundRect">
              <a:avLst>
                <a:gd name="adj" fmla="val 7843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2516041" y="1832008"/>
              <a:ext cx="1893149" cy="1738906"/>
              <a:chOff x="3313137" y="1595336"/>
              <a:chExt cx="1999080" cy="1836206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313137" y="2651546"/>
                <a:ext cx="1999080" cy="7799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05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Normal" panose="020B0400000000000000" charset="-122"/>
                  </a:rPr>
                  <a:t>2. Allows administrators to query and edit warehouse information, create and delete warehouses.</a:t>
                </a:r>
                <a:endParaRPr lang="zh-CN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3947891" y="1595336"/>
                <a:ext cx="729575" cy="7295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6" name="直接连接符 25"/>
            <p:cNvCxnSpPr/>
            <p:nvPr/>
          </p:nvCxnSpPr>
          <p:spPr>
            <a:xfrm>
              <a:off x="3261593" y="4253899"/>
              <a:ext cx="40204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图片 15" descr="32313534313136373b32313534313136313bcab1bce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5530" y="1984344"/>
              <a:ext cx="394173" cy="394173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/>
        </p:nvGrpSpPr>
        <p:grpSpPr>
          <a:xfrm>
            <a:off x="6884906" y="1496452"/>
            <a:ext cx="2030494" cy="3016244"/>
            <a:chOff x="6884906" y="1496452"/>
            <a:chExt cx="2030494" cy="3016244"/>
          </a:xfrm>
        </p:grpSpPr>
        <p:sp>
          <p:nvSpPr>
            <p:cNvPr id="38" name="矩形: 圆角 37"/>
            <p:cNvSpPr/>
            <p:nvPr/>
          </p:nvSpPr>
          <p:spPr>
            <a:xfrm>
              <a:off x="6884906" y="1496452"/>
              <a:ext cx="2030494" cy="3016244"/>
            </a:xfrm>
            <a:prstGeom prst="roundRect">
              <a:avLst>
                <a:gd name="adj" fmla="val 7843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6953578" y="1832008"/>
              <a:ext cx="1893149" cy="1896159"/>
              <a:chOff x="3313137" y="1595336"/>
              <a:chExt cx="1999080" cy="2002258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3313137" y="2646975"/>
                <a:ext cx="1999080" cy="9506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1050" kern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 CN Normal" panose="020B0400000000000000" charset="-122"/>
                  </a:rPr>
                  <a:t>4. Display the cargoes status (such as cargoes location) and information (such as cargoes type) of each warehouse.</a:t>
                </a:r>
                <a:endParaRPr lang="zh-CN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3947891" y="1595336"/>
                <a:ext cx="729575" cy="7295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0" name="直接连接符 39"/>
            <p:cNvCxnSpPr/>
            <p:nvPr/>
          </p:nvCxnSpPr>
          <p:spPr>
            <a:xfrm>
              <a:off x="7699130" y="4253899"/>
              <a:ext cx="402046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图片 16" descr="32313534313136373b32313534313136323bcafdbedd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03067" y="1984344"/>
              <a:ext cx="394173" cy="39417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4467533" y="1788404"/>
            <a:ext cx="444786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48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Technology</a:t>
            </a:r>
            <a:endParaRPr lang="zh-CN" altLang="zh-CN" sz="48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42338" y="3537019"/>
            <a:ext cx="1505543" cy="29754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</a:rPr>
              <a:t>The second unit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charset="-122"/>
              <a:ea typeface="思源宋体 CN Heavy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>
                <a:ln w="381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02</a:t>
            </a: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 w="38100">
                  <a:noFill/>
                </a:ln>
                <a:solidFill>
                  <a:prstClr val="white">
                    <a:alpha val="31000"/>
                  </a:prstClr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PARTTWO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1407" y="128034"/>
            <a:ext cx="278483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Technology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338886" y="766631"/>
            <a:ext cx="53421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In terms of technology, we mainly used</a:t>
            </a:r>
            <a:endParaRPr lang="zh-CN" altLang="en-US" sz="1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4471706" y="1155768"/>
            <a:ext cx="1452752" cy="1150016"/>
            <a:chOff x="1112129" y="1474583"/>
            <a:chExt cx="1452752" cy="1150016"/>
          </a:xfrm>
        </p:grpSpPr>
        <p:cxnSp>
          <p:nvCxnSpPr>
            <p:cNvPr id="8" name="直接连接符 7"/>
            <p:cNvCxnSpPr>
              <a:stCxn id="11" idx="0"/>
            </p:cNvCxnSpPr>
            <p:nvPr/>
          </p:nvCxnSpPr>
          <p:spPr>
            <a:xfrm flipV="1">
              <a:off x="1112129" y="1890814"/>
              <a:ext cx="599553" cy="23104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5"/>
            <p:cNvSpPr/>
            <p:nvPr/>
          </p:nvSpPr>
          <p:spPr bwMode="auto">
            <a:xfrm>
              <a:off x="1683826" y="1474583"/>
              <a:ext cx="746112" cy="861592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bg1"/>
            </a:solidFill>
            <a:ln w="28575" cap="flat">
              <a:solidFill>
                <a:schemeClr val="accent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5"/>
            <p:cNvSpPr/>
            <p:nvPr/>
          </p:nvSpPr>
          <p:spPr bwMode="auto">
            <a:xfrm>
              <a:off x="1784317" y="1587314"/>
              <a:ext cx="550869" cy="636131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accent1"/>
            </a:solidFill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矩形 2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1542316" y="2416580"/>
              <a:ext cx="1022565" cy="20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 err="1">
                  <a:solidFill>
                    <a:schemeClr val="accent1"/>
                  </a:solidFill>
                  <a:latin typeface="+mj-ea"/>
                  <a:ea typeface="+mj-ea"/>
                </a:rPr>
                <a:t>ElementUI</a:t>
              </a: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</a:rPr>
                <a:t> plus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pic>
          <p:nvPicPr>
            <p:cNvPr id="31" name="图片 5" descr="32313534313136373b32313534313134393bb9a4d7f7b3c9b9fb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6798" y="1758023"/>
              <a:ext cx="294713" cy="294713"/>
            </a:xfrm>
            <a:prstGeom prst="rect">
              <a:avLst/>
            </a:prstGeom>
          </p:spPr>
        </p:pic>
      </p:grpSp>
      <p:grpSp>
        <p:nvGrpSpPr>
          <p:cNvPr id="75" name="组合 74"/>
          <p:cNvGrpSpPr/>
          <p:nvPr/>
        </p:nvGrpSpPr>
        <p:grpSpPr>
          <a:xfrm>
            <a:off x="5795810" y="1587425"/>
            <a:ext cx="1381062" cy="1127834"/>
            <a:chOff x="2436233" y="1906240"/>
            <a:chExt cx="1381062" cy="1127834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2436233" y="2048403"/>
              <a:ext cx="592702" cy="30641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 5"/>
            <p:cNvSpPr/>
            <p:nvPr/>
          </p:nvSpPr>
          <p:spPr bwMode="auto">
            <a:xfrm>
              <a:off x="3001634" y="1906240"/>
              <a:ext cx="746112" cy="861592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bg1"/>
            </a:solidFill>
            <a:ln w="28575" cap="flat">
              <a:solidFill>
                <a:schemeClr val="accent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5"/>
            <p:cNvSpPr/>
            <p:nvPr/>
          </p:nvSpPr>
          <p:spPr bwMode="auto">
            <a:xfrm>
              <a:off x="3092990" y="2018971"/>
              <a:ext cx="550869" cy="636131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accent1"/>
            </a:solidFill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矩形 2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984824" y="2826055"/>
              <a:ext cx="832471" cy="20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</a:rPr>
                <a:t>Spring boot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pic>
          <p:nvPicPr>
            <p:cNvPr id="32" name="图片 6" descr="32313534313136373b32313534313135323bbbe3b1a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1068" y="2189680"/>
              <a:ext cx="294713" cy="294713"/>
            </a:xfrm>
            <a:prstGeom prst="rect">
              <a:avLst/>
            </a:prstGeom>
          </p:spPr>
        </p:pic>
      </p:grpSp>
      <p:grpSp>
        <p:nvGrpSpPr>
          <p:cNvPr id="76" name="组合 75"/>
          <p:cNvGrpSpPr/>
          <p:nvPr/>
        </p:nvGrpSpPr>
        <p:grpSpPr>
          <a:xfrm>
            <a:off x="7109607" y="1155768"/>
            <a:ext cx="1315525" cy="1121447"/>
            <a:chOff x="3750030" y="1474583"/>
            <a:chExt cx="1315525" cy="1121447"/>
          </a:xfrm>
        </p:grpSpPr>
        <p:cxnSp>
          <p:nvCxnSpPr>
            <p:cNvPr id="9" name="直接连接符 8"/>
            <p:cNvCxnSpPr/>
            <p:nvPr/>
          </p:nvCxnSpPr>
          <p:spPr>
            <a:xfrm flipV="1">
              <a:off x="3750030" y="1973035"/>
              <a:ext cx="592702" cy="30641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5"/>
            <p:cNvSpPr/>
            <p:nvPr/>
          </p:nvSpPr>
          <p:spPr bwMode="auto">
            <a:xfrm>
              <a:off x="4319443" y="1474583"/>
              <a:ext cx="746112" cy="861592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bg1"/>
            </a:solidFill>
            <a:ln w="28575" cap="flat">
              <a:solidFill>
                <a:schemeClr val="accent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5"/>
            <p:cNvSpPr/>
            <p:nvPr/>
          </p:nvSpPr>
          <p:spPr bwMode="auto">
            <a:xfrm>
              <a:off x="4415367" y="1587314"/>
              <a:ext cx="550869" cy="636131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accent1"/>
            </a:solidFill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矩形 2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4421973" y="2388011"/>
              <a:ext cx="586433" cy="20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 err="1">
                  <a:solidFill>
                    <a:schemeClr val="accent1"/>
                  </a:solidFill>
                  <a:latin typeface="+mj-ea"/>
                  <a:ea typeface="+mj-ea"/>
                </a:rPr>
                <a:t>mybatis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pic>
          <p:nvPicPr>
            <p:cNvPr id="33" name="图片 7" descr="32313534313136373b32313534313135333bbbe1bbb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2948" y="1769677"/>
              <a:ext cx="294713" cy="294713"/>
            </a:xfrm>
            <a:prstGeom prst="rect">
              <a:avLst/>
            </a:prstGeom>
          </p:spPr>
        </p:pic>
      </p:grpSp>
      <p:grpSp>
        <p:nvGrpSpPr>
          <p:cNvPr id="73" name="组合 72"/>
          <p:cNvGrpSpPr/>
          <p:nvPr/>
        </p:nvGrpSpPr>
        <p:grpSpPr>
          <a:xfrm>
            <a:off x="3725594" y="1587425"/>
            <a:ext cx="746112" cy="1144771"/>
            <a:chOff x="366017" y="1906240"/>
            <a:chExt cx="746112" cy="1144771"/>
          </a:xfrm>
        </p:grpSpPr>
        <p:sp>
          <p:nvSpPr>
            <p:cNvPr id="11" name="Freeform 5"/>
            <p:cNvSpPr/>
            <p:nvPr/>
          </p:nvSpPr>
          <p:spPr bwMode="auto">
            <a:xfrm>
              <a:off x="366017" y="1906240"/>
              <a:ext cx="746112" cy="861592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bg1"/>
            </a:solidFill>
            <a:ln w="28575" cap="flat">
              <a:solidFill>
                <a:schemeClr val="accent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5"/>
            <p:cNvSpPr/>
            <p:nvPr/>
          </p:nvSpPr>
          <p:spPr bwMode="auto">
            <a:xfrm>
              <a:off x="463638" y="2018971"/>
              <a:ext cx="550869" cy="636131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accent1"/>
            </a:solidFill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矩形 2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565851" y="2842992"/>
              <a:ext cx="343823" cy="208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</a:rPr>
                <a:t>Vue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pic>
          <p:nvPicPr>
            <p:cNvPr id="34" name="图片 17" descr="32313534313136373b32313534313136333bcdc5b6d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1717" y="2189680"/>
              <a:ext cx="294713" cy="294713"/>
            </a:xfrm>
            <a:prstGeom prst="rect">
              <a:avLst/>
            </a:prstGeom>
          </p:spPr>
        </p:pic>
      </p:grpSp>
      <p:grpSp>
        <p:nvGrpSpPr>
          <p:cNvPr id="78" name="组合 77"/>
          <p:cNvGrpSpPr/>
          <p:nvPr/>
        </p:nvGrpSpPr>
        <p:grpSpPr>
          <a:xfrm>
            <a:off x="1093708" y="2880175"/>
            <a:ext cx="1382064" cy="1326482"/>
            <a:chOff x="4180375" y="2938541"/>
            <a:chExt cx="1382064" cy="1326482"/>
          </a:xfrm>
        </p:grpSpPr>
        <p:cxnSp>
          <p:nvCxnSpPr>
            <p:cNvPr id="36" name="直接连接符 35"/>
            <p:cNvCxnSpPr>
              <a:stCxn id="40" idx="0"/>
            </p:cNvCxnSpPr>
            <p:nvPr/>
          </p:nvCxnSpPr>
          <p:spPr>
            <a:xfrm flipV="1">
              <a:off x="4180375" y="3375067"/>
              <a:ext cx="628787" cy="24231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reeform 5"/>
            <p:cNvSpPr/>
            <p:nvPr/>
          </p:nvSpPr>
          <p:spPr bwMode="auto">
            <a:xfrm>
              <a:off x="4779947" y="2938541"/>
              <a:ext cx="782492" cy="903602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bg1"/>
            </a:solidFill>
            <a:ln w="28575" cap="flat">
              <a:solidFill>
                <a:schemeClr val="accent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5"/>
            <p:cNvSpPr/>
            <p:nvPr/>
          </p:nvSpPr>
          <p:spPr bwMode="auto">
            <a:xfrm>
              <a:off x="4885338" y="3056769"/>
              <a:ext cx="577729" cy="667148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accent1"/>
            </a:solidFill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矩形 6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4928742" y="3926469"/>
              <a:ext cx="47801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 err="1">
                  <a:solidFill>
                    <a:schemeClr val="accent1"/>
                  </a:solidFill>
                  <a:latin typeface="+mj-ea"/>
                  <a:ea typeface="+mj-ea"/>
                </a:rPr>
                <a:t>jwt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pic>
          <p:nvPicPr>
            <p:cNvPr id="69" name="图片 5" descr="32313534313136373b32313534313134393bb9a4d7f7b3c9b9fb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3791" y="3235801"/>
              <a:ext cx="309083" cy="309083"/>
            </a:xfrm>
            <a:prstGeom prst="rect">
              <a:avLst/>
            </a:prstGeom>
          </p:spPr>
        </p:pic>
      </p:grpSp>
      <p:grpSp>
        <p:nvGrpSpPr>
          <p:cNvPr id="81" name="组合 80"/>
          <p:cNvGrpSpPr/>
          <p:nvPr/>
        </p:nvGrpSpPr>
        <p:grpSpPr>
          <a:xfrm>
            <a:off x="2482375" y="3332879"/>
            <a:ext cx="1441570" cy="1303219"/>
            <a:chOff x="5569042" y="3391245"/>
            <a:chExt cx="1441570" cy="1303219"/>
          </a:xfrm>
        </p:grpSpPr>
        <p:sp>
          <p:nvSpPr>
            <p:cNvPr id="67" name="矩形 6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6151211" y="4355910"/>
              <a:ext cx="8594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 err="1">
                  <a:solidFill>
                    <a:schemeClr val="accent1"/>
                  </a:solidFill>
                  <a:latin typeface="+mj-ea"/>
                  <a:ea typeface="+mj-ea"/>
                </a:rPr>
                <a:t>Hutool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5569042" y="3391245"/>
              <a:ext cx="1375461" cy="903602"/>
              <a:chOff x="5569042" y="3391245"/>
              <a:chExt cx="1375461" cy="903602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5569042" y="3540340"/>
                <a:ext cx="621601" cy="321358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Freeform 5"/>
              <p:cNvSpPr/>
              <p:nvPr/>
            </p:nvSpPr>
            <p:spPr bwMode="auto">
              <a:xfrm>
                <a:off x="6162011" y="3391245"/>
                <a:ext cx="782492" cy="903602"/>
              </a:xfrm>
              <a:custGeom>
                <a:avLst/>
                <a:gdLst>
                  <a:gd name="T0" fmla="*/ 827 w 827"/>
                  <a:gd name="T1" fmla="*/ 239 h 955"/>
                  <a:gd name="T2" fmla="*/ 414 w 827"/>
                  <a:gd name="T3" fmla="*/ 0 h 955"/>
                  <a:gd name="T4" fmla="*/ 0 w 827"/>
                  <a:gd name="T5" fmla="*/ 239 h 955"/>
                  <a:gd name="T6" fmla="*/ 0 w 827"/>
                  <a:gd name="T7" fmla="*/ 716 h 955"/>
                  <a:gd name="T8" fmla="*/ 414 w 827"/>
                  <a:gd name="T9" fmla="*/ 955 h 955"/>
                  <a:gd name="T10" fmla="*/ 827 w 827"/>
                  <a:gd name="T11" fmla="*/ 716 h 955"/>
                  <a:gd name="T12" fmla="*/ 827 w 827"/>
                  <a:gd name="T13" fmla="*/ 239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7" h="955">
                    <a:moveTo>
                      <a:pt x="827" y="239"/>
                    </a:moveTo>
                    <a:lnTo>
                      <a:pt x="414" y="0"/>
                    </a:lnTo>
                    <a:lnTo>
                      <a:pt x="0" y="239"/>
                    </a:lnTo>
                    <a:lnTo>
                      <a:pt x="0" y="716"/>
                    </a:lnTo>
                    <a:lnTo>
                      <a:pt x="414" y="955"/>
                    </a:lnTo>
                    <a:lnTo>
                      <a:pt x="827" y="716"/>
                    </a:lnTo>
                    <a:lnTo>
                      <a:pt x="827" y="239"/>
                    </a:lnTo>
                    <a:close/>
                  </a:path>
                </a:pathLst>
              </a:custGeom>
              <a:solidFill>
                <a:schemeClr val="bg1"/>
              </a:solidFill>
              <a:ln w="28575" cap="flat">
                <a:solidFill>
                  <a:schemeClr val="accent1"/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5"/>
              <p:cNvSpPr/>
              <p:nvPr/>
            </p:nvSpPr>
            <p:spPr bwMode="auto">
              <a:xfrm>
                <a:off x="6257821" y="3509472"/>
                <a:ext cx="577729" cy="667148"/>
              </a:xfrm>
              <a:custGeom>
                <a:avLst/>
                <a:gdLst>
                  <a:gd name="T0" fmla="*/ 827 w 827"/>
                  <a:gd name="T1" fmla="*/ 239 h 955"/>
                  <a:gd name="T2" fmla="*/ 414 w 827"/>
                  <a:gd name="T3" fmla="*/ 0 h 955"/>
                  <a:gd name="T4" fmla="*/ 0 w 827"/>
                  <a:gd name="T5" fmla="*/ 239 h 955"/>
                  <a:gd name="T6" fmla="*/ 0 w 827"/>
                  <a:gd name="T7" fmla="*/ 716 h 955"/>
                  <a:gd name="T8" fmla="*/ 414 w 827"/>
                  <a:gd name="T9" fmla="*/ 955 h 955"/>
                  <a:gd name="T10" fmla="*/ 827 w 827"/>
                  <a:gd name="T11" fmla="*/ 716 h 955"/>
                  <a:gd name="T12" fmla="*/ 827 w 827"/>
                  <a:gd name="T13" fmla="*/ 239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7" h="955">
                    <a:moveTo>
                      <a:pt x="827" y="239"/>
                    </a:moveTo>
                    <a:lnTo>
                      <a:pt x="414" y="0"/>
                    </a:lnTo>
                    <a:lnTo>
                      <a:pt x="0" y="239"/>
                    </a:lnTo>
                    <a:lnTo>
                      <a:pt x="0" y="716"/>
                    </a:lnTo>
                    <a:lnTo>
                      <a:pt x="414" y="955"/>
                    </a:lnTo>
                    <a:lnTo>
                      <a:pt x="827" y="716"/>
                    </a:lnTo>
                    <a:lnTo>
                      <a:pt x="827" y="239"/>
                    </a:lnTo>
                    <a:close/>
                  </a:path>
                </a:pathLst>
              </a:custGeom>
              <a:solidFill>
                <a:schemeClr val="accent1"/>
              </a:solidFill>
              <a:ln w="14288" cap="flat">
                <a:noFill/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pic>
            <p:nvPicPr>
              <p:cNvPr id="70" name="图片 6" descr="32313534313136373b32313534313135323bbbe3b1a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92144" y="3688505"/>
                <a:ext cx="309083" cy="309083"/>
              </a:xfrm>
              <a:prstGeom prst="rect">
                <a:avLst/>
              </a:prstGeom>
            </p:spPr>
          </p:pic>
        </p:grpSp>
      </p:grpSp>
      <p:grpSp>
        <p:nvGrpSpPr>
          <p:cNvPr id="80" name="组合 79"/>
          <p:cNvGrpSpPr/>
          <p:nvPr/>
        </p:nvGrpSpPr>
        <p:grpSpPr>
          <a:xfrm>
            <a:off x="3862208" y="2880175"/>
            <a:ext cx="1395499" cy="1296520"/>
            <a:chOff x="6946898" y="2938541"/>
            <a:chExt cx="1395499" cy="1296520"/>
          </a:xfrm>
        </p:grpSpPr>
        <p:cxnSp>
          <p:nvCxnSpPr>
            <p:cNvPr id="38" name="直接连接符 37"/>
            <p:cNvCxnSpPr/>
            <p:nvPr/>
          </p:nvCxnSpPr>
          <p:spPr>
            <a:xfrm flipV="1">
              <a:off x="6946898" y="3461297"/>
              <a:ext cx="621601" cy="32135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reeform 5"/>
            <p:cNvSpPr/>
            <p:nvPr/>
          </p:nvSpPr>
          <p:spPr bwMode="auto">
            <a:xfrm>
              <a:off x="7544075" y="2938541"/>
              <a:ext cx="782492" cy="903602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bg1"/>
            </a:solidFill>
            <a:ln w="28575" cap="flat">
              <a:solidFill>
                <a:schemeClr val="accent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5"/>
            <p:cNvSpPr/>
            <p:nvPr/>
          </p:nvSpPr>
          <p:spPr bwMode="auto">
            <a:xfrm>
              <a:off x="7644676" y="3056769"/>
              <a:ext cx="577729" cy="667148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accent1"/>
            </a:solidFill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矩形 6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7575840" y="3896507"/>
              <a:ext cx="76655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 err="1">
                  <a:solidFill>
                    <a:schemeClr val="accent1"/>
                  </a:solidFill>
                  <a:latin typeface="+mj-ea"/>
                  <a:ea typeface="+mj-ea"/>
                </a:rPr>
                <a:t>mysql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pic>
          <p:nvPicPr>
            <p:cNvPr id="71" name="图片 7" descr="32313534313136373b32313534313135333bbbe1bbb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88965" y="3248024"/>
              <a:ext cx="309083" cy="309083"/>
            </a:xfrm>
            <a:prstGeom prst="rect">
              <a:avLst/>
            </a:prstGeom>
          </p:spPr>
        </p:pic>
      </p:grpSp>
      <p:grpSp>
        <p:nvGrpSpPr>
          <p:cNvPr id="77" name="组合 76"/>
          <p:cNvGrpSpPr/>
          <p:nvPr/>
        </p:nvGrpSpPr>
        <p:grpSpPr>
          <a:xfrm>
            <a:off x="311216" y="3332879"/>
            <a:ext cx="782492" cy="1320981"/>
            <a:chOff x="3397883" y="3391245"/>
            <a:chExt cx="782492" cy="1320981"/>
          </a:xfrm>
        </p:grpSpPr>
        <p:sp>
          <p:nvSpPr>
            <p:cNvPr id="40" name="Freeform 5"/>
            <p:cNvSpPr/>
            <p:nvPr/>
          </p:nvSpPr>
          <p:spPr bwMode="auto">
            <a:xfrm>
              <a:off x="3397883" y="3391245"/>
              <a:ext cx="782492" cy="903602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bg1"/>
            </a:solidFill>
            <a:ln w="28575" cap="flat">
              <a:solidFill>
                <a:schemeClr val="accent1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"/>
            <p:cNvSpPr/>
            <p:nvPr/>
          </p:nvSpPr>
          <p:spPr bwMode="auto">
            <a:xfrm>
              <a:off x="3500264" y="3509472"/>
              <a:ext cx="577729" cy="667148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solidFill>
              <a:schemeClr val="accent1"/>
            </a:solidFill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矩形 6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3491839" y="4373672"/>
              <a:ext cx="59183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</a:rPr>
                <a:t>plus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pic>
          <p:nvPicPr>
            <p:cNvPr id="72" name="图片 17" descr="32313534313136373b32313534313136333bcdc5b6d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34587" y="3688505"/>
              <a:ext cx="309083" cy="309083"/>
            </a:xfrm>
            <a:prstGeom prst="rect">
              <a:avLst/>
            </a:prstGeom>
          </p:spPr>
        </p:pic>
      </p:grpSp>
      <p:sp>
        <p:nvSpPr>
          <p:cNvPr id="82" name="文本框 81"/>
          <p:cNvSpPr txBox="1"/>
          <p:nvPr/>
        </p:nvSpPr>
        <p:spPr>
          <a:xfrm>
            <a:off x="6344401" y="3882086"/>
            <a:ext cx="2512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+mj-ea"/>
                <a:ea typeface="+mj-ea"/>
              </a:rPr>
              <a:t>and other technologies……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4467533" y="1788404"/>
            <a:ext cx="444786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48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Database</a:t>
            </a:r>
            <a:endParaRPr lang="zh-CN" altLang="zh-CN" sz="48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42338" y="3537019"/>
            <a:ext cx="1354764" cy="29754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</a:rPr>
              <a:t>The third unit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charset="-122"/>
              <a:ea typeface="思源宋体 CN Heavy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>
                <a:ln w="381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03</a:t>
            </a: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 w="38100">
                  <a:noFill/>
                </a:ln>
                <a:solidFill>
                  <a:prstClr val="white">
                    <a:alpha val="31000"/>
                  </a:prstClr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PARTTHREE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Database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228600" y="849746"/>
            <a:ext cx="2357582" cy="2057552"/>
            <a:chOff x="228600" y="849746"/>
            <a:chExt cx="2357582" cy="2057552"/>
          </a:xfrm>
        </p:grpSpPr>
        <p:sp>
          <p:nvSpPr>
            <p:cNvPr id="8" name="矩形: 圆角 7"/>
            <p:cNvSpPr/>
            <p:nvPr/>
          </p:nvSpPr>
          <p:spPr>
            <a:xfrm>
              <a:off x="228600" y="849746"/>
              <a:ext cx="2357582" cy="1856509"/>
            </a:xfrm>
            <a:prstGeom prst="roundRect">
              <a:avLst>
                <a:gd name="adj" fmla="val 8209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319639" y="1143482"/>
              <a:ext cx="2116449" cy="1763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  <a:sym typeface="思源黑体 CN Normal" panose="020B0400000000000000" charset="-122"/>
                </a:rPr>
                <a:t> </a:t>
              </a: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The first one is used to store administrator information, such as </a:t>
              </a:r>
              <a:r>
                <a:rPr lang="en-US" altLang="zh-CN" sz="1050" kern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AdministratorID</a:t>
              </a: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, Username and Password. </a:t>
              </a:r>
              <a:r>
                <a:rPr lang="en-US" altLang="zh-CN" sz="1050" kern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AdministratorID</a:t>
              </a: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 is the primary key.</a:t>
              </a:r>
              <a:endParaRPr lang="zh-CN" altLang="zh-CN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endParaRPr>
            </a:p>
          </p:txBody>
        </p:sp>
        <p:sp>
          <p:nvSpPr>
            <p:cNvPr id="22" name="矩形 2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484608" y="877009"/>
              <a:ext cx="6254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01</a:t>
              </a:r>
              <a:r>
                <a:rPr lang="en-US" altLang="zh-CN" sz="8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/04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763638" y="2854461"/>
            <a:ext cx="2357582" cy="1856509"/>
            <a:chOff x="2657763" y="849746"/>
            <a:chExt cx="2357582" cy="1856509"/>
          </a:xfrm>
        </p:grpSpPr>
        <p:sp>
          <p:nvSpPr>
            <p:cNvPr id="29" name="矩形: 圆角 28"/>
            <p:cNvSpPr/>
            <p:nvPr/>
          </p:nvSpPr>
          <p:spPr>
            <a:xfrm>
              <a:off x="2657763" y="849746"/>
              <a:ext cx="2357582" cy="1856509"/>
            </a:xfrm>
            <a:prstGeom prst="roundRect">
              <a:avLst>
                <a:gd name="adj" fmla="val 8209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754500" y="1143482"/>
              <a:ext cx="2089873" cy="12790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The second one is used to store cargo information, </a:t>
              </a:r>
              <a:r>
                <a:rPr lang="en-US" altLang="zh-CN" sz="1050" kern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cargoID</a:t>
              </a: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, </a:t>
              </a:r>
              <a:r>
                <a:rPr lang="en-US" altLang="zh-CN" sz="1050" kern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cargoname</a:t>
              </a: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 and so on. It also records the location of the cargo.</a:t>
              </a:r>
              <a:endParaRPr lang="zh-CN" altLang="en-US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  <a:sym typeface="思源黑体 CN Normal" panose="020B0400000000000000" charset="-122"/>
              </a:endParaRPr>
            </a:p>
          </p:txBody>
        </p:sp>
        <p:sp>
          <p:nvSpPr>
            <p:cNvPr id="23" name="矩形 2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821408" y="877009"/>
              <a:ext cx="6030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02</a:t>
              </a:r>
              <a:r>
                <a:rPr lang="en-US" altLang="zh-CN" sz="80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/04</a:t>
              </a:r>
              <a:endParaRPr lang="zh-CN" altLang="en-US" sz="16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56234" y="335604"/>
            <a:ext cx="4369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In terms of databases, we have four entities.</a:t>
            </a:r>
            <a:endParaRPr lang="zh-CN" altLang="zh-CN" sz="1600" kern="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304626" y="1404885"/>
          <a:ext cx="4816594" cy="8168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8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3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Entity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Attribution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Type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Meaning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1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administrator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 err="1">
                          <a:effectLst/>
                        </a:rPr>
                        <a:t>AdministratorID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int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distinguish administrators by ID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0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Username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char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administrator name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26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Password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char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administrator password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729" marR="66729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54149" y="2999991"/>
          <a:ext cx="4864066" cy="15654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1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7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7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Entity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Attribution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Type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Meaning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116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cargo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7224" marR="127224" marT="63612" marB="63612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Cargo ID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int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distinguish cargoes by ID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5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Cargoname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char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cargo name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05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Type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char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 err="1">
                          <a:effectLst/>
                        </a:rPr>
                        <a:t>carge</a:t>
                      </a:r>
                      <a:r>
                        <a:rPr lang="en-US" sz="900" kern="0" dirty="0">
                          <a:effectLst/>
                        </a:rPr>
                        <a:t> type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25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Postion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char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location of cargoes(IOT)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42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price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double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store </a:t>
                      </a:r>
                      <a:r>
                        <a:rPr lang="en-US" sz="900" kern="0" dirty="0" err="1">
                          <a:effectLst/>
                        </a:rPr>
                        <a:t>carge</a:t>
                      </a:r>
                      <a:r>
                        <a:rPr lang="en-US" sz="900" kern="0" dirty="0">
                          <a:effectLst/>
                        </a:rPr>
                        <a:t> price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11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Shelfnumber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char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the shelf number of the cargos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6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Columnnum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char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the column where </a:t>
                      </a:r>
                      <a:r>
                        <a:rPr lang="en-US" sz="900" kern="0" dirty="0" err="1">
                          <a:effectLst/>
                        </a:rPr>
                        <a:t>crgoes</a:t>
                      </a:r>
                      <a:r>
                        <a:rPr lang="en-US" sz="900" kern="0" dirty="0">
                          <a:effectLst/>
                        </a:rPr>
                        <a:t> are placed on the shelf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684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Floornum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char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the floor where </a:t>
                      </a:r>
                      <a:r>
                        <a:rPr lang="en-US" sz="900" kern="0" dirty="0" err="1">
                          <a:effectLst/>
                        </a:rPr>
                        <a:t>crgoes</a:t>
                      </a:r>
                      <a:r>
                        <a:rPr lang="en-US" sz="900" kern="0" dirty="0">
                          <a:effectLst/>
                        </a:rPr>
                        <a:t> are placed on the shelf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440" marR="3044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Database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241678" y="669196"/>
            <a:ext cx="2357582" cy="1856509"/>
            <a:chOff x="228600" y="2872510"/>
            <a:chExt cx="2357582" cy="1856509"/>
          </a:xfrm>
        </p:grpSpPr>
        <p:sp>
          <p:nvSpPr>
            <p:cNvPr id="28" name="矩形: 圆角 27"/>
            <p:cNvSpPr/>
            <p:nvPr/>
          </p:nvSpPr>
          <p:spPr>
            <a:xfrm>
              <a:off x="228600" y="2872510"/>
              <a:ext cx="2357582" cy="1856509"/>
            </a:xfrm>
            <a:prstGeom prst="roundRect">
              <a:avLst>
                <a:gd name="adj" fmla="val 8209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319640" y="3188440"/>
              <a:ext cx="2116450" cy="12790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The third one is used to record the relationship between cargoes and warehouses, and record which cargoes are stored in each warehouse.</a:t>
              </a:r>
              <a:endParaRPr lang="zh-CN" altLang="zh-CN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endParaRPr>
            </a:p>
          </p:txBody>
        </p:sp>
        <p:sp>
          <p:nvSpPr>
            <p:cNvPr id="24" name="矩形 2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484608" y="2907298"/>
              <a:ext cx="6030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03</a:t>
              </a:r>
              <a:r>
                <a:rPr lang="en-US" altLang="zh-CN" sz="80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/04</a:t>
              </a:r>
              <a:endParaRPr lang="zh-CN" altLang="en-US" sz="160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626727" y="669195"/>
            <a:ext cx="2357582" cy="1856509"/>
            <a:chOff x="2657763" y="2872509"/>
            <a:chExt cx="2357582" cy="1856509"/>
          </a:xfrm>
        </p:grpSpPr>
        <p:sp>
          <p:nvSpPr>
            <p:cNvPr id="35" name="矩形: 圆角 34"/>
            <p:cNvSpPr/>
            <p:nvPr/>
          </p:nvSpPr>
          <p:spPr>
            <a:xfrm>
              <a:off x="2657763" y="2872509"/>
              <a:ext cx="2357582" cy="1856509"/>
            </a:xfrm>
            <a:prstGeom prst="roundRect">
              <a:avLst>
                <a:gd name="adj" fmla="val 8209"/>
              </a:avLst>
            </a:prstGeom>
            <a:solidFill>
              <a:schemeClr val="bg1"/>
            </a:solidFill>
            <a:ln w="28575">
              <a:noFill/>
            </a:ln>
            <a:effectLst>
              <a:outerShdw blurRad="127000" dist="127000" dir="5400000" algn="t" rotWithShape="0">
                <a:schemeClr val="accent1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751149" y="3188440"/>
              <a:ext cx="2093223" cy="10366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The last one is used to store worker </a:t>
              </a:r>
              <a:r>
                <a:rPr lang="en-US" altLang="zh-CN" sz="1050" kern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informatin</a:t>
              </a: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 such as </a:t>
              </a:r>
              <a:r>
                <a:rPr lang="en-US" altLang="zh-CN" sz="1050" kern="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workerID</a:t>
              </a:r>
              <a:r>
                <a:rPr lang="en-US" altLang="zh-CN" sz="1050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CN Normal" panose="020B0400000000000000" charset="-122"/>
                </a:rPr>
                <a:t>, password. Worker ID is primary key.</a:t>
              </a:r>
              <a:endParaRPr lang="zh-CN" altLang="zh-CN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endParaRPr>
            </a:p>
          </p:txBody>
        </p:sp>
        <p:sp>
          <p:nvSpPr>
            <p:cNvPr id="25" name="矩形 2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821408" y="2907298"/>
              <a:ext cx="6030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04</a:t>
              </a:r>
              <a:r>
                <a:rPr lang="en-US" altLang="zh-CN" sz="8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/04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</p:grp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51407" y="2617796"/>
          <a:ext cx="5832902" cy="6242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8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67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Entity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Attribution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>
                          <a:effectLst/>
                        </a:rPr>
                        <a:t>Type</a:t>
                      </a:r>
                      <a:endParaRPr lang="zh-CN" sz="1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Meaning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 err="1">
                          <a:effectLst/>
                        </a:rPr>
                        <a:t>warehouse_has_cargo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 err="1">
                          <a:effectLst/>
                        </a:rPr>
                        <a:t>warehouseID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int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distinguish administrators by ID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cargoID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int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ID of cargoes stored in the warehouse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1407" y="3460551"/>
          <a:ext cx="5832902" cy="12428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4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6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Entity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Attribution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Type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Meaning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893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sz="1000" kern="0" dirty="0">
                          <a:effectLst/>
                        </a:rPr>
                        <a:t>worker</a:t>
                      </a:r>
                      <a:endParaRPr lang="zh-CN" sz="1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 err="1">
                          <a:effectLst/>
                        </a:rPr>
                        <a:t>WorkerID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int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distinguish workers by ID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Password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char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worker password(IOT)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3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Gender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char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worker gender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1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IDCardnum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char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worker ID number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36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Name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char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 err="1">
                          <a:effectLst/>
                        </a:rPr>
                        <a:t>woker</a:t>
                      </a:r>
                      <a:r>
                        <a:rPr lang="en-US" sz="900" kern="0" dirty="0">
                          <a:effectLst/>
                        </a:rPr>
                        <a:t> name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31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Warehouse-warehouseID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>
                          <a:effectLst/>
                        </a:rPr>
                        <a:t>int</a:t>
                      </a:r>
                      <a:endParaRPr lang="zh-CN" sz="9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kern="0" dirty="0">
                          <a:effectLst/>
                        </a:rPr>
                        <a:t>warehouse where workers work(IOT)</a:t>
                      </a:r>
                      <a:endParaRPr lang="zh-CN" sz="9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3365" marR="33365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4467533" y="1788404"/>
            <a:ext cx="474547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48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Function</a:t>
            </a:r>
            <a:endParaRPr lang="zh-CN" altLang="zh-CN" sz="48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42338" y="3537019"/>
            <a:ext cx="1465642" cy="29754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</a:rPr>
              <a:t>The forth unit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charset="-122"/>
              <a:ea typeface="思源宋体 CN Heavy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>
                <a:ln w="381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04</a:t>
            </a: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 w="38100">
                  <a:noFill/>
                </a:ln>
                <a:solidFill>
                  <a:prstClr val="white">
                    <a:alpha val="31000"/>
                  </a:prstClr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PARTFOUR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 bwMode="auto">
          <a:xfrm>
            <a:off x="230673" y="695028"/>
            <a:ext cx="297671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(1)Login </a:t>
            </a:r>
            <a:endParaRPr lang="zh-CN" altLang="zh-CN" sz="16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573003" y="1218248"/>
            <a:ext cx="3205264" cy="2771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cs typeface="+mn-ea"/>
              </a:rPr>
              <a:t>On the homepage of the website, users can choose to log in as administrator or worker. Our e-commerce major is mainly responsible for the realization of administrator functions.</a:t>
            </a:r>
            <a:endParaRPr lang="zh-CN" altLang="zh-CN" sz="2000" dirty="0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Function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pic>
        <p:nvPicPr>
          <p:cNvPr id="7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7" y="1370508"/>
            <a:ext cx="4956924" cy="240248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Freeform 5"/>
          <p:cNvSpPr/>
          <p:nvPr/>
        </p:nvSpPr>
        <p:spPr bwMode="auto">
          <a:xfrm>
            <a:off x="2904991" y="2469181"/>
            <a:ext cx="341224" cy="39403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22" name="Freeform 5"/>
          <p:cNvSpPr/>
          <p:nvPr/>
        </p:nvSpPr>
        <p:spPr bwMode="auto">
          <a:xfrm>
            <a:off x="1845528" y="3966989"/>
            <a:ext cx="341224" cy="39403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75605" y="2091633"/>
            <a:ext cx="2643859" cy="1036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accent1"/>
                </a:solidFill>
                <a:latin typeface="+mj-ea"/>
                <a:ea typeface="+mj-ea"/>
              </a:rPr>
              <a:t>If the user name and password are incorrect, the administrator will not be able to log in.</a:t>
            </a:r>
            <a:endParaRPr lang="zh-CN" altLang="zh-CN" sz="1050" dirty="0">
              <a:solidFill>
                <a:schemeClr val="accent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zh-CN" altLang="en-US" sz="1050" kern="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charset="-122"/>
              <a:sym typeface="思源黑体 CN Normal" panose="020B0400000000000000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307449" y="4174590"/>
            <a:ext cx="454195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050" dirty="0">
                <a:solidFill>
                  <a:schemeClr val="accent1"/>
                </a:solidFill>
                <a:latin typeface="+mj-ea"/>
                <a:ea typeface="+mj-ea"/>
              </a:rPr>
              <a:t>The password is hidden by default. If you want to see the password, you can click the "eye" on the right to display the password.</a:t>
            </a:r>
            <a:endParaRPr lang="zh-CN" altLang="zh-CN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3125762" y="3387128"/>
            <a:ext cx="3058851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/>
            <a:r>
              <a:rPr lang="en-US" altLang="zh-CN" sz="1050" dirty="0">
                <a:solidFill>
                  <a:schemeClr val="accent1"/>
                </a:solidFill>
                <a:latin typeface="+mj-ea"/>
                <a:ea typeface="+mj-ea"/>
              </a:rPr>
              <a:t>The length of the user name should be 5-10.</a:t>
            </a:r>
            <a:endParaRPr lang="zh-CN" altLang="zh-CN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890296" y="2527700"/>
            <a:ext cx="3706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02</a:t>
            </a:r>
            <a:endParaRPr lang="zh-CN" altLang="en-US" sz="1200"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33" name="矩形 3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1830833" y="4025509"/>
            <a:ext cx="3706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03</a:t>
            </a:r>
            <a:endParaRPr lang="zh-CN" altLang="en-US" sz="1200" dirty="0"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196576" y="2005824"/>
            <a:ext cx="430272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125762" y="4085875"/>
            <a:ext cx="430272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Function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242554" y="65844"/>
            <a:ext cx="8748677" cy="4295182"/>
            <a:chOff x="242554" y="65844"/>
            <a:chExt cx="8748677" cy="4295182"/>
          </a:xfrm>
        </p:grpSpPr>
        <p:grpSp>
          <p:nvGrpSpPr>
            <p:cNvPr id="57" name="组合 56"/>
            <p:cNvGrpSpPr/>
            <p:nvPr/>
          </p:nvGrpSpPr>
          <p:grpSpPr>
            <a:xfrm>
              <a:off x="242554" y="758254"/>
              <a:ext cx="4552502" cy="3602772"/>
              <a:chOff x="242554" y="758254"/>
              <a:chExt cx="4552502" cy="3602772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119057" y="758254"/>
                <a:ext cx="2675999" cy="5770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050" dirty="0">
                    <a:solidFill>
                      <a:schemeClr val="accent1"/>
                    </a:solidFill>
                    <a:latin typeface="+mj-ea"/>
                    <a:ea typeface="+mj-ea"/>
                  </a:rPr>
                  <a:t>The administrator needs to enter the user name and the corresponding correct password to login.</a:t>
                </a:r>
                <a:endParaRPr lang="zh-CN" altLang="en-US" sz="105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endParaRPr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42554" y="1102135"/>
                <a:ext cx="2822097" cy="3258891"/>
                <a:chOff x="242554" y="1102135"/>
                <a:chExt cx="2822097" cy="3258891"/>
              </a:xfrm>
            </p:grpSpPr>
            <p:sp>
              <p:nvSpPr>
                <p:cNvPr id="18" name="Freeform 5"/>
                <p:cNvSpPr/>
                <p:nvPr/>
              </p:nvSpPr>
              <p:spPr bwMode="auto">
                <a:xfrm>
                  <a:off x="242554" y="1102135"/>
                  <a:ext cx="2822097" cy="3258891"/>
                </a:xfrm>
                <a:custGeom>
                  <a:avLst/>
                  <a:gdLst>
                    <a:gd name="T0" fmla="*/ 827 w 827"/>
                    <a:gd name="T1" fmla="*/ 239 h 955"/>
                    <a:gd name="T2" fmla="*/ 414 w 827"/>
                    <a:gd name="T3" fmla="*/ 0 h 955"/>
                    <a:gd name="T4" fmla="*/ 0 w 827"/>
                    <a:gd name="T5" fmla="*/ 239 h 955"/>
                    <a:gd name="T6" fmla="*/ 0 w 827"/>
                    <a:gd name="T7" fmla="*/ 716 h 955"/>
                    <a:gd name="T8" fmla="*/ 414 w 827"/>
                    <a:gd name="T9" fmla="*/ 955 h 955"/>
                    <a:gd name="T10" fmla="*/ 827 w 827"/>
                    <a:gd name="T11" fmla="*/ 716 h 955"/>
                    <a:gd name="T12" fmla="*/ 827 w 827"/>
                    <a:gd name="T13" fmla="*/ 239 h 9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7" h="955">
                      <a:moveTo>
                        <a:pt x="827" y="239"/>
                      </a:moveTo>
                      <a:lnTo>
                        <a:pt x="414" y="0"/>
                      </a:lnTo>
                      <a:lnTo>
                        <a:pt x="0" y="239"/>
                      </a:lnTo>
                      <a:lnTo>
                        <a:pt x="0" y="716"/>
                      </a:lnTo>
                      <a:lnTo>
                        <a:pt x="414" y="955"/>
                      </a:lnTo>
                      <a:lnTo>
                        <a:pt x="827" y="716"/>
                      </a:lnTo>
                      <a:lnTo>
                        <a:pt x="827" y="239"/>
                      </a:lnTo>
                      <a:close/>
                    </a:path>
                  </a:pathLst>
                </a:custGeom>
                <a:noFill/>
                <a:ln w="14288" cap="flat">
                  <a:solidFill>
                    <a:schemeClr val="accent1"/>
                  </a:solidFill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cs"/>
                  </a:endParaRPr>
                </a:p>
              </p:txBody>
            </p:sp>
            <p:sp>
              <p:nvSpPr>
                <p:cNvPr id="19" name="Freeform 5"/>
                <p:cNvSpPr/>
                <p:nvPr/>
              </p:nvSpPr>
              <p:spPr bwMode="auto">
                <a:xfrm>
                  <a:off x="504882" y="1434860"/>
                  <a:ext cx="2261366" cy="2611372"/>
                </a:xfrm>
                <a:custGeom>
                  <a:avLst/>
                  <a:gdLst>
                    <a:gd name="T0" fmla="*/ 827 w 827"/>
                    <a:gd name="T1" fmla="*/ 239 h 955"/>
                    <a:gd name="T2" fmla="*/ 414 w 827"/>
                    <a:gd name="T3" fmla="*/ 0 h 955"/>
                    <a:gd name="T4" fmla="*/ 0 w 827"/>
                    <a:gd name="T5" fmla="*/ 239 h 955"/>
                    <a:gd name="T6" fmla="*/ 0 w 827"/>
                    <a:gd name="T7" fmla="*/ 716 h 955"/>
                    <a:gd name="T8" fmla="*/ 414 w 827"/>
                    <a:gd name="T9" fmla="*/ 955 h 955"/>
                    <a:gd name="T10" fmla="*/ 827 w 827"/>
                    <a:gd name="T11" fmla="*/ 716 h 955"/>
                    <a:gd name="T12" fmla="*/ 827 w 827"/>
                    <a:gd name="T13" fmla="*/ 239 h 9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27" h="955">
                      <a:moveTo>
                        <a:pt x="827" y="239"/>
                      </a:moveTo>
                      <a:lnTo>
                        <a:pt x="414" y="0"/>
                      </a:lnTo>
                      <a:lnTo>
                        <a:pt x="0" y="239"/>
                      </a:lnTo>
                      <a:lnTo>
                        <a:pt x="0" y="716"/>
                      </a:lnTo>
                      <a:lnTo>
                        <a:pt x="414" y="955"/>
                      </a:lnTo>
                      <a:lnTo>
                        <a:pt x="827" y="716"/>
                      </a:lnTo>
                      <a:lnTo>
                        <a:pt x="827" y="239"/>
                      </a:lnTo>
                      <a:close/>
                    </a:path>
                  </a:pathLst>
                </a:custGeom>
                <a:blipFill>
                  <a:blip r:embed="rId2"/>
                  <a:stretch>
                    <a:fillRect/>
                  </a:stretch>
                </a:blipFill>
                <a:ln w="14288" cap="flat">
                  <a:noFill/>
                  <a:prstDash val="solid"/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 Normal" panose="020B0400000000000000" charset="-122"/>
                    <a:ea typeface="思源黑体 CN Normal" panose="020B0400000000000000" charset="-122"/>
                    <a:cs typeface="+mn-cs"/>
                  </a:endParaRPr>
                </a:p>
              </p:txBody>
            </p:sp>
            <p:grpSp>
              <p:nvGrpSpPr>
                <p:cNvPr id="55" name="组合 54"/>
                <p:cNvGrpSpPr/>
                <p:nvPr/>
              </p:nvGrpSpPr>
              <p:grpSpPr>
                <a:xfrm>
                  <a:off x="2290528" y="1359909"/>
                  <a:ext cx="370614" cy="394037"/>
                  <a:chOff x="2290528" y="1359909"/>
                  <a:chExt cx="370614" cy="394037"/>
                </a:xfrm>
              </p:grpSpPr>
              <p:sp>
                <p:nvSpPr>
                  <p:cNvPr id="20" name="Freeform 5"/>
                  <p:cNvSpPr/>
                  <p:nvPr/>
                </p:nvSpPr>
                <p:spPr bwMode="auto">
                  <a:xfrm>
                    <a:off x="2307449" y="1359909"/>
                    <a:ext cx="341224" cy="394037"/>
                  </a:xfrm>
                  <a:custGeom>
                    <a:avLst/>
                    <a:gdLst>
                      <a:gd name="T0" fmla="*/ 827 w 827"/>
                      <a:gd name="T1" fmla="*/ 239 h 955"/>
                      <a:gd name="T2" fmla="*/ 414 w 827"/>
                      <a:gd name="T3" fmla="*/ 0 h 955"/>
                      <a:gd name="T4" fmla="*/ 0 w 827"/>
                      <a:gd name="T5" fmla="*/ 239 h 955"/>
                      <a:gd name="T6" fmla="*/ 0 w 827"/>
                      <a:gd name="T7" fmla="*/ 716 h 955"/>
                      <a:gd name="T8" fmla="*/ 414 w 827"/>
                      <a:gd name="T9" fmla="*/ 955 h 955"/>
                      <a:gd name="T10" fmla="*/ 827 w 827"/>
                      <a:gd name="T11" fmla="*/ 716 h 955"/>
                      <a:gd name="T12" fmla="*/ 827 w 827"/>
                      <a:gd name="T13" fmla="*/ 239 h 9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27" h="955">
                        <a:moveTo>
                          <a:pt x="827" y="239"/>
                        </a:moveTo>
                        <a:lnTo>
                          <a:pt x="414" y="0"/>
                        </a:lnTo>
                        <a:lnTo>
                          <a:pt x="0" y="239"/>
                        </a:lnTo>
                        <a:lnTo>
                          <a:pt x="0" y="716"/>
                        </a:lnTo>
                        <a:lnTo>
                          <a:pt x="414" y="955"/>
                        </a:lnTo>
                        <a:lnTo>
                          <a:pt x="827" y="716"/>
                        </a:lnTo>
                        <a:lnTo>
                          <a:pt x="827" y="239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14288" cap="flat">
                    <a:noFill/>
                    <a:prstDash val="solid"/>
                    <a:miter lim="800000"/>
                  </a:ln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pPr marL="0" marR="0" lvl="0" indent="0" algn="l" defTabSz="6858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3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思源黑体 CN Normal" panose="020B0400000000000000" charset="-122"/>
                      <a:ea typeface="思源黑体 CN Normal" panose="020B0400000000000000" charset="-122"/>
                      <a:cs typeface="+mn-cs"/>
                    </a:endParaRPr>
                  </a:p>
                </p:txBody>
              </p:sp>
              <p:sp>
                <p:nvSpPr>
                  <p:cNvPr id="31" name="矩形 3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      <p:cNvSpPr/>
                  <p:nvPr/>
                </p:nvSpPr>
                <p:spPr bwMode="auto">
                  <a:xfrm>
                    <a:off x="2290528" y="1418428"/>
                    <a:ext cx="37061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altLang="zh-CN" sz="1200" dirty="0">
                        <a:solidFill>
                          <a:schemeClr val="bg1"/>
                        </a:solidFill>
                        <a:latin typeface="+mj-ea"/>
                        <a:ea typeface="+mj-ea"/>
                        <a:sym typeface="思源黑体 CN Normal" panose="020B0400000000000000" charset="-122"/>
                      </a:rPr>
                      <a:t>01</a:t>
                    </a:r>
                    <a:endParaRPr lang="zh-CN" altLang="en-US" sz="1200" dirty="0">
                      <a:solidFill>
                        <a:schemeClr val="bg1"/>
                      </a:solidFill>
                      <a:latin typeface="+mj-ea"/>
                      <a:ea typeface="+mj-ea"/>
                      <a:sym typeface="思源黑体 CN Normal" panose="020B0400000000000000" charset="-122"/>
                    </a:endParaRPr>
                  </a:p>
                </p:txBody>
              </p:sp>
            </p:grpSp>
          </p:grpSp>
        </p:grpSp>
        <p:pic>
          <p:nvPicPr>
            <p:cNvPr id="2" name="Pictur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1135" y="65844"/>
              <a:ext cx="3990096" cy="1918667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3" name="Picture"/>
          <p:cNvPicPr>
            <a:picLocks noChangeAspect="1"/>
          </p:cNvPicPr>
          <p:nvPr/>
        </p:nvPicPr>
        <p:blipFill>
          <a:blip r:embed="rId4"/>
          <a:srcRect r="6167" b="1471"/>
          <a:stretch>
            <a:fillRect/>
          </a:stretch>
        </p:blipFill>
        <p:spPr>
          <a:xfrm>
            <a:off x="5948854" y="2046812"/>
            <a:ext cx="2456637" cy="137842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348" y="3489732"/>
            <a:ext cx="2822098" cy="56065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"/>
          <p:cNvPicPr>
            <a:picLocks noChangeAspect="1"/>
          </p:cNvPicPr>
          <p:nvPr/>
        </p:nvPicPr>
        <p:blipFill>
          <a:blip r:embed="rId6"/>
          <a:srcRect r="11917" b="27572"/>
          <a:stretch>
            <a:fillRect/>
          </a:stretch>
        </p:blipFill>
        <p:spPr>
          <a:xfrm>
            <a:off x="6281758" y="4416057"/>
            <a:ext cx="2417277" cy="416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 bldLvl="0" animBg="1"/>
      <p:bldP spid="25" grpId="0"/>
      <p:bldP spid="27" grpId="0"/>
      <p:bldP spid="28" grpId="0"/>
      <p:bldP spid="32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 bwMode="auto">
          <a:xfrm>
            <a:off x="230672" y="802032"/>
            <a:ext cx="4720707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(2) Query warehouse information and manage warehouses</a:t>
            </a:r>
            <a:endParaRPr lang="zh-CN" altLang="zh-CN" sz="16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  <a:p>
            <a:pPr defTabSz="457200"/>
            <a:endParaRPr lang="zh-CN" altLang="zh-CN" sz="20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573003" y="1218248"/>
            <a:ext cx="3205264" cy="3079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cs typeface="+mn-ea"/>
              </a:rPr>
              <a:t>The administrator can query all warehouse information, edit or delete the warehouse. The administrator can also create a new warehouse by entering the warehouse ID.</a:t>
            </a:r>
            <a:endParaRPr lang="zh-CN" altLang="zh-CN" sz="2000" dirty="0">
              <a:solidFill>
                <a:schemeClr val="bg1"/>
              </a:solidFill>
              <a:cs typeface="+mn-ea"/>
            </a:endParaRPr>
          </a:p>
          <a:p>
            <a:endParaRPr lang="zh-CN" altLang="zh-CN" sz="2000" dirty="0">
              <a:solidFill>
                <a:schemeClr val="bg1"/>
              </a:solidFill>
              <a:cs typeface="+mn-ea"/>
            </a:endParaRPr>
          </a:p>
          <a:p>
            <a:pPr defTabSz="685800">
              <a:lnSpc>
                <a:spcPct val="150000"/>
              </a:lnSpc>
            </a:pP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Function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pic>
        <p:nvPicPr>
          <p:cNvPr id="2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63" y="1739873"/>
            <a:ext cx="4845924" cy="223950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矩形 5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151407" y="3747000"/>
            <a:ext cx="1696848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chemeClr val="accent1"/>
                </a:solidFill>
                <a:latin typeface="+mj-ea"/>
                <a:ea typeface="+mj-ea"/>
              </a:rPr>
              <a:t>The administrator can query all worker information and edit their basic information.</a:t>
            </a:r>
            <a:endParaRPr lang="zh-CN" altLang="zh-CN" sz="1100" dirty="0">
              <a:solidFill>
                <a:schemeClr val="accent1"/>
              </a:solidFill>
              <a:latin typeface="+mj-ea"/>
              <a:ea typeface="+mj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100" dirty="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56" name="矩形 5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3633847" y="1272334"/>
            <a:ext cx="199908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accent1"/>
                </a:solidFill>
                <a:latin typeface="+mj-ea"/>
                <a:ea typeface="+mj-ea"/>
              </a:rPr>
              <a:t>Administrator can also add workers. For example, add a new worker with values(00009, Male, Jason, 00001)</a:t>
            </a:r>
            <a:endParaRPr lang="zh-CN" altLang="zh-CN" sz="1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524805" y="3747000"/>
            <a:ext cx="199908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100" dirty="0">
                <a:solidFill>
                  <a:schemeClr val="accent1"/>
                </a:solidFill>
                <a:latin typeface="+mj-ea"/>
                <a:ea typeface="+mj-ea"/>
              </a:rPr>
              <a:t>If the worker no longer works in the warehouse, the administrator can also delete the worker. For example, delete the worker whose ID is 00001.</a:t>
            </a:r>
            <a:endParaRPr lang="zh-CN" altLang="zh-CN" sz="11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00489" y="2556909"/>
            <a:ext cx="1198498" cy="1088195"/>
            <a:chOff x="594650" y="2574170"/>
            <a:chExt cx="1198498" cy="1088195"/>
          </a:xfrm>
        </p:grpSpPr>
        <p:sp>
          <p:nvSpPr>
            <p:cNvPr id="29" name="Freeform 6"/>
            <p:cNvSpPr/>
            <p:nvPr/>
          </p:nvSpPr>
          <p:spPr bwMode="auto">
            <a:xfrm>
              <a:off x="594650" y="2574170"/>
              <a:ext cx="1081610" cy="729303"/>
            </a:xfrm>
            <a:custGeom>
              <a:avLst/>
              <a:gdLst>
                <a:gd name="T0" fmla="*/ 445 w 657"/>
                <a:gd name="T1" fmla="*/ 443 h 443"/>
                <a:gd name="T2" fmla="*/ 0 w 657"/>
                <a:gd name="T3" fmla="*/ 443 h 443"/>
                <a:gd name="T4" fmla="*/ 211 w 657"/>
                <a:gd name="T5" fmla="*/ 220 h 443"/>
                <a:gd name="T6" fmla="*/ 0 w 657"/>
                <a:gd name="T7" fmla="*/ 0 h 443"/>
                <a:gd name="T8" fmla="*/ 445 w 657"/>
                <a:gd name="T9" fmla="*/ 0 h 443"/>
                <a:gd name="T10" fmla="*/ 657 w 657"/>
                <a:gd name="T11" fmla="*/ 220 h 443"/>
                <a:gd name="T12" fmla="*/ 445 w 657"/>
                <a:gd name="T13" fmla="*/ 44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7" h="443">
                  <a:moveTo>
                    <a:pt x="445" y="443"/>
                  </a:moveTo>
                  <a:lnTo>
                    <a:pt x="0" y="443"/>
                  </a:lnTo>
                  <a:lnTo>
                    <a:pt x="211" y="220"/>
                  </a:lnTo>
                  <a:lnTo>
                    <a:pt x="0" y="0"/>
                  </a:lnTo>
                  <a:lnTo>
                    <a:pt x="445" y="0"/>
                  </a:lnTo>
                  <a:lnTo>
                    <a:pt x="657" y="220"/>
                  </a:lnTo>
                  <a:lnTo>
                    <a:pt x="445" y="4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45" tIns="60923" rIns="121845" bIns="60923" numCol="1" anchor="ctr" anchorCtr="0" compatLnSpc="1"/>
            <a:lstStyle/>
            <a:p>
              <a:pPr algn="ctr" defTabSz="1218565">
                <a:defRPr/>
              </a:pPr>
              <a:endParaRPr lang="zh-CN" altLang="en-US" sz="1330" ker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" name="Freeform 7"/>
            <p:cNvSpPr/>
            <p:nvPr/>
          </p:nvSpPr>
          <p:spPr bwMode="auto">
            <a:xfrm>
              <a:off x="1103355" y="2574171"/>
              <a:ext cx="689793" cy="1088194"/>
            </a:xfrm>
            <a:custGeom>
              <a:avLst/>
              <a:gdLst>
                <a:gd name="T0" fmla="*/ 205 w 419"/>
                <a:gd name="T1" fmla="*/ 0 h 661"/>
                <a:gd name="T2" fmla="*/ 419 w 419"/>
                <a:gd name="T3" fmla="*/ 220 h 661"/>
                <a:gd name="T4" fmla="*/ 0 w 419"/>
                <a:gd name="T5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" h="661">
                  <a:moveTo>
                    <a:pt x="205" y="0"/>
                  </a:moveTo>
                  <a:lnTo>
                    <a:pt x="419" y="220"/>
                  </a:lnTo>
                  <a:lnTo>
                    <a:pt x="0" y="661"/>
                  </a:lnTo>
                </a:path>
              </a:pathLst>
            </a:cu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845" tIns="60923" rIns="121845" bIns="60923" numCol="1" anchor="t" anchorCtr="0" compatLnSpc="1"/>
            <a:lstStyle/>
            <a:p>
              <a:pPr defTabSz="1218565">
                <a:defRPr/>
              </a:pPr>
              <a:endParaRPr lang="zh-CN" altLang="en-US" sz="24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64" name="矩形 6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958522" y="2769544"/>
              <a:ext cx="4347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bg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01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226668" y="2225447"/>
            <a:ext cx="1198495" cy="1088194"/>
            <a:chOff x="2347945" y="2215281"/>
            <a:chExt cx="1198495" cy="1088194"/>
          </a:xfrm>
        </p:grpSpPr>
        <p:sp>
          <p:nvSpPr>
            <p:cNvPr id="35" name="Freeform 8"/>
            <p:cNvSpPr/>
            <p:nvPr/>
          </p:nvSpPr>
          <p:spPr bwMode="auto">
            <a:xfrm>
              <a:off x="2347945" y="2574170"/>
              <a:ext cx="1081610" cy="729303"/>
            </a:xfrm>
            <a:custGeom>
              <a:avLst/>
              <a:gdLst>
                <a:gd name="T0" fmla="*/ 445 w 657"/>
                <a:gd name="T1" fmla="*/ 0 h 443"/>
                <a:gd name="T2" fmla="*/ 0 w 657"/>
                <a:gd name="T3" fmla="*/ 0 h 443"/>
                <a:gd name="T4" fmla="*/ 212 w 657"/>
                <a:gd name="T5" fmla="*/ 220 h 443"/>
                <a:gd name="T6" fmla="*/ 0 w 657"/>
                <a:gd name="T7" fmla="*/ 443 h 443"/>
                <a:gd name="T8" fmla="*/ 445 w 657"/>
                <a:gd name="T9" fmla="*/ 443 h 443"/>
                <a:gd name="T10" fmla="*/ 657 w 657"/>
                <a:gd name="T11" fmla="*/ 220 h 443"/>
                <a:gd name="T12" fmla="*/ 445 w 657"/>
                <a:gd name="T13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7" h="443">
                  <a:moveTo>
                    <a:pt x="445" y="0"/>
                  </a:moveTo>
                  <a:lnTo>
                    <a:pt x="0" y="0"/>
                  </a:lnTo>
                  <a:lnTo>
                    <a:pt x="212" y="220"/>
                  </a:lnTo>
                  <a:lnTo>
                    <a:pt x="0" y="443"/>
                  </a:lnTo>
                  <a:lnTo>
                    <a:pt x="445" y="443"/>
                  </a:lnTo>
                  <a:lnTo>
                    <a:pt x="657" y="220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45" tIns="60923" rIns="121845" bIns="60923" numCol="1" anchor="ctr" anchorCtr="0" compatLnSpc="1"/>
            <a:lstStyle/>
            <a:p>
              <a:pPr algn="ctr" defTabSz="1218565">
                <a:defRPr/>
              </a:pPr>
              <a:endParaRPr lang="zh-CN" altLang="en-US" sz="1330" ker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6" name="Freeform 9"/>
            <p:cNvSpPr/>
            <p:nvPr/>
          </p:nvSpPr>
          <p:spPr bwMode="auto">
            <a:xfrm>
              <a:off x="2856647" y="2215281"/>
              <a:ext cx="689793" cy="1088194"/>
            </a:xfrm>
            <a:custGeom>
              <a:avLst/>
              <a:gdLst>
                <a:gd name="T0" fmla="*/ 205 w 419"/>
                <a:gd name="T1" fmla="*/ 661 h 661"/>
                <a:gd name="T2" fmla="*/ 419 w 419"/>
                <a:gd name="T3" fmla="*/ 438 h 661"/>
                <a:gd name="T4" fmla="*/ 0 w 419"/>
                <a:gd name="T5" fmla="*/ 0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9" h="661">
                  <a:moveTo>
                    <a:pt x="205" y="661"/>
                  </a:moveTo>
                  <a:lnTo>
                    <a:pt x="419" y="438"/>
                  </a:ln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845" tIns="60923" rIns="121845" bIns="60923" numCol="1" anchor="t" anchorCtr="0" compatLnSpc="1"/>
            <a:lstStyle/>
            <a:p>
              <a:pPr defTabSz="1218565">
                <a:defRPr/>
              </a:pPr>
              <a:endParaRPr lang="zh-CN" altLang="en-US" sz="24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66" name="矩形 6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754664" y="2769544"/>
              <a:ext cx="4347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>
                  <a:solidFill>
                    <a:schemeClr val="bg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02</a:t>
              </a:r>
              <a:endParaRPr lang="zh-CN" altLang="en-US" sz="160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065032" y="2580262"/>
            <a:ext cx="1200144" cy="1088195"/>
            <a:chOff x="7065032" y="2580262"/>
            <a:chExt cx="1200144" cy="1088195"/>
          </a:xfrm>
        </p:grpSpPr>
        <p:sp>
          <p:nvSpPr>
            <p:cNvPr id="37" name="Freeform 10"/>
            <p:cNvSpPr/>
            <p:nvPr/>
          </p:nvSpPr>
          <p:spPr bwMode="auto">
            <a:xfrm>
              <a:off x="7065032" y="2580262"/>
              <a:ext cx="1081610" cy="729303"/>
            </a:xfrm>
            <a:custGeom>
              <a:avLst/>
              <a:gdLst>
                <a:gd name="T0" fmla="*/ 446 w 657"/>
                <a:gd name="T1" fmla="*/ 443 h 443"/>
                <a:gd name="T2" fmla="*/ 0 w 657"/>
                <a:gd name="T3" fmla="*/ 443 h 443"/>
                <a:gd name="T4" fmla="*/ 212 w 657"/>
                <a:gd name="T5" fmla="*/ 220 h 443"/>
                <a:gd name="T6" fmla="*/ 0 w 657"/>
                <a:gd name="T7" fmla="*/ 0 h 443"/>
                <a:gd name="T8" fmla="*/ 446 w 657"/>
                <a:gd name="T9" fmla="*/ 0 h 443"/>
                <a:gd name="T10" fmla="*/ 657 w 657"/>
                <a:gd name="T11" fmla="*/ 220 h 443"/>
                <a:gd name="T12" fmla="*/ 446 w 657"/>
                <a:gd name="T13" fmla="*/ 443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7" h="443">
                  <a:moveTo>
                    <a:pt x="446" y="443"/>
                  </a:moveTo>
                  <a:lnTo>
                    <a:pt x="0" y="443"/>
                  </a:lnTo>
                  <a:lnTo>
                    <a:pt x="212" y="220"/>
                  </a:lnTo>
                  <a:lnTo>
                    <a:pt x="0" y="0"/>
                  </a:lnTo>
                  <a:lnTo>
                    <a:pt x="446" y="0"/>
                  </a:lnTo>
                  <a:lnTo>
                    <a:pt x="657" y="220"/>
                  </a:lnTo>
                  <a:lnTo>
                    <a:pt x="446" y="4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45" tIns="60923" rIns="121845" bIns="60923" numCol="1" anchor="ctr" anchorCtr="0" compatLnSpc="1"/>
            <a:lstStyle/>
            <a:p>
              <a:pPr algn="ctr" defTabSz="1218565">
                <a:defRPr/>
              </a:pPr>
              <a:endParaRPr lang="zh-CN" altLang="en-US" sz="1330" ker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8" name="Freeform 11"/>
            <p:cNvSpPr/>
            <p:nvPr/>
          </p:nvSpPr>
          <p:spPr bwMode="auto">
            <a:xfrm>
              <a:off x="7573736" y="2580263"/>
              <a:ext cx="691440" cy="1088194"/>
            </a:xfrm>
            <a:custGeom>
              <a:avLst/>
              <a:gdLst>
                <a:gd name="T0" fmla="*/ 206 w 420"/>
                <a:gd name="T1" fmla="*/ 0 h 661"/>
                <a:gd name="T2" fmla="*/ 420 w 420"/>
                <a:gd name="T3" fmla="*/ 220 h 661"/>
                <a:gd name="T4" fmla="*/ 0 w 420"/>
                <a:gd name="T5" fmla="*/ 66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0" h="661">
                  <a:moveTo>
                    <a:pt x="206" y="0"/>
                  </a:moveTo>
                  <a:lnTo>
                    <a:pt x="420" y="220"/>
                  </a:lnTo>
                  <a:lnTo>
                    <a:pt x="0" y="661"/>
                  </a:lnTo>
                </a:path>
              </a:pathLst>
            </a:custGeom>
            <a:no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21845" tIns="60923" rIns="121845" bIns="60923" numCol="1" anchor="t" anchorCtr="0" compatLnSpc="1"/>
            <a:lstStyle/>
            <a:p>
              <a:pPr defTabSz="1218565">
                <a:defRPr/>
              </a:pPr>
              <a:endParaRPr lang="zh-CN" altLang="en-US" sz="2400" kern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67" name="矩形 6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7423107" y="2775636"/>
              <a:ext cx="4347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bg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03</a:t>
              </a:r>
              <a:endParaRPr lang="zh-CN" altLang="en-US" sz="1600" dirty="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</p:grpSp>
      <p:sp>
        <p:nvSpPr>
          <p:cNvPr id="6" name="矩形 5"/>
          <p:cNvSpPr/>
          <p:nvPr/>
        </p:nvSpPr>
        <p:spPr bwMode="auto">
          <a:xfrm>
            <a:off x="149852" y="597126"/>
            <a:ext cx="5323822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(3) Query worker information and manage workers</a:t>
            </a:r>
            <a:endParaRPr lang="zh-CN" altLang="zh-CN" sz="16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Function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pic>
        <p:nvPicPr>
          <p:cNvPr id="8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2" y="1086377"/>
            <a:ext cx="3057558" cy="128781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114" y="3532691"/>
            <a:ext cx="3591128" cy="13223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910" y="1086377"/>
            <a:ext cx="3098722" cy="128781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5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 bwMode="auto">
          <a:xfrm>
            <a:off x="230670" y="870695"/>
            <a:ext cx="47207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16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</a:rPr>
              <a:t>(4)Data Visualization</a:t>
            </a:r>
            <a:endParaRPr lang="zh-CN" altLang="zh-CN" sz="16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Function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0292" y="1944168"/>
            <a:ext cx="5027967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We have realized data visualization so administrators can clearly see the data distribution and changes. </a:t>
            </a:r>
          </a:p>
          <a:p>
            <a:pPr indent="266700" algn="just"/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For example , </a:t>
            </a:r>
          </a:p>
          <a:p>
            <a:pPr indent="266700" algn="just"/>
            <a:r>
              <a:rPr lang="en-US" altLang="zh-CN" sz="14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we select date range: 2022-07-07 ~ 2022-07-16.</a:t>
            </a:r>
            <a:endParaRPr lang="zh-CN" altLang="en-US" sz="1400" kern="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0" y="1422400"/>
            <a:ext cx="3706495" cy="229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: 圆角 1"/>
          <p:cNvSpPr/>
          <p:nvPr/>
        </p:nvSpPr>
        <p:spPr>
          <a:xfrm>
            <a:off x="609599" y="988290"/>
            <a:ext cx="3888509" cy="1819564"/>
          </a:xfrm>
          <a:prstGeom prst="roundRect">
            <a:avLst>
              <a:gd name="adj" fmla="val 9560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>
            <a:off x="609601" y="2937163"/>
            <a:ext cx="3888509" cy="1819564"/>
          </a:xfrm>
          <a:prstGeom prst="roundRect">
            <a:avLst>
              <a:gd name="adj" fmla="val 9560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/>
          <p:cNvSpPr/>
          <p:nvPr/>
        </p:nvSpPr>
        <p:spPr>
          <a:xfrm>
            <a:off x="4682837" y="988290"/>
            <a:ext cx="3888509" cy="1819564"/>
          </a:xfrm>
          <a:prstGeom prst="roundRect">
            <a:avLst>
              <a:gd name="adj" fmla="val 9560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/>
          <p:cNvSpPr/>
          <p:nvPr/>
        </p:nvSpPr>
        <p:spPr>
          <a:xfrm>
            <a:off x="4682839" y="2937163"/>
            <a:ext cx="3888509" cy="1819564"/>
          </a:xfrm>
          <a:prstGeom prst="roundRect">
            <a:avLst>
              <a:gd name="adj" fmla="val 9560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/>
        </p:nvSpPr>
        <p:spPr>
          <a:xfrm>
            <a:off x="3762496" y="2072678"/>
            <a:ext cx="735612" cy="735177"/>
          </a:xfrm>
          <a:custGeom>
            <a:avLst/>
            <a:gdLst>
              <a:gd name="connsiteX0" fmla="*/ 735612 w 735612"/>
              <a:gd name="connsiteY0" fmla="*/ 0 h 735177"/>
              <a:gd name="connsiteX1" fmla="*/ 735612 w 735612"/>
              <a:gd name="connsiteY1" fmla="*/ 561227 h 735177"/>
              <a:gd name="connsiteX2" fmla="*/ 561662 w 735612"/>
              <a:gd name="connsiteY2" fmla="*/ 735177 h 735177"/>
              <a:gd name="connsiteX3" fmla="*/ 0 w 735612"/>
              <a:gd name="connsiteY3" fmla="*/ 735177 h 735177"/>
              <a:gd name="connsiteX4" fmla="*/ 8692 w 735612"/>
              <a:gd name="connsiteY4" fmla="*/ 648950 h 735177"/>
              <a:gd name="connsiteX5" fmla="*/ 725928 w 735612"/>
              <a:gd name="connsiteY5" fmla="*/ 489 h 73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5612" h="735177">
                <a:moveTo>
                  <a:pt x="735612" y="0"/>
                </a:moveTo>
                <a:lnTo>
                  <a:pt x="735612" y="561227"/>
                </a:lnTo>
                <a:cubicBezTo>
                  <a:pt x="735612" y="657297"/>
                  <a:pt x="657732" y="735177"/>
                  <a:pt x="561662" y="735177"/>
                </a:cubicBezTo>
                <a:lnTo>
                  <a:pt x="0" y="735177"/>
                </a:lnTo>
                <a:lnTo>
                  <a:pt x="8692" y="648950"/>
                </a:lnTo>
                <a:cubicBezTo>
                  <a:pt x="79469" y="303072"/>
                  <a:pt x="368698" y="36768"/>
                  <a:pt x="725928" y="489"/>
                </a:cubicBezTo>
                <a:close/>
              </a:path>
            </a:pathLst>
          </a:custGeom>
          <a:solidFill>
            <a:schemeClr val="accent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/>
        </p:nvSpPr>
        <p:spPr>
          <a:xfrm flipV="1">
            <a:off x="3762495" y="2947460"/>
            <a:ext cx="735612" cy="735177"/>
          </a:xfrm>
          <a:custGeom>
            <a:avLst/>
            <a:gdLst>
              <a:gd name="connsiteX0" fmla="*/ 735612 w 735612"/>
              <a:gd name="connsiteY0" fmla="*/ 0 h 735177"/>
              <a:gd name="connsiteX1" fmla="*/ 735612 w 735612"/>
              <a:gd name="connsiteY1" fmla="*/ 561227 h 735177"/>
              <a:gd name="connsiteX2" fmla="*/ 561662 w 735612"/>
              <a:gd name="connsiteY2" fmla="*/ 735177 h 735177"/>
              <a:gd name="connsiteX3" fmla="*/ 0 w 735612"/>
              <a:gd name="connsiteY3" fmla="*/ 735177 h 735177"/>
              <a:gd name="connsiteX4" fmla="*/ 8692 w 735612"/>
              <a:gd name="connsiteY4" fmla="*/ 648950 h 735177"/>
              <a:gd name="connsiteX5" fmla="*/ 725928 w 735612"/>
              <a:gd name="connsiteY5" fmla="*/ 489 h 73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5612" h="735177">
                <a:moveTo>
                  <a:pt x="735612" y="0"/>
                </a:moveTo>
                <a:lnTo>
                  <a:pt x="735612" y="561227"/>
                </a:lnTo>
                <a:cubicBezTo>
                  <a:pt x="735612" y="657297"/>
                  <a:pt x="657732" y="735177"/>
                  <a:pt x="561662" y="735177"/>
                </a:cubicBezTo>
                <a:lnTo>
                  <a:pt x="0" y="735177"/>
                </a:lnTo>
                <a:lnTo>
                  <a:pt x="8692" y="648950"/>
                </a:lnTo>
                <a:cubicBezTo>
                  <a:pt x="79469" y="303072"/>
                  <a:pt x="368698" y="36768"/>
                  <a:pt x="725928" y="489"/>
                </a:cubicBezTo>
                <a:close/>
              </a:path>
            </a:pathLst>
          </a:custGeom>
          <a:solidFill>
            <a:schemeClr val="accent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 flipH="1">
            <a:off x="4683214" y="2084590"/>
            <a:ext cx="735612" cy="735177"/>
          </a:xfrm>
          <a:custGeom>
            <a:avLst/>
            <a:gdLst>
              <a:gd name="connsiteX0" fmla="*/ 735612 w 735612"/>
              <a:gd name="connsiteY0" fmla="*/ 0 h 735177"/>
              <a:gd name="connsiteX1" fmla="*/ 735612 w 735612"/>
              <a:gd name="connsiteY1" fmla="*/ 561227 h 735177"/>
              <a:gd name="connsiteX2" fmla="*/ 561662 w 735612"/>
              <a:gd name="connsiteY2" fmla="*/ 735177 h 735177"/>
              <a:gd name="connsiteX3" fmla="*/ 0 w 735612"/>
              <a:gd name="connsiteY3" fmla="*/ 735177 h 735177"/>
              <a:gd name="connsiteX4" fmla="*/ 8692 w 735612"/>
              <a:gd name="connsiteY4" fmla="*/ 648950 h 735177"/>
              <a:gd name="connsiteX5" fmla="*/ 725928 w 735612"/>
              <a:gd name="connsiteY5" fmla="*/ 489 h 73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5612" h="735177">
                <a:moveTo>
                  <a:pt x="735612" y="0"/>
                </a:moveTo>
                <a:lnTo>
                  <a:pt x="735612" y="561227"/>
                </a:lnTo>
                <a:cubicBezTo>
                  <a:pt x="735612" y="657297"/>
                  <a:pt x="657732" y="735177"/>
                  <a:pt x="561662" y="735177"/>
                </a:cubicBezTo>
                <a:lnTo>
                  <a:pt x="0" y="735177"/>
                </a:lnTo>
                <a:lnTo>
                  <a:pt x="8692" y="648950"/>
                </a:lnTo>
                <a:cubicBezTo>
                  <a:pt x="79469" y="303072"/>
                  <a:pt x="368698" y="36768"/>
                  <a:pt x="725928" y="489"/>
                </a:cubicBezTo>
                <a:close/>
              </a:path>
            </a:pathLst>
          </a:custGeom>
          <a:solidFill>
            <a:schemeClr val="accent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 flipH="1" flipV="1">
            <a:off x="4677867" y="2939439"/>
            <a:ext cx="735612" cy="735177"/>
          </a:xfrm>
          <a:custGeom>
            <a:avLst/>
            <a:gdLst>
              <a:gd name="connsiteX0" fmla="*/ 735612 w 735612"/>
              <a:gd name="connsiteY0" fmla="*/ 0 h 735177"/>
              <a:gd name="connsiteX1" fmla="*/ 735612 w 735612"/>
              <a:gd name="connsiteY1" fmla="*/ 561227 h 735177"/>
              <a:gd name="connsiteX2" fmla="*/ 561662 w 735612"/>
              <a:gd name="connsiteY2" fmla="*/ 735177 h 735177"/>
              <a:gd name="connsiteX3" fmla="*/ 0 w 735612"/>
              <a:gd name="connsiteY3" fmla="*/ 735177 h 735177"/>
              <a:gd name="connsiteX4" fmla="*/ 8692 w 735612"/>
              <a:gd name="connsiteY4" fmla="*/ 648950 h 735177"/>
              <a:gd name="connsiteX5" fmla="*/ 725928 w 735612"/>
              <a:gd name="connsiteY5" fmla="*/ 489 h 735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5612" h="735177">
                <a:moveTo>
                  <a:pt x="735612" y="0"/>
                </a:moveTo>
                <a:lnTo>
                  <a:pt x="735612" y="561227"/>
                </a:lnTo>
                <a:cubicBezTo>
                  <a:pt x="735612" y="657297"/>
                  <a:pt x="657732" y="735177"/>
                  <a:pt x="561662" y="735177"/>
                </a:cubicBezTo>
                <a:lnTo>
                  <a:pt x="0" y="735177"/>
                </a:lnTo>
                <a:lnTo>
                  <a:pt x="8692" y="648950"/>
                </a:lnTo>
                <a:cubicBezTo>
                  <a:pt x="79469" y="303072"/>
                  <a:pt x="368698" y="36768"/>
                  <a:pt x="725928" y="489"/>
                </a:cubicBezTo>
                <a:close/>
              </a:path>
            </a:pathLst>
          </a:custGeom>
          <a:solidFill>
            <a:schemeClr val="accent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486520" y="4577647"/>
            <a:ext cx="388851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Pie chart of the proportion of goods in different categories (averaged over the time period).</a:t>
            </a:r>
            <a:endParaRPr lang="zh-CN" altLang="zh-CN" sz="1050" kern="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717638" y="4577831"/>
            <a:ext cx="388850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Line graph of the change in the quantity of goods at different locations</a:t>
            </a:r>
            <a:endParaRPr lang="zh-CN" altLang="zh-CN" sz="1050" kern="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717638" y="721843"/>
            <a:ext cx="395943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Line chart of the change in the quantity of a category of goods.</a:t>
            </a:r>
            <a:endParaRPr lang="zh-CN" altLang="zh-CN" sz="1050" kern="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charset="-122"/>
            </a:endParaRPr>
          </a:p>
        </p:txBody>
      </p:sp>
      <p:sp>
        <p:nvSpPr>
          <p:cNvPr id="45" name="矩形 44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00091" y="705980"/>
            <a:ext cx="406107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05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charset="-122"/>
              </a:rPr>
              <a:t>This is the line chart of the change of the total quantity of goods in the warehouse per day.</a:t>
            </a:r>
            <a:endParaRPr lang="zh-CN" altLang="zh-CN" sz="1050" kern="0" dirty="0">
              <a:solidFill>
                <a:schemeClr val="tx1">
                  <a:lumMod val="65000"/>
                  <a:lumOff val="35000"/>
                </a:schemeClr>
              </a:solidFill>
              <a:latin typeface="思源黑体 CN Normal" panose="020B0400000000000000" charset="-122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026570" y="2387485"/>
            <a:ext cx="4347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01</a:t>
            </a:r>
            <a:endParaRPr lang="zh-CN" altLang="en-US" sz="1600"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27" name="矩形 2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717638" y="2387485"/>
            <a:ext cx="4347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02</a:t>
            </a:r>
            <a:endParaRPr lang="zh-CN" altLang="en-US" sz="1600"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31" name="矩形 3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028677" y="2977420"/>
            <a:ext cx="4251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03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sp>
        <p:nvSpPr>
          <p:cNvPr id="32" name="矩形 3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719745" y="2977420"/>
            <a:ext cx="4251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+mj-ea"/>
                <a:ea typeface="+mj-ea"/>
                <a:sym typeface="思源黑体 CN Normal" panose="020B0400000000000000" charset="-122"/>
              </a:rPr>
              <a:t>04</a:t>
            </a:r>
            <a:endParaRPr lang="zh-CN" altLang="en-US" sz="1600" dirty="0"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pic>
        <p:nvPicPr>
          <p:cNvPr id="3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44" y="1181317"/>
            <a:ext cx="3044102" cy="14452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215900" y="199279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Function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pic>
        <p:nvPicPr>
          <p:cNvPr id="5" name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048" y="1143860"/>
            <a:ext cx="3207390" cy="14463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14" y="3090164"/>
            <a:ext cx="3053832" cy="149383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780" y="3090164"/>
            <a:ext cx="3033891" cy="14876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9" grpId="0" bldLvl="0" animBg="1"/>
      <p:bldP spid="20" grpId="0" bldLvl="0" animBg="1"/>
      <p:bldP spid="21" grpId="0" bldLvl="0" animBg="1"/>
      <p:bldP spid="24" grpId="0" bldLvl="0" animBg="1"/>
      <p:bldP spid="25" grpId="0" bldLvl="0" animBg="1"/>
      <p:bldP spid="28" grpId="0" bldLvl="0" animBg="1"/>
      <p:bldP spid="29" grpId="0" bldLvl="0" animBg="1"/>
      <p:bldP spid="40" grpId="0"/>
      <p:bldP spid="42" grpId="0"/>
      <p:bldP spid="44" grpId="0"/>
      <p:bldP spid="45" grpId="0"/>
      <p:bldP spid="26" grpId="0"/>
      <p:bldP spid="27" grpId="0"/>
      <p:bldP spid="31" grpId="0"/>
      <p:bldP spid="3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Freeform 5"/>
          <p:cNvSpPr/>
          <p:nvPr/>
        </p:nvSpPr>
        <p:spPr bwMode="auto">
          <a:xfrm>
            <a:off x="1320754" y="1346174"/>
            <a:ext cx="2172889" cy="2509201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1" name="Freeform 5"/>
          <p:cNvSpPr/>
          <p:nvPr/>
        </p:nvSpPr>
        <p:spPr bwMode="auto">
          <a:xfrm>
            <a:off x="854196" y="2969026"/>
            <a:ext cx="796842" cy="920174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2" name="Freeform 5"/>
          <p:cNvSpPr/>
          <p:nvPr/>
        </p:nvSpPr>
        <p:spPr bwMode="auto">
          <a:xfrm>
            <a:off x="3558807" y="3398341"/>
            <a:ext cx="641404" cy="740679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83" name="Freeform 5"/>
          <p:cNvSpPr/>
          <p:nvPr/>
        </p:nvSpPr>
        <p:spPr bwMode="auto">
          <a:xfrm>
            <a:off x="1174721" y="1045027"/>
            <a:ext cx="464731" cy="536660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accent1"/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41" name="Freeform 5"/>
          <p:cNvSpPr/>
          <p:nvPr/>
        </p:nvSpPr>
        <p:spPr bwMode="auto">
          <a:xfrm>
            <a:off x="3639194" y="1377312"/>
            <a:ext cx="390194" cy="450587"/>
          </a:xfrm>
          <a:custGeom>
            <a:avLst/>
            <a:gdLst>
              <a:gd name="T0" fmla="*/ 827 w 827"/>
              <a:gd name="T1" fmla="*/ 239 h 955"/>
              <a:gd name="T2" fmla="*/ 414 w 827"/>
              <a:gd name="T3" fmla="*/ 0 h 955"/>
              <a:gd name="T4" fmla="*/ 0 w 827"/>
              <a:gd name="T5" fmla="*/ 239 h 955"/>
              <a:gd name="T6" fmla="*/ 0 w 827"/>
              <a:gd name="T7" fmla="*/ 716 h 955"/>
              <a:gd name="T8" fmla="*/ 414 w 827"/>
              <a:gd name="T9" fmla="*/ 955 h 955"/>
              <a:gd name="T10" fmla="*/ 827 w 827"/>
              <a:gd name="T11" fmla="*/ 716 h 955"/>
              <a:gd name="T12" fmla="*/ 827 w 827"/>
              <a:gd name="T13" fmla="*/ 239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27" h="955">
                <a:moveTo>
                  <a:pt x="827" y="239"/>
                </a:moveTo>
                <a:lnTo>
                  <a:pt x="414" y="0"/>
                </a:lnTo>
                <a:lnTo>
                  <a:pt x="0" y="239"/>
                </a:lnTo>
                <a:lnTo>
                  <a:pt x="0" y="716"/>
                </a:lnTo>
                <a:lnTo>
                  <a:pt x="414" y="955"/>
                </a:lnTo>
                <a:lnTo>
                  <a:pt x="827" y="716"/>
                </a:lnTo>
                <a:lnTo>
                  <a:pt x="827" y="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4288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黑体 CN Normal" panose="020B0400000000000000" charset="-122"/>
              <a:ea typeface="思源黑体 CN Normal" panose="020B0400000000000000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4467533" y="1788404"/>
            <a:ext cx="4745478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48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Business Analysis</a:t>
            </a:r>
            <a:endParaRPr lang="zh-CN" altLang="zh-CN" sz="48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4642338" y="3537019"/>
            <a:ext cx="1465642" cy="29754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</a:rPr>
              <a:t>The fifth unit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 Heavy" charset="-122"/>
              <a:ea typeface="思源宋体 CN Heavy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022302" y="2004058"/>
            <a:ext cx="276979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 w="3810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05</a:t>
            </a:r>
          </a:p>
        </p:txBody>
      </p:sp>
      <p:sp>
        <p:nvSpPr>
          <p:cNvPr id="23" name="矩形 22"/>
          <p:cNvSpPr/>
          <p:nvPr/>
        </p:nvSpPr>
        <p:spPr>
          <a:xfrm>
            <a:off x="1443448" y="2866846"/>
            <a:ext cx="1927501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>
                <a:ln w="38100">
                  <a:noFill/>
                </a:ln>
                <a:solidFill>
                  <a:prstClr val="white">
                    <a:alpha val="31000"/>
                  </a:prstClr>
                </a:solidFill>
                <a:effectLst/>
                <a:uLnTx/>
                <a:uFillTx/>
                <a:latin typeface="思源宋体 CN Heavy" charset="-122"/>
                <a:ea typeface="思源宋体 CN Heavy" charset="-122"/>
                <a:cs typeface="+mn-cs"/>
                <a:sym typeface="思源黑体 CN Normal" panose="020B0400000000000000" charset="-122"/>
              </a:rPr>
              <a:t>PARTFOUR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51407" y="137762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Business Analysis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9561" y="483167"/>
            <a:ext cx="1874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itchFamily="2" charset="-79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PESTEL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1468898" y="587265"/>
            <a:ext cx="6779113" cy="4147368"/>
            <a:chOff x="1468898" y="587265"/>
            <a:chExt cx="6779113" cy="4147368"/>
          </a:xfrm>
        </p:grpSpPr>
        <p:sp>
          <p:nvSpPr>
            <p:cNvPr id="32" name="矩形 3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2102462" y="587265"/>
              <a:ext cx="1097280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Political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sp>
          <p:nvSpPr>
            <p:cNvPr id="34" name="矩形 33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1536837" y="2339751"/>
              <a:ext cx="690880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Legal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sp>
          <p:nvSpPr>
            <p:cNvPr id="38" name="矩形 3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1468898" y="3999303"/>
              <a:ext cx="1503680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Environmental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sp>
          <p:nvSpPr>
            <p:cNvPr id="46" name="矩形 4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6145487" y="3999303"/>
              <a:ext cx="1503680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Technological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sp>
          <p:nvSpPr>
            <p:cNvPr id="48" name="矩形 4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6744331" y="2299111"/>
              <a:ext cx="1503680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Sociocultural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sp>
          <p:nvSpPr>
            <p:cNvPr id="2" name="六边形 1"/>
            <p:cNvSpPr/>
            <p:nvPr/>
          </p:nvSpPr>
          <p:spPr>
            <a:xfrm>
              <a:off x="2271009" y="876514"/>
              <a:ext cx="4473209" cy="3858119"/>
            </a:xfrm>
            <a:prstGeom prst="hexagon">
              <a:avLst/>
            </a:prstGeom>
            <a:noFill/>
            <a:ln>
              <a:solidFill>
                <a:srgbClr val="E0D7CE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<p:cNvSpPr/>
            <p:nvPr/>
          </p:nvSpPr>
          <p:spPr bwMode="auto">
            <a:xfrm>
              <a:off x="5876586" y="599748"/>
              <a:ext cx="995680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sym typeface="思源黑体 CN Normal" panose="020B0400000000000000" charset="-122"/>
                </a:rPr>
                <a:t>Economic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endParaRPr>
            </a:p>
          </p:txBody>
        </p:sp>
        <p:sp>
          <p:nvSpPr>
            <p:cNvPr id="4" name="六边形 3"/>
            <p:cNvSpPr/>
            <p:nvPr/>
          </p:nvSpPr>
          <p:spPr>
            <a:xfrm>
              <a:off x="3191980" y="1742971"/>
              <a:ext cx="2684403" cy="2315283"/>
            </a:xfrm>
            <a:prstGeom prst="hexagon">
              <a:avLst/>
            </a:prstGeom>
            <a:noFill/>
            <a:ln>
              <a:solidFill>
                <a:srgbClr val="E0D7CE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7175" y="1958176"/>
              <a:ext cx="2234011" cy="1884872"/>
            </a:xfrm>
            <a:prstGeom prst="hexagon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469265" y="924560"/>
            <a:ext cx="2626995" cy="1120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China has issued</a:t>
            </a:r>
            <a:r>
              <a:rPr lang="en-US" altLang="zh-CN" sz="1000"/>
              <a:t> many policies vigorously encourage and support the intelligent logistics equipment industry. 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78880" y="913130"/>
            <a:ext cx="25577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/>
              <a:t>In the future, the demand for intelligent warehousing market will be further released. It is estimated that by 2023, the scale of the intelligent warehousing market will reach 197.5 billion yuan.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44335" y="2677160"/>
            <a:ext cx="1901190" cy="866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in society, with the increase in land use costs and labor costs, storage costs have also increased significantly.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05830" y="4336415"/>
            <a:ext cx="3243580" cy="697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The development of Internet of Things technology and 5G technology has realized the remote monitoring and maintenance of the logistics equipment system</a:t>
            </a:r>
            <a:r>
              <a:rPr lang="en-US" altLang="zh-CN" sz="1000"/>
              <a:t>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1755" y="4279265"/>
            <a:ext cx="3209925" cy="846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In recent years, China's intelligent warehousing scheme has enjoyed a strong momentum of going to sea, and the first echelon of logistics robot enterprises have made remarkable achievements.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51130" y="2636520"/>
            <a:ext cx="2279650" cy="1066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000"/>
              <a:t>The Ministry of Industry and Information Technology and other competent departments have successively issued a series of legal documents to vigorously support the development of the industry.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/>
          <p:cNvSpPr/>
          <p:nvPr/>
        </p:nvSpPr>
        <p:spPr>
          <a:xfrm>
            <a:off x="215900" y="189551"/>
            <a:ext cx="2784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</a:rPr>
              <a:t>Business Analysis</a:t>
            </a:r>
            <a:endParaRPr lang="zh-CN" altLang="zh-CN" sz="2400" dirty="0">
              <a:ln w="38100">
                <a:noFill/>
              </a:ln>
              <a:solidFill>
                <a:srgbClr val="1D4E89"/>
              </a:solidFill>
              <a:ea typeface="思源宋体 CN Heavy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609599" y="970219"/>
            <a:ext cx="9007458" cy="3799499"/>
            <a:chOff x="609599" y="970219"/>
            <a:chExt cx="9007458" cy="3799499"/>
          </a:xfrm>
        </p:grpSpPr>
        <p:grpSp>
          <p:nvGrpSpPr>
            <p:cNvPr id="53" name="组合 52"/>
            <p:cNvGrpSpPr/>
            <p:nvPr/>
          </p:nvGrpSpPr>
          <p:grpSpPr>
            <a:xfrm>
              <a:off x="609601" y="2937163"/>
              <a:ext cx="4479906" cy="1819564"/>
              <a:chOff x="609601" y="2937163"/>
              <a:chExt cx="4479906" cy="1819564"/>
            </a:xfrm>
          </p:grpSpPr>
          <p:sp>
            <p:nvSpPr>
              <p:cNvPr id="19" name="矩形: 圆角 18"/>
              <p:cNvSpPr/>
              <p:nvPr/>
            </p:nvSpPr>
            <p:spPr>
              <a:xfrm>
                <a:off x="609601" y="2937163"/>
                <a:ext cx="3888509" cy="1819564"/>
              </a:xfrm>
              <a:prstGeom prst="roundRect">
                <a:avLst>
                  <a:gd name="adj" fmla="val 9560"/>
                </a:avLst>
              </a:prstGeom>
              <a:solidFill>
                <a:schemeClr val="bg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任意多边形: 形状 24"/>
              <p:cNvSpPr/>
              <p:nvPr/>
            </p:nvSpPr>
            <p:spPr>
              <a:xfrm flipV="1">
                <a:off x="3762495" y="2947460"/>
                <a:ext cx="735612" cy="735177"/>
              </a:xfrm>
              <a:custGeom>
                <a:avLst/>
                <a:gdLst>
                  <a:gd name="connsiteX0" fmla="*/ 735612 w 735612"/>
                  <a:gd name="connsiteY0" fmla="*/ 0 h 735177"/>
                  <a:gd name="connsiteX1" fmla="*/ 735612 w 735612"/>
                  <a:gd name="connsiteY1" fmla="*/ 561227 h 735177"/>
                  <a:gd name="connsiteX2" fmla="*/ 561662 w 735612"/>
                  <a:gd name="connsiteY2" fmla="*/ 735177 h 735177"/>
                  <a:gd name="connsiteX3" fmla="*/ 0 w 735612"/>
                  <a:gd name="connsiteY3" fmla="*/ 735177 h 735177"/>
                  <a:gd name="connsiteX4" fmla="*/ 8692 w 735612"/>
                  <a:gd name="connsiteY4" fmla="*/ 648950 h 735177"/>
                  <a:gd name="connsiteX5" fmla="*/ 725928 w 735612"/>
                  <a:gd name="connsiteY5" fmla="*/ 489 h 73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5612" h="735177">
                    <a:moveTo>
                      <a:pt x="735612" y="0"/>
                    </a:moveTo>
                    <a:lnTo>
                      <a:pt x="735612" y="561227"/>
                    </a:lnTo>
                    <a:cubicBezTo>
                      <a:pt x="735612" y="657297"/>
                      <a:pt x="657732" y="735177"/>
                      <a:pt x="561662" y="735177"/>
                    </a:cubicBezTo>
                    <a:lnTo>
                      <a:pt x="0" y="735177"/>
                    </a:lnTo>
                    <a:lnTo>
                      <a:pt x="8692" y="648950"/>
                    </a:lnTo>
                    <a:cubicBezTo>
                      <a:pt x="79469" y="303072"/>
                      <a:pt x="368698" y="36768"/>
                      <a:pt x="725928" y="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200997" y="3074751"/>
                <a:ext cx="3888510" cy="46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defTabSz="457200">
                  <a:defRPr/>
                </a:pPr>
                <a:r>
                  <a:rPr lang="en-US" altLang="zh-CN" sz="2400" dirty="0">
                    <a:ln w="38100">
                      <a:noFill/>
                    </a:ln>
                    <a:solidFill>
                      <a:srgbClr val="1D4E89"/>
                    </a:solidFill>
                    <a:ea typeface="思源宋体 CN Heavy" charset="-122"/>
                  </a:rPr>
                  <a:t>Opportunity</a:t>
                </a:r>
                <a:endParaRPr lang="zh-CN" altLang="zh-CN" sz="2400" dirty="0">
                  <a:ln w="38100">
                    <a:noFill/>
                  </a:ln>
                  <a:solidFill>
                    <a:srgbClr val="1D4E89"/>
                  </a:solidFill>
                  <a:ea typeface="思源宋体 CN Heavy" charset="-122"/>
                </a:endParaRPr>
              </a:p>
            </p:txBody>
          </p:sp>
          <p:sp>
            <p:nvSpPr>
              <p:cNvPr id="31" name="矩形 30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  <p:cNvSpPr/>
              <p:nvPr/>
            </p:nvSpPr>
            <p:spPr bwMode="auto">
              <a:xfrm>
                <a:off x="4028677" y="2977420"/>
                <a:ext cx="42511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dirty="0">
                    <a:solidFill>
                      <a:schemeClr val="bg1"/>
                    </a:solidFill>
                    <a:latin typeface="+mj-ea"/>
                    <a:ea typeface="+mj-ea"/>
                    <a:sym typeface="思源黑体 CN Normal" panose="020B0400000000000000" charset="-122"/>
                  </a:rPr>
                  <a:t>03</a:t>
                </a:r>
                <a:endParaRPr lang="zh-CN" altLang="en-US" sz="1600" dirty="0">
                  <a:solidFill>
                    <a:schemeClr val="bg1"/>
                  </a:solidFill>
                  <a:latin typeface="+mj-ea"/>
                  <a:ea typeface="+mj-ea"/>
                  <a:sym typeface="思源黑体 CN Normal" panose="020B0400000000000000" charset="-122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4572000" y="970219"/>
              <a:ext cx="4932842" cy="1831477"/>
              <a:chOff x="4572000" y="970219"/>
              <a:chExt cx="4932842" cy="1831477"/>
            </a:xfrm>
          </p:grpSpPr>
          <p:sp>
            <p:nvSpPr>
              <p:cNvPr id="20" name="矩形: 圆角 19"/>
              <p:cNvSpPr/>
              <p:nvPr/>
            </p:nvSpPr>
            <p:spPr>
              <a:xfrm>
                <a:off x="4572000" y="970219"/>
                <a:ext cx="3888509" cy="1819564"/>
              </a:xfrm>
              <a:prstGeom prst="roundRect">
                <a:avLst>
                  <a:gd name="adj" fmla="val 9560"/>
                </a:avLst>
              </a:prstGeom>
              <a:solidFill>
                <a:schemeClr val="bg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任意多边形: 形状 27"/>
              <p:cNvSpPr/>
              <p:nvPr/>
            </p:nvSpPr>
            <p:spPr>
              <a:xfrm flipH="1">
                <a:off x="4572377" y="2066519"/>
                <a:ext cx="735612" cy="735177"/>
              </a:xfrm>
              <a:custGeom>
                <a:avLst/>
                <a:gdLst>
                  <a:gd name="connsiteX0" fmla="*/ 735612 w 735612"/>
                  <a:gd name="connsiteY0" fmla="*/ 0 h 735177"/>
                  <a:gd name="connsiteX1" fmla="*/ 735612 w 735612"/>
                  <a:gd name="connsiteY1" fmla="*/ 561227 h 735177"/>
                  <a:gd name="connsiteX2" fmla="*/ 561662 w 735612"/>
                  <a:gd name="connsiteY2" fmla="*/ 735177 h 735177"/>
                  <a:gd name="connsiteX3" fmla="*/ 0 w 735612"/>
                  <a:gd name="connsiteY3" fmla="*/ 735177 h 735177"/>
                  <a:gd name="connsiteX4" fmla="*/ 8692 w 735612"/>
                  <a:gd name="connsiteY4" fmla="*/ 648950 h 735177"/>
                  <a:gd name="connsiteX5" fmla="*/ 725928 w 735612"/>
                  <a:gd name="connsiteY5" fmla="*/ 489 h 73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5612" h="735177">
                    <a:moveTo>
                      <a:pt x="735612" y="0"/>
                    </a:moveTo>
                    <a:lnTo>
                      <a:pt x="735612" y="561227"/>
                    </a:lnTo>
                    <a:cubicBezTo>
                      <a:pt x="735612" y="657297"/>
                      <a:pt x="657732" y="735177"/>
                      <a:pt x="561662" y="735177"/>
                    </a:cubicBezTo>
                    <a:lnTo>
                      <a:pt x="0" y="735177"/>
                    </a:lnTo>
                    <a:lnTo>
                      <a:pt x="8692" y="648950"/>
                    </a:lnTo>
                    <a:cubicBezTo>
                      <a:pt x="79469" y="303072"/>
                      <a:pt x="368698" y="36768"/>
                      <a:pt x="725928" y="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  <p:cNvSpPr/>
              <p:nvPr/>
            </p:nvSpPr>
            <p:spPr bwMode="auto">
              <a:xfrm>
                <a:off x="4606801" y="2369414"/>
                <a:ext cx="43473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>
                    <a:solidFill>
                      <a:schemeClr val="bg1"/>
                    </a:solidFill>
                    <a:latin typeface="+mj-ea"/>
                    <a:ea typeface="+mj-ea"/>
                    <a:sym typeface="思源黑体 CN Normal" panose="020B0400000000000000" charset="-122"/>
                  </a:rPr>
                  <a:t>02</a:t>
                </a:r>
                <a:endParaRPr lang="zh-CN" altLang="en-US" sz="1600">
                  <a:solidFill>
                    <a:schemeClr val="bg1"/>
                  </a:solidFill>
                  <a:latin typeface="+mj-ea"/>
                  <a:ea typeface="+mj-ea"/>
                  <a:sym typeface="思源黑体 CN Normal" panose="020B0400000000000000" charset="-122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5616332" y="988365"/>
                <a:ext cx="3888510" cy="46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defTabSz="457200">
                  <a:defRPr/>
                </a:pPr>
                <a:r>
                  <a:rPr lang="en-US" altLang="zh-CN" sz="2400" dirty="0">
                    <a:ln w="38100">
                      <a:noFill/>
                    </a:ln>
                    <a:solidFill>
                      <a:srgbClr val="1D4E89"/>
                    </a:solidFill>
                    <a:ea typeface="思源宋体 CN Heavy" charset="-122"/>
                  </a:rPr>
                  <a:t>Weakness</a:t>
                </a:r>
                <a:endParaRPr lang="zh-CN" altLang="zh-CN" sz="2400" dirty="0">
                  <a:ln w="38100">
                    <a:noFill/>
                  </a:ln>
                  <a:solidFill>
                    <a:srgbClr val="1D4E89"/>
                  </a:solidFill>
                  <a:ea typeface="思源宋体 CN Heavy" charset="-122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09599" y="988020"/>
              <a:ext cx="4542773" cy="1819835"/>
              <a:chOff x="609599" y="988020"/>
              <a:chExt cx="4542773" cy="1819835"/>
            </a:xfrm>
          </p:grpSpPr>
          <p:sp>
            <p:nvSpPr>
              <p:cNvPr id="2" name="矩形: 圆角 1"/>
              <p:cNvSpPr/>
              <p:nvPr/>
            </p:nvSpPr>
            <p:spPr>
              <a:xfrm>
                <a:off x="609599" y="988290"/>
                <a:ext cx="3888509" cy="1819564"/>
              </a:xfrm>
              <a:prstGeom prst="roundRect">
                <a:avLst>
                  <a:gd name="adj" fmla="val 9560"/>
                </a:avLst>
              </a:prstGeom>
              <a:solidFill>
                <a:schemeClr val="bg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/>
                  <a:t>Our system is user-oriented and can distinctly show the goods in the warehouse on the web page, which is easy for customers to use.</a:t>
                </a:r>
              </a:p>
              <a:p>
                <a:pPr algn="ctr"/>
                <a:r>
                  <a:rPr lang="zh-CN" altLang="en-US"/>
                  <a:t>Our warehouse management system simulates the real warehouse situation and is professionally designed. We utilize various sensors for goods identification, environmental monitoring, and emergency control.</a:t>
                </a:r>
              </a:p>
            </p:txBody>
          </p:sp>
          <p:sp>
            <p:nvSpPr>
              <p:cNvPr id="24" name="任意多边形: 形状 23"/>
              <p:cNvSpPr/>
              <p:nvPr/>
            </p:nvSpPr>
            <p:spPr>
              <a:xfrm>
                <a:off x="3762496" y="2072678"/>
                <a:ext cx="735612" cy="735177"/>
              </a:xfrm>
              <a:custGeom>
                <a:avLst/>
                <a:gdLst>
                  <a:gd name="connsiteX0" fmla="*/ 735612 w 735612"/>
                  <a:gd name="connsiteY0" fmla="*/ 0 h 735177"/>
                  <a:gd name="connsiteX1" fmla="*/ 735612 w 735612"/>
                  <a:gd name="connsiteY1" fmla="*/ 561227 h 735177"/>
                  <a:gd name="connsiteX2" fmla="*/ 561662 w 735612"/>
                  <a:gd name="connsiteY2" fmla="*/ 735177 h 735177"/>
                  <a:gd name="connsiteX3" fmla="*/ 0 w 735612"/>
                  <a:gd name="connsiteY3" fmla="*/ 735177 h 735177"/>
                  <a:gd name="connsiteX4" fmla="*/ 8692 w 735612"/>
                  <a:gd name="connsiteY4" fmla="*/ 648950 h 735177"/>
                  <a:gd name="connsiteX5" fmla="*/ 725928 w 735612"/>
                  <a:gd name="connsiteY5" fmla="*/ 489 h 73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5612" h="735177">
                    <a:moveTo>
                      <a:pt x="735612" y="0"/>
                    </a:moveTo>
                    <a:lnTo>
                      <a:pt x="735612" y="561227"/>
                    </a:lnTo>
                    <a:cubicBezTo>
                      <a:pt x="735612" y="657297"/>
                      <a:pt x="657732" y="735177"/>
                      <a:pt x="561662" y="735177"/>
                    </a:cubicBezTo>
                    <a:lnTo>
                      <a:pt x="0" y="735177"/>
                    </a:lnTo>
                    <a:lnTo>
                      <a:pt x="8692" y="648950"/>
                    </a:lnTo>
                    <a:cubicBezTo>
                      <a:pt x="79469" y="303072"/>
                      <a:pt x="368698" y="36768"/>
                      <a:pt x="725928" y="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  <p:cNvSpPr/>
              <p:nvPr/>
            </p:nvSpPr>
            <p:spPr bwMode="auto">
              <a:xfrm>
                <a:off x="4026570" y="2387485"/>
                <a:ext cx="434734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>
                    <a:solidFill>
                      <a:schemeClr val="bg1"/>
                    </a:solidFill>
                    <a:latin typeface="+mj-ea"/>
                    <a:ea typeface="+mj-ea"/>
                    <a:sym typeface="思源黑体 CN Normal" panose="020B0400000000000000" charset="-122"/>
                  </a:rPr>
                  <a:t>01</a:t>
                </a:r>
                <a:endParaRPr lang="zh-CN" altLang="en-US" sz="1600">
                  <a:solidFill>
                    <a:schemeClr val="bg1"/>
                  </a:solidFill>
                  <a:latin typeface="+mj-ea"/>
                  <a:ea typeface="+mj-ea"/>
                  <a:sym typeface="思源黑体 CN Normal" panose="020B0400000000000000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1263862" y="988020"/>
                <a:ext cx="3888510" cy="46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defTabSz="457200">
                  <a:defRPr/>
                </a:pPr>
                <a:r>
                  <a:rPr lang="en-US" altLang="zh-CN" sz="2400" dirty="0">
                    <a:ln w="38100">
                      <a:noFill/>
                    </a:ln>
                    <a:solidFill>
                      <a:srgbClr val="1D4E89"/>
                    </a:solidFill>
                    <a:ea typeface="思源宋体 CN Heavy" charset="-122"/>
                  </a:rPr>
                  <a:t>Strength</a:t>
                </a:r>
                <a:endParaRPr lang="zh-CN" altLang="zh-CN" sz="2400" dirty="0">
                  <a:ln w="38100">
                    <a:noFill/>
                  </a:ln>
                  <a:solidFill>
                    <a:srgbClr val="1D4E89"/>
                  </a:solidFill>
                  <a:ea typeface="思源宋体 CN Heavy" charset="-122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572000" y="2950154"/>
              <a:ext cx="5045057" cy="1819564"/>
              <a:chOff x="4677867" y="2937163"/>
              <a:chExt cx="5045057" cy="1819564"/>
            </a:xfrm>
          </p:grpSpPr>
          <p:sp>
            <p:nvSpPr>
              <p:cNvPr id="21" name="矩形: 圆角 20"/>
              <p:cNvSpPr/>
              <p:nvPr/>
            </p:nvSpPr>
            <p:spPr>
              <a:xfrm>
                <a:off x="4682839" y="2937163"/>
                <a:ext cx="3888509" cy="1819564"/>
              </a:xfrm>
              <a:prstGeom prst="roundRect">
                <a:avLst>
                  <a:gd name="adj" fmla="val 9560"/>
                </a:avLst>
              </a:prstGeom>
              <a:solidFill>
                <a:schemeClr val="bg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/>
            </p:nvSpPr>
            <p:spPr>
              <a:xfrm flipH="1" flipV="1">
                <a:off x="4677867" y="2939439"/>
                <a:ext cx="735612" cy="735177"/>
              </a:xfrm>
              <a:custGeom>
                <a:avLst/>
                <a:gdLst>
                  <a:gd name="connsiteX0" fmla="*/ 735612 w 735612"/>
                  <a:gd name="connsiteY0" fmla="*/ 0 h 735177"/>
                  <a:gd name="connsiteX1" fmla="*/ 735612 w 735612"/>
                  <a:gd name="connsiteY1" fmla="*/ 561227 h 735177"/>
                  <a:gd name="connsiteX2" fmla="*/ 561662 w 735612"/>
                  <a:gd name="connsiteY2" fmla="*/ 735177 h 735177"/>
                  <a:gd name="connsiteX3" fmla="*/ 0 w 735612"/>
                  <a:gd name="connsiteY3" fmla="*/ 735177 h 735177"/>
                  <a:gd name="connsiteX4" fmla="*/ 8692 w 735612"/>
                  <a:gd name="connsiteY4" fmla="*/ 648950 h 735177"/>
                  <a:gd name="connsiteX5" fmla="*/ 725928 w 735612"/>
                  <a:gd name="connsiteY5" fmla="*/ 489 h 73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35612" h="735177">
                    <a:moveTo>
                      <a:pt x="735612" y="0"/>
                    </a:moveTo>
                    <a:lnTo>
                      <a:pt x="735612" y="561227"/>
                    </a:lnTo>
                    <a:cubicBezTo>
                      <a:pt x="735612" y="657297"/>
                      <a:pt x="657732" y="735177"/>
                      <a:pt x="561662" y="735177"/>
                    </a:cubicBezTo>
                    <a:lnTo>
                      <a:pt x="0" y="735177"/>
                    </a:lnTo>
                    <a:lnTo>
                      <a:pt x="8692" y="648950"/>
                    </a:lnTo>
                    <a:cubicBezTo>
                      <a:pt x="79469" y="303072"/>
                      <a:pt x="368698" y="36768"/>
                      <a:pt x="725928" y="4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  <a:effectLst>
                <a:outerShdw blurRad="127000" dist="127000" dir="5400000" algn="t" rotWithShape="0">
                  <a:schemeClr val="accent1">
                    <a:lumMod val="75000"/>
                    <a:alpha val="1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    <p:cNvSpPr/>
              <p:nvPr/>
            </p:nvSpPr>
            <p:spPr bwMode="auto">
              <a:xfrm>
                <a:off x="4719745" y="2977420"/>
                <a:ext cx="425116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dirty="0">
                    <a:solidFill>
                      <a:schemeClr val="bg1"/>
                    </a:solidFill>
                    <a:latin typeface="+mj-ea"/>
                    <a:ea typeface="+mj-ea"/>
                    <a:sym typeface="思源黑体 CN Normal" panose="020B0400000000000000" charset="-122"/>
                  </a:rPr>
                  <a:t>04</a:t>
                </a:r>
                <a:endParaRPr lang="zh-CN" altLang="en-US" sz="1600" dirty="0">
                  <a:solidFill>
                    <a:schemeClr val="bg1"/>
                  </a:solidFill>
                  <a:latin typeface="+mj-ea"/>
                  <a:ea typeface="+mj-ea"/>
                  <a:sym typeface="思源黑体 CN Normal" panose="020B0400000000000000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5834414" y="2977188"/>
                <a:ext cx="3888510" cy="46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266700" defTabSz="457200">
                  <a:defRPr/>
                </a:pPr>
                <a:r>
                  <a:rPr lang="en-US" altLang="zh-CN" sz="2400" dirty="0">
                    <a:ln w="38100">
                      <a:noFill/>
                    </a:ln>
                    <a:solidFill>
                      <a:srgbClr val="1D4E89"/>
                    </a:solidFill>
                    <a:ea typeface="思源宋体 CN Heavy" charset="-122"/>
                  </a:rPr>
                  <a:t>Threat</a:t>
                </a:r>
              </a:p>
            </p:txBody>
          </p:sp>
        </p:grpSp>
      </p:grpSp>
      <p:sp>
        <p:nvSpPr>
          <p:cNvPr id="71" name="文本框 70"/>
          <p:cNvSpPr txBox="1"/>
          <p:nvPr/>
        </p:nvSpPr>
        <p:spPr>
          <a:xfrm>
            <a:off x="252519" y="575579"/>
            <a:ext cx="18742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swald" pitchFamily="2" charset="0"/>
                <a:ea typeface="等线" panose="02010600030101010101" charset="-122"/>
                <a:cs typeface="Aharoni" pitchFamily="2" charset="-79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</a:rPr>
              <a:t>SWOT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9600" y="1529080"/>
            <a:ext cx="3227070" cy="1545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/>
              <a:t>·U</a:t>
            </a:r>
            <a:r>
              <a:rPr lang="zh-CN" altLang="en-US" sz="1000"/>
              <a:t>ser-oriented and can distinctly show the goods in the warehouse on the web page</a:t>
            </a:r>
          </a:p>
          <a:p>
            <a:r>
              <a:rPr lang="en-US" altLang="zh-CN" sz="1000"/>
              <a:t>·S</a:t>
            </a:r>
            <a:r>
              <a:rPr lang="zh-CN" altLang="en-US" sz="1000"/>
              <a:t>imulates the real warehouse situation. </a:t>
            </a:r>
          </a:p>
          <a:p>
            <a:r>
              <a:rPr lang="en-US" altLang="zh-CN" sz="1000"/>
              <a:t>·U</a:t>
            </a:r>
            <a:r>
              <a:rPr lang="zh-CN" altLang="en-US" sz="1000"/>
              <a:t>tilize various sensors for goods identification, environmental monitoring, and emergency control.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86680" y="1529080"/>
            <a:ext cx="3404870" cy="14732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>
                <a:sym typeface="+mn-ea"/>
              </a:rPr>
              <a:t>·</a:t>
            </a:r>
            <a:r>
              <a:rPr sz="1000">
                <a:sym typeface="+mn-ea"/>
              </a:rPr>
              <a:t>The stability and creativity</a:t>
            </a:r>
            <a:r>
              <a:rPr lang="en-US" sz="1000">
                <a:sym typeface="+mn-ea"/>
              </a:rPr>
              <a:t> </a:t>
            </a:r>
            <a:r>
              <a:rPr sz="1000">
                <a:sym typeface="+mn-ea"/>
              </a:rPr>
              <a:t>still need to be improved.</a:t>
            </a:r>
            <a:endParaRPr sz="1000"/>
          </a:p>
          <a:p>
            <a:r>
              <a:rPr lang="en-US" sz="1000">
                <a:sym typeface="+mn-ea"/>
              </a:rPr>
              <a:t>·O</a:t>
            </a:r>
            <a:r>
              <a:rPr sz="1000">
                <a:sym typeface="+mn-ea"/>
              </a:rPr>
              <a:t>nly developed the web version, without expanding the function into application on cellphones for realizing better convenience.</a:t>
            </a:r>
            <a:endParaRPr sz="1000"/>
          </a:p>
        </p:txBody>
      </p:sp>
      <p:sp>
        <p:nvSpPr>
          <p:cNvPr id="11" name="文本框 10"/>
          <p:cNvSpPr txBox="1"/>
          <p:nvPr/>
        </p:nvSpPr>
        <p:spPr>
          <a:xfrm>
            <a:off x="716915" y="3535045"/>
            <a:ext cx="3502025" cy="1124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/>
              <a:t>·A</a:t>
            </a:r>
            <a:r>
              <a:rPr sz="1000"/>
              <a:t>ttract more users with a relatively low price.</a:t>
            </a:r>
          </a:p>
          <a:p>
            <a:r>
              <a:rPr lang="en-US" sz="1000"/>
              <a:t>·F</a:t>
            </a:r>
            <a:r>
              <a:rPr sz="1000"/>
              <a:t>ind investors and sponsors who are interested in our project. </a:t>
            </a:r>
          </a:p>
          <a:p>
            <a:r>
              <a:rPr lang="en-US" sz="1000"/>
              <a:t>·C</a:t>
            </a:r>
            <a:r>
              <a:rPr sz="1000"/>
              <a:t>ombine with major supermarkets and apply the system in supermarket sales.​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963160" y="3575050"/>
            <a:ext cx="3502025" cy="1124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00"/>
              <a:t>·C</a:t>
            </a:r>
            <a:r>
              <a:rPr sz="1000"/>
              <a:t>ompetitors increase.</a:t>
            </a:r>
          </a:p>
          <a:p>
            <a:r>
              <a:rPr lang="en-US" sz="1000"/>
              <a:t>·W</a:t>
            </a:r>
            <a:r>
              <a:rPr sz="1000"/>
              <a:t>e need to invest a lot of money and manpower to do the publicity. </a:t>
            </a:r>
          </a:p>
          <a:p>
            <a:r>
              <a:rPr lang="en-US" sz="1000"/>
              <a:t>·W</a:t>
            </a:r>
            <a:r>
              <a:rPr sz="1000"/>
              <a:t>e must be creative as soon as possible or we will lose market competitiveness.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5"/>
          <p:cNvSpPr txBox="1"/>
          <p:nvPr>
            <p:custDataLst>
              <p:tags r:id="rId2"/>
            </p:custDataLst>
          </p:nvPr>
        </p:nvSpPr>
        <p:spPr bwMode="auto">
          <a:xfrm>
            <a:off x="4947285" y="1680845"/>
            <a:ext cx="3006725" cy="1035050"/>
          </a:xfrm>
          <a:prstGeom prst="rect">
            <a:avLst/>
          </a:prstGeom>
          <a:noFill/>
        </p:spPr>
        <p:txBody>
          <a:bodyPr vert="horz" wrap="square" lIns="68580" tIns="34290" rIns="68580" bIns="34290" rtlCol="0" anchor="t" anchorCtr="0" compatLnSpc="0">
            <a:no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buClrTx/>
              <a:buSzTx/>
              <a:buFontTx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When the enterprise expands to medium scale or above, the price of a customized system usually needs between 100000 and 500000, depending on the functional category, difficulty, development workload, pricing, and positioning of service providers, etc.</a:t>
            </a:r>
          </a:p>
        </p:txBody>
      </p:sp>
      <p:sp>
        <p:nvSpPr>
          <p:cNvPr id="126" name="Прямоугольник 6"/>
          <p:cNvSpPr txBox="1"/>
          <p:nvPr>
            <p:custDataLst>
              <p:tags r:id="rId3"/>
            </p:custDataLst>
          </p:nvPr>
        </p:nvSpPr>
        <p:spPr>
          <a:xfrm>
            <a:off x="6169184" y="1370013"/>
            <a:ext cx="659130" cy="310515"/>
          </a:xfrm>
          <a:prstGeom prst="rect">
            <a:avLst/>
          </a:prstGeom>
          <a:noFill/>
        </p:spPr>
        <p:txBody>
          <a:bodyPr wrap="none" bIns="34290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>
                <a:solidFill>
                  <a:srgbClr val="AAE20A"/>
                </a:solidFill>
                <a:latin typeface="思源黑体 CN Bold" panose="020B0800000000000000" charset="-122"/>
                <a:ea typeface="思源黑体 CN Bold" panose="020B0800000000000000" charset="-122"/>
                <a:sym typeface="微软雅黑" panose="020B0503020204020204" charset="-122"/>
              </a:rPr>
              <a:t>Price</a:t>
            </a:r>
          </a:p>
        </p:txBody>
      </p:sp>
      <p:sp>
        <p:nvSpPr>
          <p:cNvPr id="135" name="Прямоугольник 19"/>
          <p:cNvSpPr/>
          <p:nvPr>
            <p:custDataLst>
              <p:tags r:id="rId4"/>
            </p:custDataLst>
          </p:nvPr>
        </p:nvSpPr>
        <p:spPr>
          <a:xfrm>
            <a:off x="5703888" y="1329849"/>
            <a:ext cx="465296" cy="391478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pPr algn="ctr"/>
            <a:r>
              <a:rPr lang="en-US" sz="2100" b="1" dirty="0">
                <a:solidFill>
                  <a:srgbClr val="AAE20A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Light" panose="020B0300000000000000" charset="-122"/>
              </a:rPr>
              <a:t>02</a:t>
            </a:r>
          </a:p>
        </p:txBody>
      </p:sp>
      <p:sp>
        <p:nvSpPr>
          <p:cNvPr id="2" name="TextBox 5"/>
          <p:cNvSpPr txBox="1"/>
          <p:nvPr>
            <p:custDataLst>
              <p:tags r:id="rId5"/>
            </p:custDataLst>
          </p:nvPr>
        </p:nvSpPr>
        <p:spPr bwMode="auto">
          <a:xfrm>
            <a:off x="5170170" y="3426460"/>
            <a:ext cx="2720340" cy="899160"/>
          </a:xfrm>
          <a:prstGeom prst="rect">
            <a:avLst/>
          </a:prstGeom>
          <a:noFill/>
        </p:spPr>
        <p:txBody>
          <a:bodyPr vert="horz" wrap="square" lIns="68580" tIns="34290" rIns="68580" bIns="34290" rtlCol="0" anchor="t" anchorCtr="0" compatLnSpc="0">
            <a:sp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buClrTx/>
              <a:buSzTx/>
              <a:buFontTx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First of all, we start our business in the first-tier cities with developed logistics and e-commerce industries. Then we expand the business, establishing subsystems in other cities.</a:t>
            </a:r>
          </a:p>
        </p:txBody>
      </p:sp>
      <p:sp>
        <p:nvSpPr>
          <p:cNvPr id="4" name="Прямоугольник 6"/>
          <p:cNvSpPr txBox="1"/>
          <p:nvPr>
            <p:custDataLst>
              <p:tags r:id="rId6"/>
            </p:custDataLst>
          </p:nvPr>
        </p:nvSpPr>
        <p:spPr>
          <a:xfrm>
            <a:off x="6227128" y="3070543"/>
            <a:ext cx="659130" cy="310515"/>
          </a:xfrm>
          <a:prstGeom prst="rect">
            <a:avLst/>
          </a:prstGeom>
          <a:noFill/>
        </p:spPr>
        <p:txBody>
          <a:bodyPr wrap="none" bIns="34290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>
                <a:solidFill>
                  <a:srgbClr val="00C4F6"/>
                </a:solidFill>
                <a:latin typeface="思源黑体 CN Bold" panose="020B0800000000000000" charset="-122"/>
                <a:ea typeface="思源黑体 CN Bold" panose="020B0800000000000000" charset="-122"/>
                <a:sym typeface="微软雅黑" panose="020B0503020204020204" charset="-122"/>
              </a:rPr>
              <a:t>Place</a:t>
            </a:r>
          </a:p>
        </p:txBody>
      </p:sp>
      <p:sp>
        <p:nvSpPr>
          <p:cNvPr id="11" name="Прямоугольник 19"/>
          <p:cNvSpPr/>
          <p:nvPr>
            <p:custDataLst>
              <p:tags r:id="rId7"/>
            </p:custDataLst>
          </p:nvPr>
        </p:nvSpPr>
        <p:spPr>
          <a:xfrm>
            <a:off x="5704046" y="3070701"/>
            <a:ext cx="465296" cy="391478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pPr algn="ctr"/>
            <a:r>
              <a:rPr lang="en-US" sz="2100" b="1" dirty="0">
                <a:solidFill>
                  <a:srgbClr val="00C4F6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Light" panose="020B0300000000000000" charset="-122"/>
              </a:rPr>
              <a:t>04</a:t>
            </a:r>
          </a:p>
        </p:txBody>
      </p:sp>
      <p:sp>
        <p:nvSpPr>
          <p:cNvPr id="5" name="Прямоугольник 6"/>
          <p:cNvSpPr txBox="1"/>
          <p:nvPr>
            <p:custDataLst>
              <p:tags r:id="rId8"/>
            </p:custDataLst>
          </p:nvPr>
        </p:nvSpPr>
        <p:spPr>
          <a:xfrm>
            <a:off x="2387600" y="1370489"/>
            <a:ext cx="849630" cy="310515"/>
          </a:xfrm>
          <a:prstGeom prst="rect">
            <a:avLst/>
          </a:prstGeom>
          <a:noFill/>
        </p:spPr>
        <p:txBody>
          <a:bodyPr wrap="none" bIns="34290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>
                <a:solidFill>
                  <a:srgbClr val="20E4F9">
                    <a:lumMod val="75000"/>
                  </a:srgbClr>
                </a:solidFill>
                <a:latin typeface="思源黑体 CN Bold" panose="020B0800000000000000" charset="-122"/>
                <a:ea typeface="思源黑体 CN Bold" panose="020B0800000000000000" charset="-122"/>
                <a:sym typeface="微软雅黑" panose="020B0503020204020204" charset="-122"/>
              </a:rPr>
              <a:t>Product</a:t>
            </a:r>
          </a:p>
        </p:txBody>
      </p:sp>
      <p:sp>
        <p:nvSpPr>
          <p:cNvPr id="14" name="Прямоугольник 19"/>
          <p:cNvSpPr/>
          <p:nvPr>
            <p:custDataLst>
              <p:tags r:id="rId9"/>
            </p:custDataLst>
          </p:nvPr>
        </p:nvSpPr>
        <p:spPr>
          <a:xfrm>
            <a:off x="1920558" y="1370330"/>
            <a:ext cx="465296" cy="391478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pPr algn="ctr"/>
            <a:r>
              <a:rPr lang="en-US" sz="2100" b="1" dirty="0">
                <a:solidFill>
                  <a:srgbClr val="20E4F9">
                    <a:lumMod val="75000"/>
                  </a:srgb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Light" panose="020B0300000000000000" charset="-122"/>
              </a:rPr>
              <a:t>01</a:t>
            </a:r>
          </a:p>
        </p:txBody>
      </p:sp>
      <p:sp>
        <p:nvSpPr>
          <p:cNvPr id="15" name="TextBox 5"/>
          <p:cNvSpPr txBox="1"/>
          <p:nvPr>
            <p:custDataLst>
              <p:tags r:id="rId10"/>
            </p:custDataLst>
          </p:nvPr>
        </p:nvSpPr>
        <p:spPr bwMode="auto">
          <a:xfrm>
            <a:off x="1319530" y="1757680"/>
            <a:ext cx="2909570" cy="762000"/>
          </a:xfrm>
          <a:prstGeom prst="rect">
            <a:avLst/>
          </a:prstGeom>
          <a:noFill/>
        </p:spPr>
        <p:txBody>
          <a:bodyPr vert="horz" wrap="square" lIns="68580" tIns="34290" rIns="68580" bIns="34290" rtlCol="0" anchor="t" anchorCtr="0" compatLnSpc="0">
            <a:noAutofit/>
          </a:bodyPr>
          <a:lstStyle/>
          <a:p>
            <a:pPr lvl="0" algn="l">
              <a:lnSpc>
                <a:spcPct val="150000"/>
              </a:lnSpc>
              <a:spcAft>
                <a:spcPts val="1000"/>
              </a:spcAft>
              <a:buClrTx/>
              <a:buSzTx/>
              <a:buFontTx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An intelligent warehouse management system, which ensures the speed and accuracy of data input in all links of cargo warehouse management.</a:t>
            </a:r>
          </a:p>
        </p:txBody>
      </p:sp>
      <p:sp>
        <p:nvSpPr>
          <p:cNvPr id="21" name="Прямоугольник 6"/>
          <p:cNvSpPr txBox="1"/>
          <p:nvPr>
            <p:custDataLst>
              <p:tags r:id="rId11"/>
            </p:custDataLst>
          </p:nvPr>
        </p:nvSpPr>
        <p:spPr>
          <a:xfrm>
            <a:off x="2292350" y="3079909"/>
            <a:ext cx="1040130" cy="310515"/>
          </a:xfrm>
          <a:prstGeom prst="rect">
            <a:avLst/>
          </a:prstGeom>
          <a:noFill/>
        </p:spPr>
        <p:txBody>
          <a:bodyPr wrap="none" bIns="34290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500">
                <a:solidFill>
                  <a:srgbClr val="FCB14A"/>
                </a:solidFill>
                <a:latin typeface="思源黑体 CN Bold" panose="020B0800000000000000" charset="-122"/>
                <a:ea typeface="思源黑体 CN Bold" panose="020B0800000000000000" charset="-122"/>
                <a:sym typeface="微软雅黑" panose="020B0503020204020204" charset="-122"/>
              </a:rPr>
              <a:t>Promotion</a:t>
            </a:r>
          </a:p>
        </p:txBody>
      </p:sp>
      <p:sp>
        <p:nvSpPr>
          <p:cNvPr id="22" name="Прямоугольник 19"/>
          <p:cNvSpPr/>
          <p:nvPr>
            <p:custDataLst>
              <p:tags r:id="rId12"/>
            </p:custDataLst>
          </p:nvPr>
        </p:nvSpPr>
        <p:spPr>
          <a:xfrm>
            <a:off x="1921193" y="3070860"/>
            <a:ext cx="465296" cy="391478"/>
          </a:xfrm>
          <a:prstGeom prst="rect">
            <a:avLst/>
          </a:prstGeom>
        </p:spPr>
        <p:txBody>
          <a:bodyPr wrap="square">
            <a:normAutofit fontScale="77500" lnSpcReduction="20000"/>
          </a:bodyPr>
          <a:lstStyle/>
          <a:p>
            <a:pPr algn="ctr"/>
            <a:r>
              <a:rPr lang="en-US" sz="2100" b="1" dirty="0">
                <a:solidFill>
                  <a:srgbClr val="FCB14A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Light" panose="020B0300000000000000" charset="-122"/>
              </a:rPr>
              <a:t>03</a:t>
            </a:r>
          </a:p>
        </p:txBody>
      </p:sp>
      <p:cxnSp>
        <p:nvCxnSpPr>
          <p:cNvPr id="16" name="直接连接符 15"/>
          <p:cNvCxnSpPr/>
          <p:nvPr>
            <p:custDataLst>
              <p:tags r:id="rId13"/>
            </p:custDataLst>
          </p:nvPr>
        </p:nvCxnSpPr>
        <p:spPr>
          <a:xfrm flipV="1">
            <a:off x="1035685" y="2896394"/>
            <a:ext cx="7046595" cy="18415"/>
          </a:xfrm>
          <a:prstGeom prst="line">
            <a:avLst/>
          </a:prstGeom>
          <a:ln>
            <a:solidFill>
              <a:srgbClr val="AAE20A">
                <a:lumMod val="75000"/>
              </a:srgbClr>
            </a:solidFill>
            <a:prstDash val="dash"/>
          </a:ln>
        </p:spPr>
        <p:style>
          <a:lnRef idx="1">
            <a:srgbClr val="3366FE"/>
          </a:lnRef>
          <a:fillRef idx="0">
            <a:srgbClr val="3366FE"/>
          </a:fillRef>
          <a:effectRef idx="0">
            <a:srgbClr val="3366FE"/>
          </a:effectRef>
          <a:fontRef idx="minor">
            <a:srgbClr val="000000"/>
          </a:fontRef>
        </p:style>
      </p:cxnSp>
      <p:cxnSp>
        <p:nvCxnSpPr>
          <p:cNvPr id="26" name="直接连接符 25"/>
          <p:cNvCxnSpPr/>
          <p:nvPr>
            <p:custDataLst>
              <p:tags r:id="rId14"/>
            </p:custDataLst>
          </p:nvPr>
        </p:nvCxnSpPr>
        <p:spPr>
          <a:xfrm flipH="1">
            <a:off x="4613910" y="1148874"/>
            <a:ext cx="1905" cy="3567430"/>
          </a:xfrm>
          <a:prstGeom prst="line">
            <a:avLst/>
          </a:prstGeom>
          <a:ln>
            <a:solidFill>
              <a:srgbClr val="AAE20A">
                <a:lumMod val="75000"/>
              </a:srgbClr>
            </a:solidFill>
            <a:prstDash val="dash"/>
          </a:ln>
        </p:spPr>
        <p:style>
          <a:lnRef idx="1">
            <a:srgbClr val="3366FE"/>
          </a:lnRef>
          <a:fillRef idx="0">
            <a:srgbClr val="3366FE"/>
          </a:fillRef>
          <a:effectRef idx="0">
            <a:srgbClr val="3366FE"/>
          </a:effectRef>
          <a:fontRef idx="minor">
            <a:srgbClr val="000000"/>
          </a:fontRef>
        </p:style>
      </p:cxnSp>
      <p:sp>
        <p:nvSpPr>
          <p:cNvPr id="3" name="文本框 2"/>
          <p:cNvSpPr txBox="1"/>
          <p:nvPr/>
        </p:nvSpPr>
        <p:spPr>
          <a:xfrm>
            <a:off x="199390" y="16065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rgbClr val="1D4E89"/>
                </a:solidFill>
                <a:ea typeface="思源宋体 CN Heavy" charset="-122"/>
                <a:sym typeface="+mn-ea"/>
              </a:rPr>
              <a:t>Business Analysis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5430" y="621030"/>
            <a:ext cx="4572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90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+mn-ea"/>
              </a:rPr>
              <a:t>4P Strategy</a:t>
            </a:r>
          </a:p>
        </p:txBody>
      </p:sp>
      <p:sp>
        <p:nvSpPr>
          <p:cNvPr id="7" name="TextBox 5"/>
          <p:cNvSpPr txBox="1"/>
          <p:nvPr>
            <p:custDataLst>
              <p:tags r:id="rId15"/>
            </p:custDataLst>
          </p:nvPr>
        </p:nvSpPr>
        <p:spPr bwMode="auto">
          <a:xfrm>
            <a:off x="1759585" y="3390265"/>
            <a:ext cx="2720340" cy="1205865"/>
          </a:xfrm>
          <a:prstGeom prst="rect">
            <a:avLst/>
          </a:prstGeom>
          <a:noFill/>
        </p:spPr>
        <p:txBody>
          <a:bodyPr vert="horz" wrap="square" lIns="68580" tIns="34290" rIns="68580" bIns="34290" rtlCol="0" anchor="t" anchorCtr="0" compatLnSpc="0">
            <a:spAutoFit/>
          </a:bodyPr>
          <a:lstStyle/>
          <a:p>
            <a:pPr marL="0" lvl="0" indent="0" algn="l">
              <a:lnSpc>
                <a:spcPct val="60000"/>
              </a:lnSpc>
              <a:spcAft>
                <a:spcPts val="1000"/>
              </a:spcAft>
              <a:buClrTx/>
              <a:buSzTx/>
              <a:buFontTx/>
              <a:buNone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Set up offline experience stores.</a:t>
            </a:r>
          </a:p>
          <a:p>
            <a:pPr marL="0" lvl="0" indent="0" algn="l">
              <a:lnSpc>
                <a:spcPct val="60000"/>
              </a:lnSpc>
              <a:spcAft>
                <a:spcPts val="1000"/>
              </a:spcAft>
              <a:buClrTx/>
              <a:buSzTx/>
              <a:buFontTx/>
              <a:buNone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Cooperate with e-commerce websites.</a:t>
            </a:r>
          </a:p>
          <a:p>
            <a:pPr marL="0" lvl="0" indent="0" algn="l">
              <a:lnSpc>
                <a:spcPct val="60000"/>
              </a:lnSpc>
              <a:spcAft>
                <a:spcPts val="1000"/>
              </a:spcAft>
              <a:buClrTx/>
              <a:buSzTx/>
              <a:buFontTx/>
              <a:buNone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Offer discounts to customers.</a:t>
            </a:r>
          </a:p>
          <a:p>
            <a:pPr marL="0" lvl="0" indent="0" algn="l">
              <a:lnSpc>
                <a:spcPct val="60000"/>
              </a:lnSpc>
              <a:spcAft>
                <a:spcPts val="1000"/>
              </a:spcAft>
              <a:buClrTx/>
              <a:buSzTx/>
              <a:buFontTx/>
              <a:buNone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Provide VIP service for users.​</a:t>
            </a:r>
          </a:p>
          <a:p>
            <a:pPr marL="0" lvl="0" indent="0" algn="l">
              <a:lnSpc>
                <a:spcPct val="60000"/>
              </a:lnSpc>
              <a:spcAft>
                <a:spcPts val="1000"/>
              </a:spcAft>
              <a:buClrTx/>
              <a:buSzTx/>
              <a:buFontTx/>
              <a:buNone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Multiple payment methods are supported.</a:t>
            </a:r>
          </a:p>
          <a:p>
            <a:pPr marL="0" lvl="0" indent="0" algn="l">
              <a:lnSpc>
                <a:spcPct val="60000"/>
              </a:lnSpc>
              <a:spcAft>
                <a:spcPts val="1000"/>
              </a:spcAft>
              <a:buClrTx/>
              <a:buSzTx/>
              <a:buFontTx/>
              <a:buNone/>
            </a:pPr>
            <a:r>
              <a:rPr lang="en-US" sz="900" dirty="0">
                <a:solidFill>
                  <a:srgbClr val="000000">
                    <a:lumMod val="65000"/>
                    <a:lumOff val="35000"/>
                  </a:srgbClr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Light" panose="020B0300000000000000" charset="-122"/>
                <a:sym typeface="微软雅黑" panose="020B0503020204020204" charset="-122"/>
              </a:rPr>
              <a:t>Provide after-sales services.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715010" y="685800"/>
            <a:ext cx="4015105" cy="2136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Database</a:t>
            </a:r>
          </a:p>
          <a:p>
            <a:pPr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And</a:t>
            </a:r>
          </a:p>
          <a:p>
            <a:pPr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Interface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46345" y="3657667"/>
            <a:ext cx="1954808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Team members</a:t>
            </a:r>
            <a:r>
              <a:rPr lang="zh-CN" altLang="en-US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                               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1801495" y="3023235"/>
            <a:ext cx="28898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lgun Gothic Semilight" panose="020B0502040204020203" charset="-122"/>
                <a:ea typeface="Malgun Gothic Semilight" panose="020B0502040204020203" charset="-122"/>
                <a:sym typeface="思源黑体 CN Normal" panose="020B0400000000000000" charset="-122"/>
              </a:rPr>
              <a:t>H</a:t>
            </a: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lgun Gothic Semilight" panose="020B0502040204020203" charset="-122"/>
                <a:ea typeface="Malgun Gothic Semilight" panose="020B0502040204020203" charset="-122"/>
                <a:sym typeface="思源黑体 CN Normal" panose="020B0400000000000000" charset="-122"/>
              </a:rPr>
              <a:t>ardware-database interface &amp; client-side software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447253" y="995737"/>
            <a:ext cx="4468147" cy="3468687"/>
            <a:chOff x="3835221" y="746966"/>
            <a:chExt cx="5080179" cy="3943816"/>
          </a:xfrm>
          <a:blipFill>
            <a:blip r:embed="rId3"/>
            <a:stretch>
              <a:fillRect/>
            </a:stretch>
          </a:blipFill>
        </p:grpSpPr>
        <p:cxnSp>
          <p:nvCxnSpPr>
            <p:cNvPr id="18" name="直接连接符 17"/>
            <p:cNvCxnSpPr/>
            <p:nvPr/>
          </p:nvCxnSpPr>
          <p:spPr>
            <a:xfrm>
              <a:off x="3835221" y="2708508"/>
              <a:ext cx="1546583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5"/>
            <p:cNvSpPr/>
            <p:nvPr/>
          </p:nvSpPr>
          <p:spPr bwMode="auto">
            <a:xfrm>
              <a:off x="5524968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6204044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"/>
            <p:cNvSpPr/>
            <p:nvPr/>
          </p:nvSpPr>
          <p:spPr bwMode="auto">
            <a:xfrm>
              <a:off x="481899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550479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"/>
            <p:cNvSpPr/>
            <p:nvPr/>
          </p:nvSpPr>
          <p:spPr bwMode="auto">
            <a:xfrm>
              <a:off x="760253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6889844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5"/>
            <p:cNvSpPr/>
            <p:nvPr/>
          </p:nvSpPr>
          <p:spPr bwMode="auto">
            <a:xfrm>
              <a:off x="6903290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5"/>
            <p:cNvSpPr/>
            <p:nvPr/>
          </p:nvSpPr>
          <p:spPr bwMode="auto">
            <a:xfrm>
              <a:off x="411302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672352" y="3482788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7910" y="3849370"/>
            <a:ext cx="2491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Yifan Yang</a:t>
            </a: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Zhuoheng Han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695065" y="142875"/>
            <a:ext cx="1753235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Login Page</a:t>
            </a:r>
            <a:endParaRPr lang="zh-CN" altLang="en-US" sz="2400" dirty="0"/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6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466215" y="771525"/>
            <a:ext cx="5991225" cy="30791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938530" y="3581400"/>
            <a:ext cx="6687820" cy="5289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r>
              <a:rPr lang="en-US" altLang="zh-CN" sz="16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password is hidden by default. </a:t>
            </a:r>
          </a:p>
          <a:p>
            <a:pPr algn="ctr"/>
            <a:r>
              <a:rPr lang="en-US" altLang="zh-CN" sz="16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But you can click the little "eye" button on the right to show your password </a:t>
            </a:r>
            <a:endParaRPr lang="zh-CN" altLang="zh-CN" sz="1600" dirty="0"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1600" dirty="0"/>
          </a:p>
        </p:txBody>
      </p:sp>
      <p:pic>
        <p:nvPicPr>
          <p:cNvPr id="8" name="Picture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2154555" y="4110355"/>
            <a:ext cx="4834890" cy="936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3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764236" y="1482322"/>
            <a:ext cx="5334000" cy="105981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4846955" y="2806700"/>
            <a:ext cx="3446780" cy="19297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226060" y="827405"/>
            <a:ext cx="5757545" cy="4654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800" dirty="0">
                <a:solidFill>
                  <a:schemeClr val="bg1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The length of the Username should be between 5 and 10</a:t>
            </a:r>
            <a:endParaRPr lang="zh-CN" altLang="zh-CN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solidFill>
                <a:schemeClr val="bg1"/>
              </a:solidFill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30580" y="3277870"/>
            <a:ext cx="3231515" cy="854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000" dirty="0">
                <a:solidFill>
                  <a:schemeClr val="accent1"/>
                </a:solidFill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If the username and the password are not matched</a:t>
            </a:r>
            <a:endParaRPr lang="zh-CN" altLang="zh-CN" sz="2000" dirty="0">
              <a:solidFill>
                <a:schemeClr val="accent1"/>
              </a:solidFill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2000" dirty="0">
              <a:solidFill>
                <a:schemeClr val="accent1"/>
              </a:solidFill>
              <a:effectLst/>
              <a:latin typeface="Cambria" panose="020405030504060302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269615" y="120015"/>
            <a:ext cx="2604770" cy="495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 Change Password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 dirty="0"/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pic>
        <p:nvPicPr>
          <p:cNvPr id="10" name="Picture"/>
          <p:cNvPicPr/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 bwMode="auto">
          <a:xfrm>
            <a:off x="426141" y="1001919"/>
            <a:ext cx="8291222" cy="39437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28595" y="211455"/>
            <a:ext cx="3686175" cy="5518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Basic Interface Functions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3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267335" y="993140"/>
            <a:ext cx="5635625" cy="6140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431800" y="2338705"/>
            <a:ext cx="4402455" cy="17195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"/>
          <p:cNvPicPr/>
          <p:nvPr/>
        </p:nvPicPr>
        <p:blipFill>
          <a:blip r:embed="rId6"/>
          <a:stretch>
            <a:fillRect/>
          </a:stretch>
        </p:blipFill>
        <p:spPr bwMode="auto">
          <a:xfrm>
            <a:off x="5670550" y="2139950"/>
            <a:ext cx="2957830" cy="24041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695065" y="142875"/>
            <a:ext cx="1753235" cy="44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</a:rPr>
              <a:t>Da</a:t>
            </a:r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ta Query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3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487045" y="958215"/>
            <a:ext cx="8170545" cy="41173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96795" y="140335"/>
            <a:ext cx="6106795" cy="887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0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EXAMPLE：Search for type = red , shelfNum = 1, ColumnNum = 2, FloorNum = 3 during 2022-06-25 ~ 2022-07-01</a:t>
            </a:r>
            <a:endParaRPr lang="zh-CN" altLang="en-US" sz="20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Da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6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1016635" y="1127125"/>
            <a:ext cx="7111365" cy="38709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32810" y="142240"/>
            <a:ext cx="2279015" cy="4419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</a:rPr>
              <a:t>Da</a:t>
            </a:r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ta </a:t>
            </a:r>
            <a:r>
              <a:rPr lang="en-US" altLang="zh-CN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Statistics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6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412115" y="962660"/>
            <a:ext cx="3870960" cy="20485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4283075" y="963295"/>
            <a:ext cx="4433570" cy="20135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"/>
          <p:cNvPicPr/>
          <p:nvPr/>
        </p:nvPicPr>
        <p:blipFill>
          <a:blip r:embed="rId6"/>
          <a:stretch>
            <a:fillRect/>
          </a:stretch>
        </p:blipFill>
        <p:spPr bwMode="auto">
          <a:xfrm>
            <a:off x="412115" y="3011170"/>
            <a:ext cx="3997325" cy="1984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"/>
          <p:cNvPicPr/>
          <p:nvPr/>
        </p:nvPicPr>
        <p:blipFill>
          <a:blip r:embed="rId7"/>
          <a:stretch>
            <a:fillRect/>
          </a:stretch>
        </p:blipFill>
        <p:spPr bwMode="auto">
          <a:xfrm>
            <a:off x="4380865" y="2976880"/>
            <a:ext cx="4335145" cy="20186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094990" y="170180"/>
            <a:ext cx="2953385" cy="44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Transmision History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6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28601" y="919542"/>
            <a:ext cx="9094306" cy="410578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144520" y="212090"/>
            <a:ext cx="3112135" cy="5518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Personal infomation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6" name="Picture"/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729615" y="777875"/>
            <a:ext cx="7941310" cy="4247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228975" y="253365"/>
            <a:ext cx="2923540" cy="441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Latest Transmission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</a:endParaRPr>
          </a:p>
          <a:p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970" t="1895" b="3876"/>
          <a:stretch>
            <a:fillRect/>
          </a:stretch>
        </p:blipFill>
        <p:spPr>
          <a:xfrm>
            <a:off x="0" y="0"/>
            <a:ext cx="2012315" cy="6946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" y="1467485"/>
            <a:ext cx="8334375" cy="18307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59675" y="479171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 bwMode="auto">
          <a:xfrm>
            <a:off x="4447540" y="3270885"/>
            <a:ext cx="6490335" cy="20332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9600">
                <a:ln w="38100">
                  <a:noFill/>
                </a:ln>
                <a:solidFill>
                  <a:schemeClr val="bg2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Summary</a:t>
            </a:r>
          </a:p>
          <a:p>
            <a:pPr defTabSz="457200"/>
            <a:endParaRPr lang="en-US" altLang="zh-CN" sz="9600">
              <a:ln w="38100">
                <a:noFill/>
              </a:ln>
              <a:solidFill>
                <a:schemeClr val="bg2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023745" y="1555115"/>
            <a:ext cx="6490335" cy="20332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9600">
                <a:ln w="38100">
                  <a:noFill/>
                </a:ln>
                <a:solidFill>
                  <a:schemeClr val="bg2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Summary</a:t>
            </a:r>
          </a:p>
          <a:p>
            <a:pPr defTabSz="457200"/>
            <a:endParaRPr lang="en-US" altLang="zh-CN" sz="9600">
              <a:ln w="38100">
                <a:noFill/>
              </a:ln>
              <a:solidFill>
                <a:schemeClr val="bg2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-2042795" y="-189230"/>
            <a:ext cx="6490335" cy="20332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9600">
                <a:ln w="38100">
                  <a:noFill/>
                </a:ln>
                <a:solidFill>
                  <a:schemeClr val="bg2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Summary</a:t>
            </a:r>
          </a:p>
          <a:p>
            <a:pPr defTabSz="457200"/>
            <a:endParaRPr lang="en-US" altLang="zh-CN" sz="9600">
              <a:ln w="38100">
                <a:noFill/>
              </a:ln>
              <a:solidFill>
                <a:schemeClr val="bg2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1281430" y="1816735"/>
            <a:ext cx="3409950" cy="9531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Summary</a:t>
            </a:r>
          </a:p>
          <a:p>
            <a:pPr defTabSz="457200"/>
            <a:endParaRPr lang="en-US" altLang="zh-CN" sz="4800">
              <a:ln w="38100">
                <a:noFill/>
              </a:ln>
              <a:solidFill>
                <a:schemeClr val="accent1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4447253" y="995737"/>
            <a:ext cx="4468147" cy="3468687"/>
            <a:chOff x="3835221" y="746966"/>
            <a:chExt cx="5080179" cy="3943816"/>
          </a:xfrm>
          <a:blipFill>
            <a:blip r:embed="rId3"/>
            <a:stretch>
              <a:fillRect/>
            </a:stretch>
          </a:blipFill>
        </p:grpSpPr>
        <p:cxnSp>
          <p:nvCxnSpPr>
            <p:cNvPr id="18" name="直接连接符 17"/>
            <p:cNvCxnSpPr/>
            <p:nvPr/>
          </p:nvCxnSpPr>
          <p:spPr>
            <a:xfrm>
              <a:off x="3835221" y="2708508"/>
              <a:ext cx="1546583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5"/>
            <p:cNvSpPr/>
            <p:nvPr/>
          </p:nvSpPr>
          <p:spPr bwMode="auto">
            <a:xfrm>
              <a:off x="5524968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6204044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"/>
            <p:cNvSpPr/>
            <p:nvPr/>
          </p:nvSpPr>
          <p:spPr bwMode="auto">
            <a:xfrm>
              <a:off x="481899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550479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"/>
            <p:cNvSpPr/>
            <p:nvPr/>
          </p:nvSpPr>
          <p:spPr bwMode="auto">
            <a:xfrm>
              <a:off x="760253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6889844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5"/>
            <p:cNvSpPr/>
            <p:nvPr/>
          </p:nvSpPr>
          <p:spPr bwMode="auto">
            <a:xfrm>
              <a:off x="6903290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5"/>
            <p:cNvSpPr/>
            <p:nvPr/>
          </p:nvSpPr>
          <p:spPr bwMode="auto">
            <a:xfrm>
              <a:off x="411302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672352" y="3482788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-2194560" y="3131185"/>
            <a:ext cx="6490335" cy="20332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9600">
                <a:ln w="38100">
                  <a:noFill/>
                </a:ln>
                <a:solidFill>
                  <a:schemeClr val="bg2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Summary</a:t>
            </a:r>
          </a:p>
          <a:p>
            <a:pPr defTabSz="457200"/>
            <a:endParaRPr lang="en-US" altLang="zh-CN" sz="9600">
              <a:ln w="38100">
                <a:noFill/>
              </a:ln>
              <a:solidFill>
                <a:schemeClr val="bg2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4447540" y="-79375"/>
            <a:ext cx="6490335" cy="20332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9600">
                <a:ln w="38100">
                  <a:noFill/>
                </a:ln>
                <a:solidFill>
                  <a:schemeClr val="bg2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Summary</a:t>
            </a:r>
          </a:p>
          <a:p>
            <a:pPr defTabSz="457200"/>
            <a:endParaRPr lang="en-US" altLang="zh-CN" sz="9600">
              <a:ln w="38100">
                <a:noFill/>
              </a:ln>
              <a:solidFill>
                <a:schemeClr val="bg2"/>
              </a:solidFill>
              <a:latin typeface="Yu Gothic UI Semibold" panose="020B0700000000000000" charset="-128"/>
              <a:ea typeface="Yu Gothic UI Semibold" panose="020B0700000000000000" charset="-128"/>
              <a:cs typeface="Arial Black" panose="020B0A04020102020204" charset="0"/>
              <a:sym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4699635" y="736600"/>
            <a:ext cx="4015105" cy="2136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Thanks</a:t>
            </a:r>
          </a:p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For</a:t>
            </a:r>
          </a:p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Watching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023855" y="3746567"/>
            <a:ext cx="1954808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Team members</a:t>
            </a:r>
            <a:r>
              <a:rPr lang="zh-CN" altLang="en-US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                               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254635" y="475615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62334" y="36552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5906770" y="3189605"/>
            <a:ext cx="28898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lgun Gothic Semilight" panose="020B0502040204020203" charset="-122"/>
                <a:ea typeface="Malgun Gothic Semilight" panose="020B0502040204020203" charset="-122"/>
                <a:cs typeface="+mn-cs"/>
                <a:sym typeface="思源黑体 CN Normal" panose="020B0400000000000000" charset="-122"/>
              </a:rPr>
              <a:t>Design of the circuit and implementation of the functions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742067" y="4197163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48500" y="-635"/>
            <a:ext cx="2095500" cy="73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957445" y="4002405"/>
            <a:ext cx="1504950" cy="1179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Tangxun Wu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Boyang He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Guanyi Lin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Dongze Sun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Weiping Kong</a:t>
            </a:r>
            <a:endParaRPr lang="en-US" altLang="zh-CN" sz="140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" y="904240"/>
            <a:ext cx="4474210" cy="34747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90945" y="4216400"/>
            <a:ext cx="1504950" cy="751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</a:rPr>
              <a:t>Jingru Dai</a:t>
            </a: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</a:rPr>
              <a:t>Xinyi Li</a:t>
            </a: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</a:rPr>
              <a:t>Xianglong Qin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39050" y="4301490"/>
            <a:ext cx="1504950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</a:rPr>
              <a:t>Yifan Yang</a:t>
            </a: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</a:rPr>
              <a:t>Zhuoheng Han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b53ab2b-c03d-49fa-a032-52fe68fbc824"/>
  <p:tag name="COMMONDATA" val="eyJjb3VudCI6MzUsImhkaWQiOiIyMmU0YzQwYzViNTQ1OGVkZDM2NmI0MzM0NzRhZThhMCIsInVzZXJDb3VudCI6MX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684,&quot;width&quot;:930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7680,&quot;width&quot;:3768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diagram20228307_1"/>
  <p:tag name="KSO_WM_TEMPLATE_SUBCATEGORY" val="0"/>
  <p:tag name="KSO_WM_TEMPLATE_MASTER_TYPE" val="1"/>
  <p:tag name="KSO_WM_TEMPLATE_COLOR_TYPE" val="0"/>
  <p:tag name="KSO_WM_SLIDE_TYPE" val="text"/>
  <p:tag name="KSO_WM_SLIDE_SUBTYPE" val="picTxt"/>
  <p:tag name="KSO_WM_SLIDE_ITEM_CNT" val="4"/>
  <p:tag name="KSO_WM_SLIDE_INDEX" val="1"/>
  <p:tag name="KSO_WM_SLIDE_SIZE" val="739.25*258.3"/>
  <p:tag name="KSO_WM_SLIDE_POSITION" val="125.7*199.15"/>
  <p:tag name="KSO_WM_DIAGRAM_GROUP_CODE" val="l1-1"/>
  <p:tag name="KSO_WM_SLIDE_DIAGTYPE" val="l"/>
  <p:tag name="KSO_WM_TAG_VERSION" val="1.0"/>
  <p:tag name="KSO_WM_BEAUTIFY_FLAG" val="#wm#"/>
  <p:tag name="KSO_WM_TEMPLATE_CATEGORY" val="diagram"/>
  <p:tag name="KSO_WM_TEMPLATE_INDEX" val="20228307"/>
  <p:tag name="KSO_WM_SLIDE_LAYOUT" val="a_b_d_l"/>
  <p:tag name="KSO_WM_SLIDE_LAYOUT_CNT" val="1_1_1_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307_1*l_h_f*1_2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307_1*l_h_a*1_2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7"/>
  <p:tag name="KSO_WM_UNIT_TEXT_FILL_TYPE" val="1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28307_1*l_h_i*1_2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7"/>
  <p:tag name="KSO_WM_UNIT_TEXT_FILL_TYPE" val="1"/>
  <p:tag name="KSO_WM_UNIT_USESOURCEFORMAT_APPLY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307_1*l_h_f*1_4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28307_1*l_h_a*1_4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10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28307_1*l_h_i*1_4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10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307_1*l_h_a*1_1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6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28307_1*l_h_i*1_1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6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307_1*l_h_f*1_1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28307_1*l_h_a*1_3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8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28307_1*l_h_i*1_3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8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diagram20228307_1*i*1"/>
  <p:tag name="KSO_WM_TEMPLATE_CATEGORY" val="diagram"/>
  <p:tag name="KSO_WM_TEMPLATE_INDEX" val="20228307"/>
  <p:tag name="KSO_WM_UNIT_LAYERLEVEL" val="1"/>
  <p:tag name="KSO_WM_TAG_VERSION" val="1.0"/>
  <p:tag name="KSO_WM_BEAUTIFY_FLAG" val="#wm#"/>
  <p:tag name="KSO_WM_UNIT_LINE_FORE_SCHEMECOLOR_INDEX" val="7"/>
  <p:tag name="KSO_WM_UNIT_LINE_FILL_TYPE" val="2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diagram20228307_1*i*2"/>
  <p:tag name="KSO_WM_TEMPLATE_CATEGORY" val="diagram"/>
  <p:tag name="KSO_WM_TEMPLATE_INDEX" val="20228307"/>
  <p:tag name="KSO_WM_UNIT_LAYERLEVEL" val="1"/>
  <p:tag name="KSO_WM_TAG_VERSION" val="1.0"/>
  <p:tag name="KSO_WM_BEAUTIFY_FLAG" val="#wm#"/>
  <p:tag name="KSO_WM_UNIT_LINE_FORE_SCHEMECOLOR_INDEX" val="7"/>
  <p:tag name="KSO_WM_UNIT_LINE_FILL_TYPE" val="2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输入你的正文，文字是您思想的提炼，为了最终演示发布的良好效果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307_1*l_h_f*1_4_1"/>
  <p:tag name="KSO_WM_TEMPLATE_CATEGORY" val="diagram"/>
  <p:tag name="KSO_WM_TEMPLATE_INDEX" val="2022830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210.694488188977,&quot;width&quot;:13057.0425196850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heme/theme1.xml><?xml version="1.0" encoding="utf-8"?>
<a:theme xmlns:a="http://schemas.openxmlformats.org/drawingml/2006/main" name="1_Office 主题">
  <a:themeElements>
    <a:clrScheme name="2经典蓝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1D4E89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思源宋体 CN Heavy">
      <a:majorFont>
        <a:latin typeface="思源黑体 CN Normal"/>
        <a:ea typeface="锦绣宋体"/>
        <a:cs typeface=""/>
      </a:majorFont>
      <a:minorFont>
        <a:latin typeface="思源黑体 CN Normal"/>
        <a:ea typeface="思源黑体 CN Normal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1932</Words>
  <Application>Microsoft Office PowerPoint</Application>
  <PresentationFormat>全屏显示(16:9)</PresentationFormat>
  <Paragraphs>419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Yu Gothic UI Semibold</vt:lpstr>
      <vt:lpstr>Malgun Gothic Semilight</vt:lpstr>
      <vt:lpstr>Cambria</vt:lpstr>
      <vt:lpstr>锦绣宋体</vt:lpstr>
      <vt:lpstr>思源黑体 CN Normal</vt:lpstr>
      <vt:lpstr>Calibri</vt:lpstr>
      <vt:lpstr>Wingdings</vt:lpstr>
      <vt:lpstr>思源黑体 CN Bold</vt:lpstr>
      <vt:lpstr>思源宋体 CN Heavy</vt:lpstr>
      <vt:lpstr>PingFang SC</vt:lpstr>
      <vt:lpstr>Arial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桤儿哥哥</dc:creator>
  <cp:lastModifiedBy>吴 汤迅</cp:lastModifiedBy>
  <cp:revision>81</cp:revision>
  <dcterms:created xsi:type="dcterms:W3CDTF">1900-01-01T00:00:00Z</dcterms:created>
  <dcterms:modified xsi:type="dcterms:W3CDTF">2022-10-26T07:29:03Z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KSOTemplateUUID">
    <vt:lpwstr>v1.0_mb_gdgPBmG5SlTBV+V0uNRwMg==</vt:lpwstr>
  </property>
  <property fmtid="{D5CDD505-2E9C-101B-9397-08002B2CF9AE}" pid="4" name="ICV">
    <vt:lpwstr>D1D60FD6E620721F6AC05463174EE8F4</vt:lpwstr>
  </property>
</Properties>
</file>