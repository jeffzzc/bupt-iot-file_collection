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43" r:id="rId3"/>
    <p:sldId id="573" r:id="rId4"/>
    <p:sldId id="574" r:id="rId5"/>
    <p:sldId id="575" r:id="rId6"/>
    <p:sldId id="602" r:id="rId7"/>
    <p:sldId id="579" r:id="rId8"/>
    <p:sldId id="603" r:id="rId9"/>
    <p:sldId id="576" r:id="rId10"/>
    <p:sldId id="608" r:id="rId11"/>
    <p:sldId id="609" r:id="rId12"/>
    <p:sldId id="606" r:id="rId13"/>
    <p:sldId id="610" r:id="rId14"/>
    <p:sldId id="607" r:id="rId15"/>
    <p:sldId id="604" r:id="rId16"/>
    <p:sldId id="605" r:id="rId17"/>
    <p:sldId id="611" r:id="rId18"/>
  </p:sldIdLst>
  <p:sldSz cx="9144000" cy="5143500" type="screen16x9"/>
  <p:notesSz cx="6858000" cy="9144000"/>
  <p:embeddedFontLst>
    <p:embeddedFont>
      <p:font typeface="思源黑体 CN Normal" panose="020B0400000000000000" charset="-122"/>
      <p:regular r:id="rId25"/>
    </p:embeddedFont>
    <p:embeddedFont>
      <p:font typeface="Yu Gothic UI Semibold" panose="020B0700000000000000" charset="-128"/>
      <p:bold r:id="rId26"/>
    </p:embeddedFont>
    <p:embeddedFont>
      <p:font typeface="Arial Black" panose="020B0A04020102020204" charset="0"/>
      <p:bold r:id="rId27"/>
    </p:embeddedFont>
    <p:embeddedFont>
      <p:font typeface="Malgun Gothic Semilight" panose="020B0502040204020203" charset="-122"/>
      <p:regular r:id="rId28"/>
    </p:embeddedFont>
    <p:embeddedFont>
      <p:font typeface="锦绣宋体" panose="02000503000000000000" charset="-122"/>
      <p:regular r:id="rId29"/>
    </p:embeddedFont>
  </p:embeddedFontLst>
  <p:custDataLst>
    <p:tags r:id="rId30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E2A6164-6C94-4D72-A808-DBA72125A748}">
          <p14:sldIdLst>
            <p14:sldId id="543"/>
            <p14:sldId id="573"/>
            <p14:sldId id="574"/>
            <p14:sldId id="575"/>
            <p14:sldId id="602"/>
            <p14:sldId id="579"/>
            <p14:sldId id="603"/>
            <p14:sldId id="576"/>
            <p14:sldId id="608"/>
            <p14:sldId id="609"/>
            <p14:sldId id="606"/>
            <p14:sldId id="610"/>
            <p14:sldId id="607"/>
            <p14:sldId id="604"/>
            <p14:sldId id="605"/>
            <p14:sldId id="61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33CC"/>
    <a:srgbClr val="B49D86"/>
    <a:srgbClr val="353A55"/>
    <a:srgbClr val="4C5378"/>
    <a:srgbClr val="E0D7CE"/>
    <a:srgbClr val="272B3E"/>
    <a:srgbClr val="A08366"/>
    <a:srgbClr val="304371"/>
    <a:srgbClr val="EE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4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936" y="82"/>
      </p:cViewPr>
      <p:guideLst>
        <p:guide pos="95"/>
        <p:guide pos="5616"/>
        <p:guide orient="horz" pos="2758"/>
        <p:guide orient="horz" pos="2996"/>
        <p:guide orient="horz" pos="3150"/>
        <p:guide pos="2892"/>
        <p:guide orient="horz" pos="18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6.xml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</a:rPr>
            </a:fld>
            <a:endParaRPr lang="zh-CN" altLang="en-US">
              <a:latin typeface="思源黑体 CN Normal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</a:rPr>
            </a:fld>
            <a:endParaRPr lang="zh-CN" altLang="en-US">
              <a:latin typeface="思源黑体 CN Normal" panose="020B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794339" y="0"/>
            <a:ext cx="243068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0"/>
          </p:nvPr>
        </p:nvSpPr>
        <p:spPr>
          <a:xfrm>
            <a:off x="5070763" y="605100"/>
            <a:ext cx="3844637" cy="1990845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21"/>
          </p:nvPr>
        </p:nvSpPr>
        <p:spPr>
          <a:xfrm>
            <a:off x="5070763" y="2777283"/>
            <a:ext cx="3844637" cy="1990845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314013" y="0"/>
            <a:ext cx="3829987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0"/>
          </p:nvPr>
        </p:nvSpPr>
        <p:spPr>
          <a:xfrm>
            <a:off x="4144781" y="697391"/>
            <a:ext cx="2308486" cy="4128609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21"/>
          </p:nvPr>
        </p:nvSpPr>
        <p:spPr>
          <a:xfrm>
            <a:off x="6606914" y="697391"/>
            <a:ext cx="2308486" cy="4128609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96694" y="1108271"/>
            <a:ext cx="3536004" cy="1568052"/>
          </a:xfrm>
          <a:prstGeom prst="roundRect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1"/>
          </p:nvPr>
        </p:nvSpPr>
        <p:spPr>
          <a:xfrm>
            <a:off x="296694" y="2878705"/>
            <a:ext cx="3536004" cy="1568052"/>
          </a:xfrm>
          <a:prstGeom prst="roundRect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5000">
              <a:schemeClr val="bg1"/>
            </a:gs>
            <a:gs pos="100000">
              <a:srgbClr val="E0F0FC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思源黑体 CN Normal" panose="020B0400000000000000" charset="-122"/>
          <a:ea typeface="锦绣宋体" panose="02000503000000000000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715010" y="685800"/>
            <a:ext cx="4015105" cy="2136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</a:t>
            </a:r>
            <a:r>
              <a:rPr lang="zh-CN" altLang="en-US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utomated </a:t>
            </a:r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R</a:t>
            </a:r>
            <a:r>
              <a:rPr lang="zh-CN" altLang="en-US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obots</a:t>
            </a:r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Design</a:t>
            </a:r>
            <a:endParaRPr lang="en-US" altLang="zh-CN" sz="4800">
              <a:ln w="38100">
                <a:noFill/>
              </a:ln>
              <a:solidFill>
                <a:schemeClr val="accent1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6345" y="3657667"/>
            <a:ext cx="1954808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Team members</a:t>
            </a:r>
            <a:r>
              <a:rPr lang="zh-CN" altLang="en-US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：</a:t>
            </a:r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                               </a:t>
            </a:r>
            <a:endParaRPr lang="en-US" altLang="zh-CN" sz="1400" spc="0">
              <a:solidFill>
                <a:schemeClr val="accent1"/>
              </a:solidFill>
              <a:effectLst/>
              <a:sym typeface="思源黑体 CN Normal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1801495" y="3023235"/>
            <a:ext cx="288988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algun Gothic Semilight" panose="020B0502040204020203" charset="-122"/>
                <a:ea typeface="Malgun Gothic Semilight" panose="020B0502040204020203" charset="-122"/>
                <a:cs typeface="+mn-cs"/>
                <a:sym typeface="思源黑体 CN Normal" panose="020B0400000000000000" charset="-122"/>
              </a:rPr>
              <a:t>Design of the circuit and implementation of the functions</a:t>
            </a:r>
            <a:endParaRPr kumimoji="0" lang="zh-CN" altLang="en-US" sz="1400" b="0" i="0" u="none" strike="noStrike" kern="1200" cap="none" spc="0" normalizeH="0" baseline="0" noProof="0">
              <a:ln w="381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Malgun Gothic Semilight" panose="020B0502040204020203" charset="-122"/>
              <a:ea typeface="Malgun Gothic Semilight" panose="020B0502040204020203" charset="-122"/>
              <a:cs typeface="+mn-cs"/>
              <a:sym typeface="思源黑体 CN Normal" panose="020B0400000000000000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447253" y="995737"/>
            <a:ext cx="4468147" cy="3468687"/>
            <a:chOff x="3835221" y="746966"/>
            <a:chExt cx="5080179" cy="3943816"/>
          </a:xfrm>
          <a:blipFill>
            <a:blip r:embed="rId1"/>
            <a:stretch>
              <a:fillRect/>
            </a:stretch>
          </a:blipFill>
        </p:grpSpPr>
        <p:cxnSp>
          <p:nvCxnSpPr>
            <p:cNvPr id="18" name="直接连接符 17"/>
            <p:cNvCxnSpPr/>
            <p:nvPr/>
          </p:nvCxnSpPr>
          <p:spPr>
            <a:xfrm>
              <a:off x="3835221" y="2708508"/>
              <a:ext cx="1546583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5"/>
            <p:cNvSpPr/>
            <p:nvPr/>
          </p:nvSpPr>
          <p:spPr bwMode="auto">
            <a:xfrm>
              <a:off x="5524968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5"/>
            <p:cNvSpPr/>
            <p:nvPr/>
          </p:nvSpPr>
          <p:spPr bwMode="auto">
            <a:xfrm>
              <a:off x="6204044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"/>
            <p:cNvSpPr/>
            <p:nvPr/>
          </p:nvSpPr>
          <p:spPr bwMode="auto">
            <a:xfrm>
              <a:off x="481899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"/>
            <p:cNvSpPr/>
            <p:nvPr/>
          </p:nvSpPr>
          <p:spPr bwMode="auto">
            <a:xfrm>
              <a:off x="550479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"/>
            <p:cNvSpPr/>
            <p:nvPr/>
          </p:nvSpPr>
          <p:spPr bwMode="auto">
            <a:xfrm>
              <a:off x="760253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5"/>
            <p:cNvSpPr/>
            <p:nvPr/>
          </p:nvSpPr>
          <p:spPr bwMode="auto">
            <a:xfrm>
              <a:off x="6889844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5"/>
            <p:cNvSpPr/>
            <p:nvPr/>
          </p:nvSpPr>
          <p:spPr bwMode="auto">
            <a:xfrm>
              <a:off x="6903290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5"/>
            <p:cNvSpPr/>
            <p:nvPr/>
          </p:nvSpPr>
          <p:spPr bwMode="auto">
            <a:xfrm>
              <a:off x="411302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672352" y="3482788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57910" y="3849370"/>
            <a:ext cx="24917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Tangxun Wu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Boyang He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Guanyi Lin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Donngze Sun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Weiping Kong</a:t>
            </a:r>
            <a:endParaRPr lang="en-US" altLang="zh-CN" sz="140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697897" y="868391"/>
            <a:ext cx="2415979" cy="1014730"/>
            <a:chOff x="5516035" y="1072406"/>
            <a:chExt cx="2415979" cy="1014730"/>
          </a:xfrm>
        </p:grpSpPr>
        <p:sp>
          <p:nvSpPr>
            <p:cNvPr id="54" name="矩形 53"/>
            <p:cNvSpPr/>
            <p:nvPr/>
          </p:nvSpPr>
          <p:spPr>
            <a:xfrm>
              <a:off x="6084843" y="1072406"/>
              <a:ext cx="1847171" cy="1014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Mission R</a:t>
              </a:r>
              <a:r>
                <a:rPr lang="en-US" altLang="zh-CN" sz="2000" dirty="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equirements</a:t>
              </a:r>
              <a:endParaRPr lang="zh-CN" altLang="en-US" sz="20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endParaRPr>
            </a:p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 </a:t>
              </a:r>
              <a:endParaRPr lang="en-US" altLang="zh-CN" sz="20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5516035" y="1205441"/>
              <a:ext cx="569888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2000" spc="-30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2400" spc="-150">
                  <a:solidFill>
                    <a:schemeClr val="accent1"/>
                  </a:solidFill>
                  <a:effectLst/>
                </a:rPr>
                <a:t>01</a:t>
              </a:r>
              <a:endParaRPr lang="zh-CN" altLang="en-US" sz="2400" spc="-150">
                <a:solidFill>
                  <a:schemeClr val="accent1"/>
                </a:solidFill>
                <a:effectLst/>
              </a:endParaRPr>
            </a:p>
          </p:txBody>
        </p:sp>
        <p:cxnSp>
          <p:nvCxnSpPr>
            <p:cNvPr id="57" name="直接连接符 56"/>
            <p:cNvCxnSpPr/>
            <p:nvPr/>
          </p:nvCxnSpPr>
          <p:spPr>
            <a:xfrm>
              <a:off x="6048880" y="1359822"/>
              <a:ext cx="0" cy="14157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018148" y="1165608"/>
            <a:ext cx="2610089" cy="301406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>
            <a:off x="5697897" y="1959111"/>
            <a:ext cx="2417249" cy="460375"/>
            <a:chOff x="5516035" y="1205441"/>
            <a:chExt cx="2417249" cy="460375"/>
          </a:xfrm>
        </p:grpSpPr>
        <p:sp>
          <p:nvSpPr>
            <p:cNvPr id="60" name="矩形 59"/>
            <p:cNvSpPr/>
            <p:nvPr/>
          </p:nvSpPr>
          <p:spPr>
            <a:xfrm>
              <a:off x="6086113" y="1236236"/>
              <a:ext cx="1847171" cy="398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 </a:t>
              </a:r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A</a:t>
              </a:r>
              <a:r>
                <a:rPr lang="zh-CN" altLang="en-US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ppearance</a:t>
              </a:r>
              <a:endParaRPr lang="zh-CN" altLang="en-US" sz="20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5516035" y="1205441"/>
              <a:ext cx="569888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2000" spc="-30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2400" spc="-150">
                  <a:solidFill>
                    <a:schemeClr val="accent1"/>
                  </a:solidFill>
                  <a:effectLst/>
                </a:rPr>
                <a:t>02</a:t>
              </a:r>
              <a:endParaRPr lang="zh-CN" altLang="en-US" sz="2400" spc="-150">
                <a:solidFill>
                  <a:schemeClr val="accent1"/>
                </a:solidFill>
                <a:effectLst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6048880" y="1359822"/>
              <a:ext cx="0" cy="14157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5697897" y="2916796"/>
            <a:ext cx="2415979" cy="460375"/>
            <a:chOff x="5516035" y="1205441"/>
            <a:chExt cx="2415979" cy="460375"/>
          </a:xfrm>
        </p:grpSpPr>
        <p:sp>
          <p:nvSpPr>
            <p:cNvPr id="66" name="矩形 65"/>
            <p:cNvSpPr/>
            <p:nvPr/>
          </p:nvSpPr>
          <p:spPr>
            <a:xfrm>
              <a:off x="6084843" y="1236871"/>
              <a:ext cx="1847171" cy="398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Functions</a:t>
              </a:r>
              <a:endParaRPr lang="en-US" altLang="zh-CN" sz="20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516035" y="1205441"/>
              <a:ext cx="569888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2000" spc="-30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2400" spc="-150">
                  <a:solidFill>
                    <a:schemeClr val="accent1"/>
                  </a:solidFill>
                  <a:effectLst/>
                </a:rPr>
                <a:t>03</a:t>
              </a:r>
              <a:endParaRPr lang="zh-CN" altLang="en-US" sz="2400" spc="-150">
                <a:solidFill>
                  <a:schemeClr val="accent1"/>
                </a:solidFill>
                <a:effectLst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6048880" y="1359822"/>
              <a:ext cx="0" cy="14157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/>
          <p:cNvGrpSpPr/>
          <p:nvPr/>
        </p:nvGrpSpPr>
        <p:grpSpPr>
          <a:xfrm>
            <a:off x="5697897" y="3874481"/>
            <a:ext cx="2659458" cy="460375"/>
            <a:chOff x="5516035" y="1205441"/>
            <a:chExt cx="2659458" cy="460375"/>
          </a:xfrm>
        </p:grpSpPr>
        <p:sp>
          <p:nvSpPr>
            <p:cNvPr id="77" name="矩形 76"/>
            <p:cNvSpPr/>
            <p:nvPr/>
          </p:nvSpPr>
          <p:spPr>
            <a:xfrm>
              <a:off x="6084843" y="1226711"/>
              <a:ext cx="2090650" cy="398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Summary</a:t>
              </a:r>
              <a:endParaRPr lang="en-US" altLang="zh-CN" sz="20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5516035" y="1205441"/>
              <a:ext cx="569888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2000" spc="-30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2400" spc="-150">
                  <a:solidFill>
                    <a:schemeClr val="accent1"/>
                  </a:solidFill>
                  <a:effectLst/>
                </a:rPr>
                <a:t>04</a:t>
              </a:r>
              <a:endParaRPr lang="zh-CN" altLang="en-US" sz="2400" spc="-150">
                <a:solidFill>
                  <a:schemeClr val="accent1"/>
                </a:solidFill>
                <a:effectLst/>
              </a:endParaRPr>
            </a:p>
          </p:txBody>
        </p:sp>
        <p:cxnSp>
          <p:nvCxnSpPr>
            <p:cNvPr id="80" name="直接连接符 79"/>
            <p:cNvCxnSpPr/>
            <p:nvPr/>
          </p:nvCxnSpPr>
          <p:spPr>
            <a:xfrm>
              <a:off x="6048880" y="1359822"/>
              <a:ext cx="0" cy="14157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Freeform 5"/>
          <p:cNvSpPr/>
          <p:nvPr/>
        </p:nvSpPr>
        <p:spPr bwMode="auto">
          <a:xfrm>
            <a:off x="482407" y="3114988"/>
            <a:ext cx="957172" cy="110531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5"/>
          <p:cNvSpPr/>
          <p:nvPr/>
        </p:nvSpPr>
        <p:spPr bwMode="auto">
          <a:xfrm>
            <a:off x="3731203" y="3630685"/>
            <a:ext cx="770459" cy="889708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5"/>
          <p:cNvSpPr/>
          <p:nvPr/>
        </p:nvSpPr>
        <p:spPr bwMode="auto">
          <a:xfrm>
            <a:off x="867424" y="803868"/>
            <a:ext cx="558238" cy="64464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1033780" y="2346325"/>
            <a:ext cx="252857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dist" defTabSz="457200"/>
            <a:r>
              <a:rPr lang="en-US" altLang="zh-CN" sz="4400">
                <a:ln w="381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CONTENTS</a:t>
            </a:r>
            <a:endParaRPr lang="en-US" altLang="zh-CN" sz="4400">
              <a:ln w="3810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84" name="矩形 83"/>
          <p:cNvSpPr/>
          <p:nvPr/>
        </p:nvSpPr>
        <p:spPr bwMode="auto">
          <a:xfrm>
            <a:off x="946150" y="2242185"/>
            <a:ext cx="252857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CONTENTS</a:t>
            </a:r>
            <a:endParaRPr lang="en-US" altLang="zh-CN" sz="4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37510" y="104140"/>
            <a:ext cx="32689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57200"/>
            <a:r>
              <a:rPr lang="en-US" altLang="zh-CN" sz="20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</a:t>
            </a:r>
            <a:r>
              <a:rPr lang="zh-CN" altLang="en-US" sz="20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utomated </a:t>
            </a:r>
            <a:r>
              <a:rPr lang="en-US" altLang="zh-CN" sz="20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R</a:t>
            </a:r>
            <a:r>
              <a:rPr lang="zh-CN" altLang="en-US" sz="20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obots</a:t>
            </a:r>
            <a:r>
              <a:rPr lang="en-US" altLang="zh-CN" sz="20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Design</a:t>
            </a:r>
            <a:endParaRPr lang="en-US" altLang="zh-CN" sz="2000">
              <a:ln w="38100">
                <a:noFill/>
              </a:ln>
              <a:solidFill>
                <a:schemeClr val="accent1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2925445" y="491490"/>
            <a:ext cx="328231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矩形 36"/>
          <p:cNvSpPr/>
          <p:nvPr/>
        </p:nvSpPr>
        <p:spPr bwMode="auto">
          <a:xfrm>
            <a:off x="4480233" y="1733159"/>
            <a:ext cx="4447867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Mission R</a:t>
            </a:r>
            <a:r>
              <a:rPr lang="en-US" altLang="zh-CN" sz="48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equirements</a:t>
            </a:r>
            <a:endParaRPr lang="zh-CN" altLang="en-US" sz="480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31690" y="3620135"/>
            <a:ext cx="1203325" cy="2978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+mj-ea"/>
                <a:ea typeface="+mj-ea"/>
              </a:rPr>
              <a:t>The First Unit</a:t>
            </a:r>
            <a:endParaRPr lang="en-US" altLang="zh-CN" sz="120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48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01</a:t>
            </a:r>
            <a:endParaRPr lang="en-US" altLang="zh-CN" sz="48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0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1100">
                <a:ln w="38100">
                  <a:noFill/>
                </a:ln>
                <a:solidFill>
                  <a:schemeClr val="bg1">
                    <a:alpha val="31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PART   ONE</a:t>
            </a:r>
            <a:endParaRPr lang="en-US" altLang="zh-CN" sz="1100">
              <a:ln w="38100">
                <a:noFill/>
              </a:ln>
              <a:solidFill>
                <a:schemeClr val="bg1">
                  <a:alpha val="31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06019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1130" y="71755"/>
            <a:ext cx="2785110" cy="9188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Mission R</a:t>
            </a:r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equirements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2665"/>
            <a:ext cx="3919220" cy="26384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277360" y="487680"/>
            <a:ext cx="4157345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Basic requirements: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1. follows black line tracks on the floor;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2. stops at marked positions and records the position of the 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goods of four possible colours (red, blue, yellow and 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green) along the track; 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3. stops when it is back to the base PC;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4. offloads the recorded positions to the hardware-database 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interface software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• Possible advanced functions: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– connect to the host PC wirelessly and transmit the positions 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of the goods in real time.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– self-designed other functions.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73475" y="3497580"/>
            <a:ext cx="5121275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r>
              <a:rPr lang="en-US" altLang="zh-CN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                                           </a:t>
            </a:r>
            <a:r>
              <a:rPr lang="zh-CN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endParaRPr lang="zh-CN" altLang="en-US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r>
              <a:rPr lang="en-US" altLang="zh-CN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                                             </a:t>
            </a:r>
            <a:endParaRPr lang="zh-CN" altLang="en-US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   </a:t>
            </a:r>
            <a:r>
              <a:rPr lang="en-US" altLang="zh-CN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                                                          </a:t>
            </a:r>
            <a:endParaRPr lang="zh-CN" alt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54185" y="3410869"/>
            <a:ext cx="187037" cy="9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4510405" y="78740"/>
            <a:ext cx="32689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57200"/>
            <a:r>
              <a:rPr lang="en-US" altLang="zh-CN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</a:t>
            </a:r>
            <a:r>
              <a:rPr lang="zh-CN" altLang="en-US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utomated </a:t>
            </a:r>
            <a:r>
              <a:rPr lang="en-US" altLang="zh-CN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R</a:t>
            </a:r>
            <a:r>
              <a:rPr lang="zh-CN" altLang="en-US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obots</a:t>
            </a:r>
            <a:r>
              <a:rPr lang="en-US" altLang="zh-CN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Design</a:t>
            </a:r>
            <a:endParaRPr lang="en-US" altLang="zh-CN" sz="2000">
              <a:ln/>
              <a:solidFill>
                <a:schemeClr val="accent1"/>
              </a:solidFill>
              <a:effectLst>
                <a:reflection blurRad="6350" stA="53000" endA="300" endPos="35500" dir="5400000" sy="-90000" algn="bl" rotWithShape="0"/>
              </a:effectLst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 rot="19860000">
            <a:off x="7119620" y="3295015"/>
            <a:ext cx="102362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Innovative </a:t>
            </a:r>
            <a:endParaRPr lang="zh-CN" altLang="en-US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sym typeface="+mn-ea"/>
            </a:endParaRPr>
          </a:p>
          <a:p>
            <a:pPr algn="ctr"/>
            <a:r>
              <a:rPr lang="zh-CN" altLang="en-US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design</a:t>
            </a:r>
            <a:r>
              <a:rPr lang="en-US" altLang="zh-CN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  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 rot="480000">
            <a:off x="5761355" y="4058285"/>
            <a:ext cx="321119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sym typeface="+mn-ea"/>
              </a:rPr>
              <a:t>Comprehensive documentation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 rot="21060000">
            <a:off x="4022090" y="4588510"/>
            <a:ext cx="1970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+mn-ea"/>
              </a:rPr>
              <a:t>Excellent teamwork</a:t>
            </a:r>
            <a:endParaRPr lang="zh-CN" alt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7530465" y="1481455"/>
            <a:ext cx="10979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sym typeface="+mn-ea"/>
              </a:rPr>
              <a:t> </a:t>
            </a:r>
            <a:r>
              <a:rPr lang="zh-CN" altLang="en-US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Effective marketing</a:t>
            </a:r>
            <a:r>
              <a:rPr lang="en-US" altLang="zh-CN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 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 rot="1140000">
            <a:off x="3629025" y="3821430"/>
            <a:ext cx="16249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sym typeface="+mn-ea"/>
              </a:rPr>
              <a:t>Careful planning</a:t>
            </a:r>
            <a:endParaRPr lang="zh-CN" alt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19" grpId="0"/>
      <p:bldP spid="19" grpId="1"/>
      <p:bldP spid="20" grpId="0"/>
      <p:bldP spid="20" grpId="1"/>
      <p:bldP spid="23" grpId="0"/>
      <p:bldP spid="23" grpId="1"/>
      <p:bldP spid="21" grpId="0"/>
      <p:bldP spid="2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矩形 36"/>
          <p:cNvSpPr/>
          <p:nvPr/>
        </p:nvSpPr>
        <p:spPr bwMode="auto">
          <a:xfrm>
            <a:off x="4545330" y="2085340"/>
            <a:ext cx="4448175" cy="9740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 defTabSz="457200"/>
            <a:r>
              <a:rPr lang="zh-CN" altLang="en-US" sz="48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 </a:t>
            </a:r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A</a:t>
            </a:r>
            <a:r>
              <a:rPr lang="zh-CN" altLang="en-US" sz="48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ppearance</a:t>
            </a:r>
            <a:endParaRPr lang="zh-CN" altLang="en-US" sz="480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31690" y="3620135"/>
            <a:ext cx="1318260" cy="2978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+mj-ea"/>
                <a:ea typeface="+mj-ea"/>
              </a:rPr>
              <a:t>The Second Unit</a:t>
            </a:r>
            <a:endParaRPr lang="en-US" altLang="zh-CN" sz="120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48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02</a:t>
            </a:r>
            <a:endParaRPr lang="en-US" altLang="zh-CN" sz="48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0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1100">
                <a:ln w="38100">
                  <a:noFill/>
                </a:ln>
                <a:solidFill>
                  <a:schemeClr val="bg1">
                    <a:alpha val="31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PART   TWO</a:t>
            </a:r>
            <a:endParaRPr lang="en-US" altLang="zh-CN" sz="1100">
              <a:ln w="38100">
                <a:noFill/>
              </a:ln>
              <a:solidFill>
                <a:schemeClr val="bg1">
                  <a:alpha val="31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684270" y="82550"/>
            <a:ext cx="1776095" cy="501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4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A</a:t>
            </a:r>
            <a:r>
              <a:rPr lang="zh-CN" altLang="en-US" sz="24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ppearance</a:t>
            </a:r>
            <a:endParaRPr lang="zh-CN" altLang="en-US" sz="240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endParaRPr lang="zh-CN" altLang="en-US" sz="240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215900" y="3172408"/>
            <a:ext cx="8699500" cy="1653592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7865" y="1778635"/>
            <a:ext cx="3812540" cy="2207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975" y="1309370"/>
            <a:ext cx="3070860" cy="2713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9765" y="487680"/>
            <a:ext cx="2874645" cy="24466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9675" y="480822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矩形 36"/>
          <p:cNvSpPr/>
          <p:nvPr/>
        </p:nvSpPr>
        <p:spPr bwMode="auto">
          <a:xfrm>
            <a:off x="4424353" y="2161149"/>
            <a:ext cx="4447867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Functions</a:t>
            </a:r>
            <a:endParaRPr lang="zh-CN" altLang="en-US" sz="480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31690" y="3620135"/>
            <a:ext cx="1341120" cy="2978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+mj-ea"/>
                <a:ea typeface="+mj-ea"/>
              </a:rPr>
              <a:t>The Third Unit</a:t>
            </a:r>
            <a:endParaRPr lang="en-US" altLang="zh-CN" sz="120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48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03</a:t>
            </a:r>
            <a:endParaRPr lang="en-US" altLang="zh-CN" sz="48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0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1100">
                <a:ln w="38100">
                  <a:noFill/>
                </a:ln>
                <a:solidFill>
                  <a:schemeClr val="bg1">
                    <a:alpha val="31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PART   THREE</a:t>
            </a:r>
            <a:endParaRPr lang="en-US" altLang="zh-CN" sz="1100">
              <a:ln w="38100">
                <a:noFill/>
              </a:ln>
              <a:solidFill>
                <a:schemeClr val="bg1">
                  <a:alpha val="31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4" grpId="0" animBg="1"/>
      <p:bldP spid="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787140" y="125095"/>
            <a:ext cx="16109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Function</a:t>
            </a:r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</a:t>
            </a:r>
            <a:endParaRPr lang="en-US" altLang="zh-CN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228600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12750" y="3525520"/>
            <a:ext cx="174244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Environmental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parameter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acquisition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04282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44736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/>
          <p:cNvSpPr/>
          <p:nvPr/>
        </p:nvSpPr>
        <p:spPr>
          <a:xfrm>
            <a:off x="4666138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5480362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/>
          <p:cNvSpPr/>
          <p:nvPr/>
        </p:nvSpPr>
        <p:spPr>
          <a:xfrm>
            <a:off x="6884906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/>
        </p:nvCxnSpPr>
        <p:spPr>
          <a:xfrm>
            <a:off x="7699130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" y="1664970"/>
            <a:ext cx="1835785" cy="1450340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591435" y="3637280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Fire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Alarm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410" y="1775460"/>
            <a:ext cx="1903095" cy="145161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026025" y="3664585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Photosensitive Alarm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70" y="1847215"/>
            <a:ext cx="1911985" cy="15240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245350" y="3664585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Cargo Identification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220" y="1988820"/>
            <a:ext cx="1841500" cy="143383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  <p:bldP spid="38" grpId="0" animBg="1"/>
      <p:bldP spid="8" grpId="0"/>
      <p:bldP spid="20" grpId="0"/>
      <p:bldP spid="23" grpId="0"/>
      <p:bldP spid="24" grpId="1" animBg="1"/>
      <p:bldP spid="31" grpId="1" animBg="1"/>
      <p:bldP spid="38" grpId="1" animBg="1"/>
      <p:bldP spid="8" grpId="1"/>
      <p:bldP spid="20" grpId="1"/>
      <p:bldP spid="23" grpId="1"/>
      <p:bldP spid="18" grpId="0"/>
      <p:bldP spid="18" grpId="1"/>
      <p:bldP spid="9" grpId="0" animBg="1"/>
      <p:bldP spid="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787140" y="125095"/>
            <a:ext cx="16109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Function</a:t>
            </a:r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</a:t>
            </a:r>
            <a:endParaRPr lang="en-US" altLang="zh-CN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矩形: 圆角 30"/>
          <p:cNvSpPr/>
          <p:nvPr/>
        </p:nvSpPr>
        <p:spPr>
          <a:xfrm>
            <a:off x="4666138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5480362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/>
          <p:cNvSpPr/>
          <p:nvPr/>
        </p:nvSpPr>
        <p:spPr>
          <a:xfrm>
            <a:off x="6884906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/>
        </p:nvCxnSpPr>
        <p:spPr>
          <a:xfrm>
            <a:off x="7699130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026025" y="3664585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Photosensitive Alarm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70" y="1847215"/>
            <a:ext cx="1911985" cy="1524000"/>
          </a:xfrm>
          <a:prstGeom prst="rect">
            <a:avLst/>
          </a:prstGeom>
        </p:spPr>
      </p:pic>
      <p:sp>
        <p:nvSpPr>
          <p:cNvPr id="24" name="矩形: 圆角 23"/>
          <p:cNvSpPr/>
          <p:nvPr/>
        </p:nvSpPr>
        <p:spPr>
          <a:xfrm>
            <a:off x="244736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245350" y="3664585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Cargo Identification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220" y="1988820"/>
            <a:ext cx="1841500" cy="14338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8410" y="1775460"/>
            <a:ext cx="1903095" cy="1451610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591435" y="3637280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Fire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Alarm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33045" y="1486927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12750" y="3525520"/>
            <a:ext cx="1742440" cy="641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Environmental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parameter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acquisition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30" y="1664970"/>
            <a:ext cx="1835785" cy="1450340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103647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5972 -0.0939506 " pathEditMode="relative" ptsTypes="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5972 -0.0939506 " pathEditMode="relative" ptsTypes="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5972 -0.0939506 " pathEditMode="relative" ptsTypes="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4722 -0.097037 " pathEditMode="relative" ptsTypes="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4097 -0.0950617 L -0.000624751 -0.00234574 " pathEditMode="relative" rAng="0" ptsTypes="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" y="4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5972 -0.0938272 L 0.00125025 -0.00111117 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" y="4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6528 -0.0939506 L 0.0018058 -0.00123463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" y="4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5903 -0.0948149 L 0.0011808 -0.00209882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" y="4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5903 -0.0448148 " pathEditMode="relative" ptsTypes="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5903 -0.0448148 " pathEditMode="relative" ptsTypes="">
                                      <p:cBhvr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5903 -0.0448148 " pathEditMode="relative" ptsTypes="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5903 -0.0448148 " pathEditMode="relative" ptsTypes="">
                                      <p:cBhvr>
                                        <p:cTn id="3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4653 -0.0448148 L -0.000625215 0.00111108 " pathEditMode="relative" rAng="0" ptsTypes="">
                                      <p:cBhvr>
                                        <p:cTn id="3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2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833 -0.0448148 L 0.000555341 0.00111108 " pathEditMode="relative" rAng="0" ptsTypes="">
                                      <p:cBhvr>
                                        <p:cTn id="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2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4653 -0.0448148 L -0.000625215 0.00111108 " pathEditMode="relative" rAng="0" ptsTypes="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23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208 -0.0458025 L -6.96592e-05 0.000123423 " pathEditMode="relative" rAng="0" ptsTypes="">
                                      <p:cBhvr>
                                        <p:cTn id="4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1" animBg="1"/>
      <p:bldP spid="38" grpId="1" animBg="1"/>
      <p:bldP spid="20" grpId="1"/>
      <p:bldP spid="23" grpId="1"/>
      <p:bldP spid="18" grpId="0"/>
      <p:bldP spid="9" grpId="0" bldLvl="0" animBg="1"/>
      <p:bldP spid="9" grpId="1" bldLvl="0" animBg="1"/>
      <p:bldP spid="18" grpId="1"/>
      <p:bldP spid="24" grpId="0" animBg="1"/>
      <p:bldP spid="8" grpId="0"/>
      <p:bldP spid="24" grpId="1" animBg="1"/>
      <p:bldP spid="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5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787140" y="125095"/>
            <a:ext cx="16109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Function</a:t>
            </a:r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</a:t>
            </a:r>
            <a:endParaRPr lang="en-US" altLang="zh-CN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228600" y="148629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12750" y="3525520"/>
            <a:ext cx="174244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Environmental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parameter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acquisition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04282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44736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" y="1664970"/>
            <a:ext cx="1835785" cy="1450340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591435" y="3637280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Fire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Alarm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410" y="1775460"/>
            <a:ext cx="1903095" cy="1451610"/>
          </a:xfrm>
          <a:prstGeom prst="rect">
            <a:avLst/>
          </a:prstGeom>
        </p:spPr>
      </p:pic>
      <p:sp>
        <p:nvSpPr>
          <p:cNvPr id="31" name="矩形: 圆角 30"/>
          <p:cNvSpPr/>
          <p:nvPr/>
        </p:nvSpPr>
        <p:spPr>
          <a:xfrm>
            <a:off x="4666138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70" y="1847215"/>
            <a:ext cx="1911985" cy="15240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026025" y="3664585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Photosensitive Alarm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480362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/>
          <p:cNvSpPr/>
          <p:nvPr/>
        </p:nvSpPr>
        <p:spPr>
          <a:xfrm>
            <a:off x="6884906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220" y="1988820"/>
            <a:ext cx="1841500" cy="143383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245350" y="3664585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Cargo Identification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7699130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7639 -0.10679 " pathEditMode="relative" ptsTypes="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7639 -0.10679 " pathEditMode="relative" ptsTypes="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7639 -0.10679 " pathEditMode="relative" ptsTypes=""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7639 -0.10679 " pathEditMode="relative" ptsTypes="">
                                      <p:cBhvr>
                                        <p:cTn id="1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458 -0.105679 L -0.000625339 -0.000123027 " pathEditMode="relative" rAng="0" ptsTypes="">
                                      <p:cBhvr>
                                        <p:cTn id="1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5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902 -0.10679 L -6.97834e-05 -0.00123414 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5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902 -0.106667 L -6.97795e-05 -0.00111068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5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04 -0.106667 L -0.000208668 -0.00111068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5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375 -0.129136 " pathEditMode="relative" ptsTypes="">
                                      <p:cBhvr>
                                        <p:cTn id="2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375 -0.129136 " pathEditMode="relative" ptsTypes="">
                                      <p:cBhvr>
                                        <p:cTn id="2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375 -0.129136 " pathEditMode="relative" ptsTypes="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375 -0.129136 " pathEditMode="relative" ptsTypes="">
                                      <p:cBhvr>
                                        <p:cTn id="3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4375 -0.130123 L -0.000625 -4.48345e-07 " pathEditMode="relative" rAng="0" ptsTypes="">
                                      <p:cBhvr>
                                        <p:cTn id="3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6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1944 -0.130123 L 0.00180556 -4.48345e-07 " pathEditMode="relative" rAng="0" ptsTypes="">
                                      <p:cBhvr>
                                        <p:cTn id="3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65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4375 -0.131235 L -0.000625004 -0.00111156 " pathEditMode="relative" rAng="0" ptsTypes="">
                                      <p:cBhvr>
                                        <p:cTn id="3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65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375 -0.130123 L 0 -4.48345e-07 " pathEditMode="relative" rAng="0" ptsTypes="">
                                      <p:cBhvr>
                                        <p:cTn id="4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 animBg="1"/>
      <p:bldP spid="8" grpId="1"/>
      <p:bldP spid="18" grpId="1"/>
      <p:bldP spid="9" grpId="1" animBg="1"/>
      <p:bldP spid="31" grpId="0" animBg="1"/>
      <p:bldP spid="20" grpId="0"/>
      <p:bldP spid="31" grpId="1" animBg="1"/>
      <p:bldP spid="20" grpId="1"/>
      <p:bldP spid="38" grpId="0" animBg="1"/>
      <p:bldP spid="23" grpId="0"/>
      <p:bldP spid="38" grpId="1" animBg="1"/>
      <p:bldP spid="2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787140" y="125095"/>
            <a:ext cx="16109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Function</a:t>
            </a:r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</a:t>
            </a:r>
            <a:endParaRPr lang="en-US" altLang="zh-CN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矩形: 圆角 30"/>
          <p:cNvSpPr/>
          <p:nvPr/>
        </p:nvSpPr>
        <p:spPr>
          <a:xfrm>
            <a:off x="4666138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5480362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/>
          <p:cNvSpPr/>
          <p:nvPr/>
        </p:nvSpPr>
        <p:spPr>
          <a:xfrm>
            <a:off x="6884906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/>
        </p:nvCxnSpPr>
        <p:spPr>
          <a:xfrm>
            <a:off x="7699130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01235" y="3632200"/>
            <a:ext cx="1760220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Ultrasonic Ranging 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&amp; Warehouse Counting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45350" y="3664585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LCD Visualization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685" y="2146935"/>
            <a:ext cx="1970405" cy="11410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165" y="2272665"/>
            <a:ext cx="1393190" cy="1129665"/>
          </a:xfrm>
          <a:prstGeom prst="rect">
            <a:avLst/>
          </a:prstGeom>
        </p:spPr>
      </p:pic>
      <p:sp>
        <p:nvSpPr>
          <p:cNvPr id="24" name="矩形: 圆角 23"/>
          <p:cNvSpPr/>
          <p:nvPr/>
        </p:nvSpPr>
        <p:spPr>
          <a:xfrm>
            <a:off x="244736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35" y="1924050"/>
            <a:ext cx="1894840" cy="1587500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591435" y="3533140"/>
            <a:ext cx="1742440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Infrared 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Obstacle 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Avoidance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/>
          <p:cNvSpPr/>
          <p:nvPr/>
        </p:nvSpPr>
        <p:spPr>
          <a:xfrm>
            <a:off x="228600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080" y="2091690"/>
            <a:ext cx="1737995" cy="1310640"/>
          </a:xfrm>
          <a:prstGeom prst="rect">
            <a:avLst/>
          </a:prstGeom>
        </p:spPr>
      </p:pic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636905" y="3648710"/>
            <a:ext cx="1193800" cy="47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Infrared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T</a:t>
            </a: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racking</a:t>
            </a: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04282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9514 -0.126914 " pathEditMode="relative" ptsTypes="">
                                      <p:cBhvr>
                                        <p:cTn id="5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9514 -0.126914 " pathEditMode="relative" ptsTypes="">
                                      <p:cBhvr>
                                        <p:cTn id="5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9514 -0.126914 " pathEditMode="relative" ptsTypes="">
                                      <p:cBhvr>
                                        <p:cTn id="6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9514 -0.126914 " pathEditMode="relative" ptsTypes="">
                                      <p:cBhvr>
                                        <p:cTn id="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9096 -0.128025 L 0.000764195 -0.0011107 " pathEditMode="relative" rAng="0" ptsTypes="">
                                      <p:cBhvr>
                                        <p:cTn id="6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" y="63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9514 -0.128148 L 0.00118087 -0.00123415 " pathEditMode="relative" rAng="0" ptsTypes="">
                                      <p:cBhvr>
                                        <p:cTn id="6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" y="63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0139 -0.126914 L 0.00180587 4.14436e-07 " pathEditMode="relative" rAng="0" ptsTypes="">
                                      <p:cBhvr>
                                        <p:cTn id="7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" y="6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8333 -0.125926 L 3.16479e-07 0.000988069 " pathEditMode="relative" rAng="0" ptsTypes="">
                                      <p:cBhvr>
                                        <p:cTn id="7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" y="63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486 -0.0682716 " pathEditMode="relative" ptsTypes="">
                                      <p:cBhvr>
                                        <p:cTn id="7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486 -0.0682716 " pathEditMode="relative" ptsTypes="">
                                      <p:cBhvr>
                                        <p:cTn id="7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486 -0.0682716 " pathEditMode="relative" ptsTypes="">
                                      <p:cBhvr>
                                        <p:cTn id="7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486 -0.0682716 " pathEditMode="relative" ptsTypes="">
                                      <p:cBhvr>
                                        <p:cTn id="8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4236 -0.067284 L -0.00180589 5.27464e-08 " pathEditMode="relative" rAng="0" ptsTypes="">
                                      <p:cBhvr>
                                        <p:cTn id="8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34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042 -0.0671605 L -3.39084e-07 0.00012351 " pathEditMode="relative" rAng="0" ptsTypes="">
                                      <p:cBhvr>
                                        <p:cTn id="8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34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042 -0.0693827 L -3.39084e-07 -0.00209871 " pathEditMode="relative" rAng="0" ptsTypes="">
                                      <p:cBhvr>
                                        <p:cTn id="8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34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042 -0.067284 L -3.39084e-07 5.27464e-08 " pathEditMode="relative" rAng="0" ptsTypes="">
                                      <p:cBhvr>
                                        <p:cTn id="9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/>
      <p:bldP spid="31" grpId="0" animBg="1"/>
      <p:bldP spid="20" grpId="0"/>
      <p:bldP spid="38" grpId="0" animBg="1"/>
      <p:bldP spid="23" grpId="0"/>
      <p:bldP spid="9" grpId="1" animBg="1"/>
      <p:bldP spid="18" grpId="1"/>
      <p:bldP spid="31" grpId="1" animBg="1"/>
      <p:bldP spid="20" grpId="1"/>
      <p:bldP spid="38" grpId="1" animBg="1"/>
      <p:bldP spid="23" grpId="1"/>
      <p:bldP spid="9" grpId="2" animBg="1"/>
      <p:bldP spid="18" grpId="2"/>
      <p:bldP spid="9" grpId="3" animBg="1"/>
      <p:bldP spid="18" grpId="3"/>
      <p:bldP spid="24" grpId="0" animBg="1"/>
      <p:bldP spid="8" grpId="0"/>
      <p:bldP spid="24" grpId="1" animBg="1"/>
      <p:bldP spid="8" grpId="1"/>
      <p:bldP spid="24" grpId="2" animBg="1"/>
      <p:bldP spid="8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787140" y="125095"/>
            <a:ext cx="16109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Function</a:t>
            </a:r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</a:t>
            </a:r>
            <a:endParaRPr lang="en-US" altLang="zh-CN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24" name="矩形: 圆角 23"/>
          <p:cNvSpPr/>
          <p:nvPr/>
        </p:nvSpPr>
        <p:spPr>
          <a:xfrm>
            <a:off x="244736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35" y="1924050"/>
            <a:ext cx="1894840" cy="1587500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591435" y="3533140"/>
            <a:ext cx="1742440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Infrared 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Obstacle 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Avoidance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/>
          <p:cNvSpPr/>
          <p:nvPr/>
        </p:nvSpPr>
        <p:spPr>
          <a:xfrm>
            <a:off x="228600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80" y="2091690"/>
            <a:ext cx="1737995" cy="1310640"/>
          </a:xfrm>
          <a:prstGeom prst="rect">
            <a:avLst/>
          </a:prstGeom>
        </p:spPr>
      </p:pic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636905" y="3648710"/>
            <a:ext cx="1193800" cy="47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Infrared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T</a:t>
            </a: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racking</a:t>
            </a: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04282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/>
          <p:cNvSpPr/>
          <p:nvPr/>
        </p:nvSpPr>
        <p:spPr>
          <a:xfrm>
            <a:off x="4666138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685" y="2146935"/>
            <a:ext cx="1970405" cy="114109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01235" y="3632200"/>
            <a:ext cx="1760220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Ultrasonic Ranging 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&amp; Warehouse Counting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480362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/>
          <p:cNvSpPr/>
          <p:nvPr/>
        </p:nvSpPr>
        <p:spPr>
          <a:xfrm>
            <a:off x="6881731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90" y="2272665"/>
            <a:ext cx="1393190" cy="112966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242175" y="3664585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LCD Visualization</a:t>
            </a:r>
            <a:endParaRPr lang="en-US" altLang="zh-CN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7695955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7083 -0.0832099 " pathEditMode="relative" ptsTypes="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7083 -0.0832099 " pathEditMode="relative" ptsTypes="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7083 -0.0832099 " pathEditMode="relative" ptsTypes=""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7083 -0.0832099 " pathEditMode="relative" ptsTypes="">
                                      <p:cBhvr>
                                        <p:cTn id="1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458 -0.0820988 L -0.000625339 0.00123453 " pathEditMode="relative" rAng="0" ptsTypes="">
                                      <p:cBhvr>
                                        <p:cTn id="1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4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4653 -0.0822222 L 0.00118022 0.00111108 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4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7014 -0.0811111 L -0.00118089 0.00222219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4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903 -0.0832099 L -6.97835e-05 0.000123423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4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4931 -0.113086 " pathEditMode="relative" ptsTypes="">
                                      <p:cBhvr>
                                        <p:cTn id="2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4931 -0.113086 " pathEditMode="relative" ptsTypes="">
                                      <p:cBhvr>
                                        <p:cTn id="2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4931 -0.113086 " pathEditMode="relative" ptsTypes="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4931 -0.113086 " pathEditMode="relative" ptsTypes="">
                                      <p:cBhvr>
                                        <p:cTn id="3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6736 -0.114198 L 0.00124991 0.00111149 " pathEditMode="relative" rAng="0" ptsTypes="">
                                      <p:cBhvr>
                                        <p:cTn id="3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" y="5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486 -0.11321 L 0.00249991 0.00209914 " pathEditMode="relative" rAng="0" ptsTypes="">
                                      <p:cBhvr>
                                        <p:cTn id="3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" y="58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6111 -0.113086 L 0.00187491 0.0022226 " pathEditMode="relative" rAng="0" ptsTypes="">
                                      <p:cBhvr>
                                        <p:cTn id="3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" y="5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556 -0.113086 L 0.00243047 0.0022226 " pathEditMode="relative" rAng="0" ptsTypes="">
                                      <p:cBhvr>
                                        <p:cTn id="4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" y="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8" grpId="1"/>
      <p:bldP spid="31" grpId="0" animBg="1"/>
      <p:bldP spid="20" grpId="0"/>
      <p:bldP spid="31" grpId="1" animBg="1"/>
      <p:bldP spid="20" grpId="1"/>
      <p:bldP spid="38" grpId="0" bldLvl="0" animBg="1"/>
      <p:bldP spid="23" grpId="0"/>
      <p:bldP spid="38" grpId="1" bldLvl="0" animBg="1"/>
      <p:bldP spid="2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804920" y="160655"/>
            <a:ext cx="153352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Function</a:t>
            </a:r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</a:t>
            </a:r>
            <a:endParaRPr lang="en-US" altLang="zh-CN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3576955" y="1589797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3996055" y="3883025"/>
            <a:ext cx="1193800" cy="47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Wi-Fi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C</a:t>
            </a:r>
            <a:r>
              <a:rPr lang="zh-CN" altLang="en-US" sz="12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onnection upload </a:t>
            </a: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391178" y="4347244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925" y="1880235"/>
            <a:ext cx="1749425" cy="1724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/>
      <p:bldP spid="9" grpId="1" animBg="1"/>
      <p:bldP spid="1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矩形 36"/>
          <p:cNvSpPr/>
          <p:nvPr/>
        </p:nvSpPr>
        <p:spPr bwMode="auto">
          <a:xfrm>
            <a:off x="4480233" y="2005574"/>
            <a:ext cx="4447867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Summary</a:t>
            </a:r>
            <a:endParaRPr lang="en-US" altLang="zh-CN" sz="480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31690" y="3620135"/>
            <a:ext cx="1203325" cy="2978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+mj-ea"/>
                <a:ea typeface="+mj-ea"/>
              </a:rPr>
              <a:t>The First Unit</a:t>
            </a:r>
            <a:endParaRPr lang="en-US" altLang="zh-CN" sz="120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48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04</a:t>
            </a:r>
            <a:endParaRPr lang="en-US" altLang="zh-CN" sz="48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0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1100">
                <a:ln w="38100">
                  <a:noFill/>
                </a:ln>
                <a:solidFill>
                  <a:schemeClr val="bg1">
                    <a:alpha val="31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PART   FOUR</a:t>
            </a:r>
            <a:endParaRPr lang="en-US" altLang="zh-CN" sz="1100">
              <a:ln w="38100">
                <a:noFill/>
              </a:ln>
              <a:solidFill>
                <a:schemeClr val="bg1">
                  <a:alpha val="31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" grpId="0" animBg="1"/>
      <p:bldP spid="37" grpId="1"/>
      <p:bldP spid="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655" y="3141980"/>
            <a:ext cx="1143000" cy="6604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86835" y="160655"/>
            <a:ext cx="13696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Summary</a:t>
            </a:r>
            <a:endParaRPr lang="en-US" altLang="zh-CN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735" y="2992120"/>
            <a:ext cx="3853815" cy="21513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l="19205" t="6300" r="20579" b="3572"/>
          <a:stretch>
            <a:fillRect/>
          </a:stretch>
        </p:blipFill>
        <p:spPr>
          <a:xfrm>
            <a:off x="603250" y="1406525"/>
            <a:ext cx="3687445" cy="369697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0905" y="1103630"/>
            <a:ext cx="1562735" cy="17443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rcRect l="27929" t="5630" r="14440"/>
          <a:stretch>
            <a:fillRect/>
          </a:stretch>
        </p:blipFill>
        <p:spPr>
          <a:xfrm>
            <a:off x="5065395" y="1115060"/>
            <a:ext cx="1621155" cy="173291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4699635" y="736600"/>
            <a:ext cx="4015105" cy="2136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Thanks</a:t>
            </a:r>
            <a:endParaRPr lang="en-US" altLang="zh-CN" sz="4800">
              <a:ln w="38100">
                <a:noFill/>
              </a:ln>
              <a:solidFill>
                <a:schemeClr val="accent1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For</a:t>
            </a:r>
            <a:endParaRPr lang="en-US" altLang="zh-CN" sz="4800">
              <a:ln w="38100">
                <a:noFill/>
              </a:ln>
              <a:solidFill>
                <a:schemeClr val="accent1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Watching</a:t>
            </a:r>
            <a:endParaRPr lang="en-US" altLang="zh-CN" sz="4800">
              <a:ln w="38100">
                <a:noFill/>
              </a:ln>
              <a:solidFill>
                <a:schemeClr val="accent1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23855" y="3746567"/>
            <a:ext cx="1954808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Team members</a:t>
            </a:r>
            <a:r>
              <a:rPr lang="zh-CN" altLang="en-US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：</a:t>
            </a:r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                               </a:t>
            </a:r>
            <a:endParaRPr lang="en-US" altLang="zh-CN" sz="1400" spc="0">
              <a:solidFill>
                <a:schemeClr val="accent1"/>
              </a:solidFill>
              <a:effectLst/>
              <a:sym typeface="思源黑体 CN Normal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54635" y="475615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62334" y="36552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5906770" y="3189605"/>
            <a:ext cx="288988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algun Gothic Semilight" panose="020B0502040204020203" charset="-122"/>
                <a:ea typeface="Malgun Gothic Semilight" panose="020B0502040204020203" charset="-122"/>
                <a:cs typeface="+mn-cs"/>
                <a:sym typeface="思源黑体 CN Normal" panose="020B0400000000000000" charset="-122"/>
              </a:rPr>
              <a:t>Design of the circuit and implementation of the functions</a:t>
            </a:r>
            <a:endParaRPr kumimoji="0" lang="zh-CN" altLang="en-US" sz="1400" b="0" i="0" u="none" strike="noStrike" kern="1200" cap="none" spc="0" normalizeH="0" baseline="0" noProof="0">
              <a:ln w="381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Malgun Gothic Semilight" panose="020B0502040204020203" charset="-122"/>
              <a:ea typeface="Malgun Gothic Semilight" panose="020B0502040204020203" charset="-122"/>
              <a:cs typeface="+mn-cs"/>
              <a:sym typeface="思源黑体 CN Normal" panose="020B0400000000000000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639322" y="4225103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48500" y="-635"/>
            <a:ext cx="2095500" cy="737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35420" y="3938270"/>
            <a:ext cx="24917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Tangxun Wu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Boyang He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Guanyi Lin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Donngze Sun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Weiping Kong</a:t>
            </a:r>
            <a:endParaRPr lang="en-US" altLang="zh-CN" sz="140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" y="904240"/>
            <a:ext cx="4474210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2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3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4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5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6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7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8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9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10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11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12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13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14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15.xml><?xml version="1.0" encoding="utf-8"?>
<p:tagLst xmlns:p="http://schemas.openxmlformats.org/presentationml/2006/main">
  <p:tag name="KSO_WM_UNIT_PLACING_PICTURE_USER_VIEWPORT" val="{&quot;height&quot;:1470,&quot;width&quot;:4180}"/>
</p:tagLst>
</file>

<file path=ppt/tags/tag16.xml><?xml version="1.0" encoding="utf-8"?>
<p:tagLst xmlns:p="http://schemas.openxmlformats.org/presentationml/2006/main">
  <p:tag name="KSO_WPP_MARK_KEY" val="cb53ab2b-c03d-49fa-a032-52fe68fbc824"/>
  <p:tag name="COMMONDATA" val="eyJjb3VudCI6MjEsImhkaWQiOiIyYmI4MTk2YWJhZDI5OWQxN2I0ODc4OTQwMTJjM2ZmMiIsInVzZXJDb3VudCI6MjF9"/>
</p:tagLst>
</file>

<file path=ppt/theme/theme1.xml><?xml version="1.0" encoding="utf-8"?>
<a:theme xmlns:a="http://schemas.openxmlformats.org/drawingml/2006/main" name="1_Office 主题">
  <a:themeElements>
    <a:clrScheme name="2经典蓝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1D4E89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思源宋体 CN Heavy">
      <a:majorFont>
        <a:latin typeface="思源黑体 CN Normal"/>
        <a:ea typeface="锦绣宋体"/>
        <a:cs typeface=""/>
      </a:majorFont>
      <a:minorFont>
        <a:latin typeface="思源黑体 CN Normal"/>
        <a:ea typeface="思源黑体 CN Normal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2056</Words>
  <Application>WPS 演示</Application>
  <PresentationFormat>全屏显示(16:9)</PresentationFormat>
  <Paragraphs>227</Paragraphs>
  <Slides>16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40" baseType="lpstr">
      <vt:lpstr>Arial</vt:lpstr>
      <vt:lpstr>宋体</vt:lpstr>
      <vt:lpstr>Wingdings</vt:lpstr>
      <vt:lpstr>思源黑体 CN Normal</vt:lpstr>
      <vt:lpstr>Yu Gothic UI Semibold</vt:lpstr>
      <vt:lpstr>Arial Black</vt:lpstr>
      <vt:lpstr>思源宋体 CN Heavy</vt:lpstr>
      <vt:lpstr>Malgun Gothic Semilight</vt:lpstr>
      <vt:lpstr>Oswald</vt:lpstr>
      <vt:lpstr>等线</vt:lpstr>
      <vt:lpstr>Aharoni</vt:lpstr>
      <vt:lpstr>Segoe Print</vt:lpstr>
      <vt:lpstr>微软雅黑</vt:lpstr>
      <vt:lpstr>Arial Unicode MS</vt:lpstr>
      <vt:lpstr>黑体</vt:lpstr>
      <vt:lpstr>思源宋体 CN Heavy</vt:lpstr>
      <vt:lpstr>方正舒体</vt:lpstr>
      <vt:lpstr>Malgun Gothic</vt:lpstr>
      <vt:lpstr>Microsoft JhengHei</vt:lpstr>
      <vt:lpstr>Microsoft JhengHei Light</vt:lpstr>
      <vt:lpstr>Microsoft JhengHei UI</vt:lpstr>
      <vt:lpstr>Microsoft YaHei UI</vt:lpstr>
      <vt:lpstr>锦绣宋体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桤儿哥哥</dc:creator>
  <cp:lastModifiedBy>桤儿哥哥</cp:lastModifiedBy>
  <cp:revision>62</cp:revision>
  <dcterms:created xsi:type="dcterms:W3CDTF">1900-01-01T00:00:00Z</dcterms:created>
  <dcterms:modified xsi:type="dcterms:W3CDTF">2022-10-24T10:29:21Z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KSOTemplateUUID">
    <vt:lpwstr>v1.0_mb_gdgPBmG5SlTBV+V0uNRwMg==</vt:lpwstr>
  </property>
  <property fmtid="{D5CDD505-2E9C-101B-9397-08002B2CF9AE}" pid="4" name="ICV">
    <vt:lpwstr>D1D60FD6E620721F6AC05463174EE8F4</vt:lpwstr>
  </property>
</Properties>
</file>